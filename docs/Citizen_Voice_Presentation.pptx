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9b79c20-c976-37b1-1f1a-8a407072967f}">
          <p14:sldIdLst>
            <p14:sldId id="256"/>
            <p14:sldId id="257"/>
          </p14:sldIdLst>
        </p14:section>
        <p14:section name="Method" id="{1eddf5d9-e3d1-7370-6cfb-9ee19dd84e2f}">
          <p14:sldIdLst>
            <p14:sldId id="258"/>
            <p14:sldId id="259"/>
            <p14:sldId id="260"/>
          </p14:sldIdLst>
        </p14:section>
        <p14:section name="Results" id="{43619218-41a3-5bbb-1f71-fa718ea0f222}">
          <p14:sldIdLst>
            <p14:sldId id="261"/>
            <p14:sldId id="262"/>
            <p14:sldId id="263"/>
            <p14:sldId id="264"/>
          </p14:sldIdLst>
        </p14:section>
        <p14:section name="LLMs" id="{abf72827-0008-34c4-eb12-f1ac6440e786}">
          <p14:sldIdLst>
            <p14:sldId id="265"/>
            <p14:sldId id="266"/>
          </p14:sldIdLst>
        </p14:section>
        <p14:section name="Application" id="{532237d8-2405-9864-b162-3899d4d66516}">
          <p14:sldIdLst>
            <p14:sldId id="267"/>
          </p14:sldIdLst>
        </p14:section>
        <p14:section name="Conclusion" id="{c742660f-b36d-f912-089a-bc8a6159e2e6}">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English</c:v>
                </c:pt>
              </c:strCache>
            </c:strRef>
          </c:tx>
          <c:spPr>
            <a:solidFill>
              <a:srgbClr val="0F5257"/>
            </a:solidFill>
            <a:effectLst/>
          </c:spPr>
          <c:invertIfNegative val="0"/>
          <c:dLbls>
            <c:numFmt formatCode="#,##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Raw</c:v>
                  </c:pt>
                  <c:pt idx="1">
                    <c:v>No stop words</c:v>
                  </c:pt>
                  <c:pt idx="2">
                    <c:v>Stemmed</c:v>
                  </c:pt>
                  <c:pt idx="3">
                    <c:v>Lemmatised</c:v>
                  </c:pt>
                </c:lvl>
              </c:multiLvlStrCache>
            </c:multiLvlStrRef>
          </c:cat>
          <c:val>
            <c:numRef>
              <c:f>Sheet1!$B$2:$B$5</c:f>
              <c:numCache>
                <c:formatCode>General</c:formatCode>
                <c:ptCount val="4"/>
                <c:pt idx="0">
                  <c:v>3436</c:v>
                </c:pt>
                <c:pt idx="1">
                  <c:v>3294</c:v>
                </c:pt>
                <c:pt idx="2">
                  <c:v>2529</c:v>
                </c:pt>
                <c:pt idx="3">
                  <c:v>2688</c:v>
                </c:pt>
              </c:numCache>
            </c:numRef>
          </c:val>
        </c:ser>
        <c:ser>
          <c:idx val="1"/>
          <c:order val="1"/>
          <c:tx>
            <c:strRef>
              <c:f>Sheet1!$C$1</c:f>
              <c:strCache>
                <c:ptCount val="1"/>
                <c:pt idx="0">
                  <c:v>Arabic</c:v>
                </c:pt>
              </c:strCache>
            </c:strRef>
          </c:tx>
          <c:spPr>
            <a:solidFill>
              <a:srgbClr val="C2410C"/>
            </a:solidFill>
            <a:effectLst/>
          </c:spPr>
          <c:invertIfNegative val="0"/>
          <c:dLbls>
            <c:numFmt formatCode="#,##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Raw</c:v>
                  </c:pt>
                  <c:pt idx="1">
                    <c:v>No stop words</c:v>
                  </c:pt>
                  <c:pt idx="2">
                    <c:v>Stemmed</c:v>
                  </c:pt>
                  <c:pt idx="3">
                    <c:v>Lemmatised</c:v>
                  </c:pt>
                </c:lvl>
              </c:multiLvlStrCache>
            </c:multiLvlStrRef>
          </c:cat>
          <c:val>
            <c:numRef>
              <c:f>Sheet1!$C$2:$C$5</c:f>
              <c:numCache>
                <c:formatCode>General</c:formatCode>
                <c:ptCount val="4"/>
                <c:pt idx="0">
                  <c:v>3271</c:v>
                </c:pt>
                <c:pt idx="1">
                  <c:v>3106</c:v>
                </c:pt>
                <c:pt idx="2">
                  <c:v>1456</c:v>
                </c:pt>
                <c:pt idx="3">
                  <c:v>2644</c:v>
                </c:pt>
              </c:numCache>
            </c:numRef>
          </c:val>
        </c:ser>
        <c:dLbls>
          <c:numFmt formatCode="#,##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Macro-F1 (sentiment)</c:v>
                </c:pt>
              </c:strCache>
            </c:strRef>
          </c:tx>
          <c:spPr>
            <a:solidFill>
              <a:srgbClr val="6B7280"/>
            </a:solidFill>
            <a:effectLst/>
          </c:spPr>
          <c:invertIfNegative val="0"/>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BoW</c:v>
                  </c:pt>
                  <c:pt idx="1">
                    <c:v>TF-IDF</c:v>
                  </c:pt>
                  <c:pt idx="2">
                    <c:v>Word2Vec</c:v>
                  </c:pt>
                  <c:pt idx="3">
                    <c:v>BGE-M3</c:v>
                  </c:pt>
                </c:lvl>
              </c:multiLvlStrCache>
            </c:multiLvlStrRef>
          </c:cat>
          <c:val>
            <c:numRef>
              <c:f>Sheet1!$B$2:$B$5</c:f>
              <c:numCache>
                <c:formatCode>General</c:formatCode>
                <c:ptCount val="4"/>
                <c:pt idx="0">
                  <c:v>0.611</c:v>
                </c:pt>
                <c:pt idx="1">
                  <c:v>0.6</c:v>
                </c:pt>
                <c:pt idx="2">
                  <c:v>0.584</c:v>
                </c:pt>
                <c:pt idx="3">
                  <c:v>0.633</c:v>
                </c:pt>
              </c:numCache>
            </c:numRef>
          </c:val>
        </c:ser>
        <c:ser>
          <c:idx val="1"/>
          <c:order val="1"/>
          <c:tx>
            <c:strRef>
              <c:f>Sheet1!$C$1</c:f>
              <c:strCache>
                <c:ptCount val="1"/>
                <c:pt idx="0">
                  <c:v>Precision@5 (search)</c:v>
                </c:pt>
              </c:strCache>
            </c:strRef>
          </c:tx>
          <c:spPr>
            <a:solidFill>
              <a:srgbClr val="0F5257"/>
            </a:solidFill>
            <a:effectLst/>
          </c:spPr>
          <c:invertIfNegative val="0"/>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BoW</c:v>
                  </c:pt>
                  <c:pt idx="1">
                    <c:v>TF-IDF</c:v>
                  </c:pt>
                  <c:pt idx="2">
                    <c:v>Word2Vec</c:v>
                  </c:pt>
                  <c:pt idx="3">
                    <c:v>BGE-M3</c:v>
                  </c:pt>
                </c:lvl>
              </c:multiLvlStrCache>
            </c:multiLvlStrRef>
          </c:cat>
          <c:val>
            <c:numRef>
              <c:f>Sheet1!$C$2:$C$5</c:f>
              <c:numCache>
                <c:formatCode>General</c:formatCode>
                <c:ptCount val="4"/>
                <c:pt idx="0">
                  <c:v>0.771</c:v>
                </c:pt>
                <c:pt idx="1">
                  <c:v>0.787</c:v>
                </c:pt>
                <c:pt idx="2">
                  <c:v>0.792</c:v>
                </c:pt>
                <c:pt idx="3">
                  <c:v>0.866</c:v>
                </c:pt>
              </c:numCache>
            </c:numRef>
          </c:val>
        </c:ser>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Macro-F1</c:v>
                </c:pt>
              </c:strCache>
            </c:strRef>
          </c:tx>
          <c:spPr>
            <a:solidFill>
              <a:srgbClr val="0F5257"/>
            </a:solidFill>
            <a:effectLst/>
          </c:spPr>
          <c:invertIfNegative val="0"/>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TF-IDF + LR</c:v>
                  </c:pt>
                  <c:pt idx="1">
                    <c:v>RoBERTa / CAMeLBERT</c:v>
                  </c:pt>
                  <c:pt idx="2">
                    <c:v>XLM-R</c:v>
                  </c:pt>
                  <c:pt idx="3">
                    <c:v>XLM-R + LoRA</c:v>
                  </c:pt>
                </c:lvl>
              </c:multiLvlStrCache>
            </c:multiLvlStrRef>
          </c:cat>
          <c:val>
            <c:numRef>
              <c:f>Sheet1!$B$2:$B$5</c:f>
              <c:numCache>
                <c:formatCode>General</c:formatCode>
                <c:ptCount val="4"/>
                <c:pt idx="0">
                  <c:v>0.6</c:v>
                </c:pt>
                <c:pt idx="1">
                  <c:v>0.639</c:v>
                </c:pt>
                <c:pt idx="2">
                  <c:v>0.643</c:v>
                </c:pt>
                <c:pt idx="3">
                  <c:v>0.615</c:v>
                </c:pt>
              </c:numCache>
            </c:numRef>
          </c:val>
        </c:ser>
        <c:ser>
          <c:idx val="1"/>
          <c:order val="1"/>
          <c:tx>
            <c:strRef>
              <c:f>Sheet1!$C$1</c:f>
              <c:strCache>
                <c:ptCount val="1"/>
                <c:pt idx="0">
                  <c:v>Accuracy</c:v>
                </c:pt>
              </c:strCache>
            </c:strRef>
          </c:tx>
          <c:spPr>
            <a:solidFill>
              <a:srgbClr val="9CA3AF"/>
            </a:solidFill>
            <a:effectLst/>
          </c:spPr>
          <c:invertIfNegative val="0"/>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TF-IDF + LR</c:v>
                  </c:pt>
                  <c:pt idx="1">
                    <c:v>RoBERTa / CAMeLBERT</c:v>
                  </c:pt>
                  <c:pt idx="2">
                    <c:v>XLM-R</c:v>
                  </c:pt>
                  <c:pt idx="3">
                    <c:v>XLM-R + LoRA</c:v>
                  </c:pt>
                </c:lvl>
              </c:multiLvlStrCache>
            </c:multiLvlStrRef>
          </c:cat>
          <c:val>
            <c:numRef>
              <c:f>Sheet1!$C$2:$C$5</c:f>
              <c:numCache>
                <c:formatCode>General</c:formatCode>
                <c:ptCount val="4"/>
                <c:pt idx="0">
                  <c:v>0.829</c:v>
                </c:pt>
                <c:pt idx="1">
                  <c:v>0.843</c:v>
                </c:pt>
                <c:pt idx="2">
                  <c:v>0.857</c:v>
                </c:pt>
                <c:pt idx="3">
                  <c:v>0.899</c:v>
                </c:pt>
              </c:numCache>
            </c:numRef>
          </c:val>
        </c:ser>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Anger</c:v>
                </c:pt>
              </c:strCache>
            </c:strRef>
          </c:tx>
          <c:spPr>
            <a:solidFill>
              <a:srgbClr val="B91C1C"/>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Sheet1!$B$2:$B$6</c:f>
              <c:numCache>
                <c:formatCode>General</c:formatCode>
                <c:ptCount val="5"/>
                <c:pt idx="0">
                  <c:v>0.05</c:v>
                </c:pt>
                <c:pt idx="1">
                  <c:v>0.03</c:v>
                </c:pt>
                <c:pt idx="2">
                  <c:v>0.01</c:v>
                </c:pt>
                <c:pt idx="3">
                  <c:v>0</c:v>
                </c:pt>
                <c:pt idx="4">
                  <c:v>0</c:v>
                </c:pt>
              </c:numCache>
            </c:numRef>
          </c:val>
        </c:ser>
        <c:ser>
          <c:idx val="1"/>
          <c:order val="1"/>
          <c:tx>
            <c:strRef>
              <c:f>Sheet1!$C$1</c:f>
              <c:strCache>
                <c:ptCount val="1"/>
                <c:pt idx="0">
                  <c:v>Disgust</c:v>
                </c:pt>
              </c:strCache>
            </c:strRef>
          </c:tx>
          <c:spPr>
            <a:solidFill>
              <a:srgbClr val="92400E"/>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Sheet1!$C$2:$C$6</c:f>
              <c:numCache>
                <c:formatCode>General</c:formatCode>
                <c:ptCount val="5"/>
                <c:pt idx="0">
                  <c:v>0.11</c:v>
                </c:pt>
                <c:pt idx="1">
                  <c:v>0.02</c:v>
                </c:pt>
                <c:pt idx="2">
                  <c:v>0.02</c:v>
                </c:pt>
                <c:pt idx="3">
                  <c:v>0</c:v>
                </c:pt>
                <c:pt idx="4">
                  <c:v>0.01</c:v>
                </c:pt>
              </c:numCache>
            </c:numRef>
          </c:val>
        </c:ser>
        <c:ser>
          <c:idx val="2"/>
          <c:order val="2"/>
          <c:tx>
            <c:strRef>
              <c:f>Sheet1!$D$1</c:f>
              <c:strCache>
                <c:ptCount val="1"/>
                <c:pt idx="0">
                  <c:v>Fear</c:v>
                </c:pt>
              </c:strCache>
            </c:strRef>
          </c:tx>
          <c:spPr>
            <a:solidFill>
              <a:srgbClr val="7C3AED"/>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Sheet1!$D$2:$D$6</c:f>
              <c:numCache>
                <c:formatCode>General</c:formatCode>
                <c:ptCount val="5"/>
                <c:pt idx="0">
                  <c:v>0.01</c:v>
                </c:pt>
                <c:pt idx="1">
                  <c:v>0.01</c:v>
                </c:pt>
                <c:pt idx="2">
                  <c:v>0.01</c:v>
                </c:pt>
                <c:pt idx="3">
                  <c:v>0</c:v>
                </c:pt>
                <c:pt idx="4">
                  <c:v>0</c:v>
                </c:pt>
              </c:numCache>
            </c:numRef>
          </c:val>
        </c:ser>
        <c:ser>
          <c:idx val="3"/>
          <c:order val="3"/>
          <c:tx>
            <c:strRef>
              <c:f>Sheet1!$E$1</c:f>
              <c:strCache>
                <c:ptCount val="1"/>
                <c:pt idx="0">
                  <c:v>Joy</c:v>
                </c:pt>
              </c:strCache>
            </c:strRef>
          </c:tx>
          <c:spPr>
            <a:solidFill>
              <a:srgbClr val="15803D"/>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Sheet1!$E$2:$E$6</c:f>
              <c:numCache>
                <c:formatCode>General</c:formatCode>
                <c:ptCount val="5"/>
                <c:pt idx="0">
                  <c:v>0.02</c:v>
                </c:pt>
                <c:pt idx="1">
                  <c:v>0.02</c:v>
                </c:pt>
                <c:pt idx="2">
                  <c:v>0.09</c:v>
                </c:pt>
                <c:pt idx="3">
                  <c:v>0.28</c:v>
                </c:pt>
                <c:pt idx="4">
                  <c:v>0.47</c:v>
                </c:pt>
              </c:numCache>
            </c:numRef>
          </c:val>
        </c:ser>
        <c:ser>
          <c:idx val="4"/>
          <c:order val="4"/>
          <c:tx>
            <c:strRef>
              <c:f>Sheet1!$F$1</c:f>
              <c:strCache>
                <c:ptCount val="1"/>
                <c:pt idx="0">
                  <c:v>Neutral</c:v>
                </c:pt>
              </c:strCache>
            </c:strRef>
          </c:tx>
          <c:spPr>
            <a:solidFill>
              <a:srgbClr val="D1D5DB"/>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Sheet1!$F$2:$F$6</c:f>
              <c:numCache>
                <c:formatCode>General</c:formatCode>
                <c:ptCount val="5"/>
                <c:pt idx="0">
                  <c:v>0.3</c:v>
                </c:pt>
                <c:pt idx="1">
                  <c:v>0.37</c:v>
                </c:pt>
                <c:pt idx="2">
                  <c:v>0.49</c:v>
                </c:pt>
                <c:pt idx="3">
                  <c:v>0.48</c:v>
                </c:pt>
                <c:pt idx="4">
                  <c:v>0.44</c:v>
                </c:pt>
              </c:numCache>
            </c:numRef>
          </c:val>
        </c:ser>
        <c:ser>
          <c:idx val="5"/>
          <c:order val="5"/>
          <c:tx>
            <c:strRef>
              <c:f>Sheet1!$G$1</c:f>
              <c:strCache>
                <c:ptCount val="1"/>
                <c:pt idx="0">
                  <c:v>Sadness</c:v>
                </c:pt>
              </c:strCache>
            </c:strRef>
          </c:tx>
          <c:spPr>
            <a:solidFill>
              <a:srgbClr val="0F5257"/>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Sheet1!$G$2:$G$6</c:f>
              <c:numCache>
                <c:formatCode>General</c:formatCode>
                <c:ptCount val="5"/>
                <c:pt idx="0">
                  <c:v>0.46</c:v>
                </c:pt>
                <c:pt idx="1">
                  <c:v>0.5</c:v>
                </c:pt>
                <c:pt idx="2">
                  <c:v>0.3</c:v>
                </c:pt>
                <c:pt idx="3">
                  <c:v>0.2</c:v>
                </c:pt>
                <c:pt idx="4">
                  <c:v>0.05</c:v>
                </c:pt>
              </c:numCache>
            </c:numRef>
          </c:val>
        </c:ser>
        <c:ser>
          <c:idx val="6"/>
          <c:order val="6"/>
          <c:tx>
            <c:strRef>
              <c:f>Sheet1!$H$1</c:f>
              <c:strCache>
                <c:ptCount val="1"/>
                <c:pt idx="0">
                  <c:v>Surprise</c:v>
                </c:pt>
              </c:strCache>
            </c:strRef>
          </c:tx>
          <c:spPr>
            <a:solidFill>
              <a:srgbClr val="CA8A04"/>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 star</c:v>
                  </c:pt>
                  <c:pt idx="1">
                    <c:v>2 stars</c:v>
                  </c:pt>
                  <c:pt idx="2">
                    <c:v>3 stars</c:v>
                  </c:pt>
                  <c:pt idx="3">
                    <c:v>4 stars</c:v>
                  </c:pt>
                  <c:pt idx="4">
                    <c:v>5 stars</c:v>
                  </c:pt>
                </c:lvl>
              </c:multiLvlStrCache>
            </c:multiLvlStrRef>
          </c:cat>
          <c:val>
            <c:numRef>
              <c:f>Sheet1!$H$2:$H$6</c:f>
              <c:numCache>
                <c:formatCode>General</c:formatCode>
                <c:ptCount val="5"/>
                <c:pt idx="0">
                  <c:v>0.06</c:v>
                </c:pt>
                <c:pt idx="1">
                  <c:v>0.05</c:v>
                </c:pt>
                <c:pt idx="2">
                  <c:v>0.07</c:v>
                </c:pt>
                <c:pt idx="3">
                  <c:v>0.03</c:v>
                </c:pt>
                <c:pt idx="4">
                  <c:v>0.02</c:v>
                </c:pt>
              </c:numCache>
            </c:numRef>
          </c:val>
        </c:ser>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7E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Reviews</c:v>
                </c:pt>
              </c:strCache>
            </c:strRef>
          </c:tx>
          <c:spPr>
            <a:solidFill>
              <a:srgbClr val="0F5257"/>
            </a:solidFill>
            <a:effectLst/>
          </c:spPr>
          <c:invertIfNegative val="0"/>
          <c:dLbls>
            <c:numFmt formatCode="#,##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Sheet1!$A$2:$A$9</c:f>
              <c:multiLvlStrCache>
                <c:ptCount val="8"/>
                <c:lvl>
                  <c:pt idx="0">
                    <c:v>App not working</c:v>
                  </c:pt>
                  <c:pt idx="1">
                    <c:v>App crash on update</c:v>
                  </c:pt>
                  <c:pt idx="2">
                    <c:v>Update malfunction</c:v>
                  </c:pt>
                  <c:pt idx="3">
                    <c:v>App launch failure</c:v>
                  </c:pt>
                  <c:pt idx="4">
                    <c:v>Login problem</c:v>
                  </c:pt>
                  <c:pt idx="5">
                    <c:v>Payment failure</c:v>
                  </c:pt>
                  <c:pt idx="6">
                    <c:v>Poor customer service</c:v>
                  </c:pt>
                  <c:pt idx="7">
                    <c:v>Parking payment issue</c:v>
                  </c:pt>
                </c:lvl>
              </c:multiLvlStrCache>
            </c:multiLvlStrRef>
          </c:cat>
          <c:val>
            <c:numRef>
              <c:f>Sheet1!$B$2:$B$9</c:f>
              <c:numCache>
                <c:formatCode>General</c:formatCode>
                <c:ptCount val="8"/>
                <c:pt idx="0">
                  <c:v>124</c:v>
                </c:pt>
                <c:pt idx="1">
                  <c:v>127</c:v>
                </c:pt>
                <c:pt idx="2">
                  <c:v>144</c:v>
                </c:pt>
                <c:pt idx="3">
                  <c:v>160</c:v>
                </c:pt>
                <c:pt idx="4">
                  <c:v>161</c:v>
                </c:pt>
                <c:pt idx="5">
                  <c:v>172</c:v>
                </c:pt>
                <c:pt idx="6">
                  <c:v>184</c:v>
                </c:pt>
                <c:pt idx="7">
                  <c:v>200</c:v>
                </c:pt>
              </c:numCache>
            </c:numRef>
          </c:val>
        </c:ser>
        <c:dLbls>
          <c:numFmt formatCode="#,##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Macro-F1</c:v>
                </c:pt>
              </c:strCache>
            </c:strRef>
          </c:tx>
          <c:spPr>
            <a:solidFill>
              <a:srgbClr val="0F5257"/>
            </a:solidFill>
            <a:effectLst/>
          </c:spPr>
          <c:invertIfNegative val="0"/>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0F5257"/>
              </a:solidFill>
              <a:effectLst/>
            </c:spPr>
          </c:dPt>
          <c:dPt>
            <c:idx val="1"/>
            <c:invertIfNegative val="0"/>
            <c:bubble3D val="0"/>
            <c:spPr>
              <a:solidFill>
                <a:srgbClr val="0F5257"/>
              </a:solidFill>
              <a:effectLst/>
            </c:spPr>
          </c:dPt>
          <c:dPt>
            <c:idx val="2"/>
            <c:invertIfNegative val="0"/>
            <c:bubble3D val="0"/>
            <c:spPr>
              <a:solidFill>
                <a:srgbClr val="0F5257"/>
              </a:solidFill>
              <a:effectLst/>
            </c:spPr>
          </c:dPt>
          <c:dPt>
            <c:idx val="3"/>
            <c:invertIfNegative val="0"/>
            <c:bubble3D val="0"/>
            <c:spPr>
              <a:solidFill>
                <a:srgbClr val="9CA3AF"/>
              </a:solidFill>
              <a:effectLst/>
            </c:spPr>
          </c:dPt>
          <c:cat>
            <c:multiLvlStrRef>
              <c:f>Sheet1!$A$2:$A$5</c:f>
              <c:multiLvlStrCache>
                <c:ptCount val="4"/>
                <c:lvl>
                  <c:pt idx="0">
                    <c:v>Zero-shot</c:v>
                  </c:pt>
                  <c:pt idx="1">
                    <c:v>Role + definitions</c:v>
                  </c:pt>
                  <c:pt idx="2">
                    <c:v>Few-shot</c:v>
                  </c:pt>
                  <c:pt idx="3">
                    <c:v>XLM-R + LoRA (same 50)</c:v>
                  </c:pt>
                </c:lvl>
              </c:multiLvlStrCache>
            </c:multiLvlStrRef>
          </c:cat>
          <c:val>
            <c:numRef>
              <c:f>Sheet1!$B$2:$B$5</c:f>
              <c:numCache>
                <c:formatCode>General</c:formatCode>
                <c:ptCount val="4"/>
                <c:pt idx="0">
                  <c:v>0.569</c:v>
                </c:pt>
                <c:pt idx="1">
                  <c:v>0.594</c:v>
                </c:pt>
                <c:pt idx="2">
                  <c:v>0.655</c:v>
                </c:pt>
                <c:pt idx="3">
                  <c:v>0.545</c:v>
                </c:pt>
              </c:numCache>
            </c:numRef>
          </c:val>
        </c:ser>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Citizen Voice. It reads what people write about UAE government apps on Google Play, in English and in Arabic, and turns it into something an app team can act on: what is broken, how upset people are, which release caused it, and how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collected 5,365 reviews with google-play-scraper and kept 5,271 after removing duplicates and empty text. 41.5 percent are Arabic, so Arabic could not be an afterthought. Reviews are very short, the median is three words, which makes the task harder than normal text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collect, clean, represent, analyse and explain. I used the star rating as a free label, which is a weak label, and I come back to that in the limitations. Everything runs in one Colab notebook and the same code powers the Streamlit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vocabulary size after each preprocessing step. For English, stemming and lemmatising reduce the vocabulary moderately. For Arabic the ISRI stemmer more than halves it because Arabic packs prefixes and suffixes onto the root. I kept negation words in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four representations with the same logistic regression classifier and the same search task. BGE-M3 is best on both, but the big difference is cross-lingual search: TF-IDF overlap is zero, BGE-M3 is 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on the full bilingual test set. Fine-tuning with LoRA reaches the highest accuracy, 0.899, while training less than half a percent of the weights in about a minute. Macro-F1 is a bit lower than plain XLM-R because neutral 3-star reviews are rare and the fine-tuned model leans to the majority classes. That is why I report macro-F1 and not only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Emotion comes from DistilRoBERTa for English and zero-shot multilingual NLI for Arabic. I expected angry complaints, but most low-rated reviews read as sadness or disappointment. Joy rises steadily with the rating, which is a sanity check that the emotion model behaves sensibly.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clustered the complaint embeddings with k-means and chose the number of clusters with the silhouette score. Each cluster gets keywords from class-based TF-IDF and the LLM names it in both languages. 11 of 13 clusters contain both English and Arabic reviews, which only happens because the embeddings are multilingual. The biggest problems are parking payments, customer service and payment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app version I compare its complaint rate with the rest of that app's reviews using a two-proportion z-test. Because I test 65 versions, I correct with Benjamini-Hochberg. 15 versions pass at p below 0.05, and 10 survive the correction. The table shows a selection. Many consecutive RTA Dubai releases are flagged, which points to a lasting problem rather than one bad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three prompting strategies on the same 50 reviews. Few-shot prompting is clearly the best. On these 50 reviews it even beats my LoRA model, but the sample is small and the free API allows about 50 requests per day, so the fine-tuned model is still what I use for the full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retrieval the model answers from general knowledge and only 57 percent of its claims are supported. With retrieval and citations every checked claim is supported and no citation points to a review that does not exist. The judge is itself an LLM, so this is an automatic check, not a human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switch to the live demo. I show the overview, the issue clusters with Arabic names, a flagged release, a cross-lingual search, a RAG question with citations, and a drafted reply. The dashboard on the left is the HTML version that I also submitted.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the label: star ratings are free but noisy. The next step is a small hand-labelled set. I would also like to schedule the collector so the release detector warns the team the day a bad update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code, the Colab notebook and the dashboard are in the repository on this slide.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91440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
        <p:nvSpPr>
          <p:cNvPr id="3" name="Text 0"/>
          <p:cNvSpPr/>
          <p:nvPr>
            <p:ph idx="101" type="body" hasCustomPrompt="1"/>
          </p:nvPr>
        </p:nvSpPr>
        <p:spPr>
          <a:xfrm>
            <a:off x="640080" y="2423160"/>
            <a:ext cx="7863840" cy="731520"/>
          </a:xfrm>
          <a:prstGeom prst="rect">
            <a:avLst/>
          </a:prstGeom>
          <a:noFill/>
          <a:ln/>
        </p:spPr>
        <p:txBody>
          <a:bodyPr wrap="square" rtlCol="0"/>
          <a:lstStyle>
            <a:lvl1pPr algn="l" indent="0" marL="0">
              <a:buNone/>
              <a:defRPr lang="en-US" sz="1800" dirty="0">
                <a:solidFill>
                  <a:schemeClr val="tx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chemeClr val="accent3"/>
                </a:solidFill>
              </a:rPr>
              <a:t>Youssef Hajri  |  MAAI902 Citizen Voice</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914400"/>
          </a:xfrm>
          <a:prstGeom prst="rect">
            <a:avLst/>
          </a:prstGeom>
          <a:noFill/>
          <a:ln/>
        </p:spPr>
        <p:txBody>
          <a:bodyPr wrap="square" lIns="0" tIns="0" rIns="0" bIns="0" rtlCol="0" anchor="b"/>
          <a:lstStyle/>
          <a:p>
            <a:pPr algn="l" indent="0" marL="0">
              <a:buNone/>
            </a:pPr>
            <a:r>
              <a:rPr lang="en-US" sz="4400" b="1" dirty="0">
                <a:solidFill>
                  <a:schemeClr val="tx2"/>
                </a:solidFill>
              </a:rPr>
              <a:t>Citizen Voice</a:t>
            </a:r>
            <a:endParaRPr lang="en-US" sz="4400" dirty="0"/>
          </a:p>
        </p:txBody>
      </p:sp>
      <p:sp>
        <p:nvSpPr>
          <p:cNvPr id="3" name="Text 0"/>
          <p:cNvSpPr/>
          <p:nvPr>
            <p:ph idx="101" type="body" hasCustomPrompt="1"/>
          </p:nvPr>
        </p:nvSpPr>
        <p:spPr>
          <a:xfrm>
            <a:off x="640080" y="2423160"/>
            <a:ext cx="7863840" cy="731520"/>
          </a:xfrm>
          <a:prstGeom prst="rect">
            <a:avLst/>
          </a:prstGeom>
          <a:noFill/>
          <a:ln/>
        </p:spPr>
        <p:txBody>
          <a:bodyPr wrap="square" lIns="0" tIns="0" rIns="0" bIns="0" rtlCol="0" anchor="t"/>
          <a:lstStyle/>
          <a:p>
            <a:pPr algn="l" indent="0" marL="0">
              <a:buNone/>
            </a:pPr>
            <a:r>
              <a:rPr lang="en-US" sz="1800" dirty="0">
                <a:solidFill>
                  <a:schemeClr val="tx1"/>
                </a:solidFill>
              </a:rPr>
              <a:t>What residents say about UAE government apps, in English and Arabic</a:t>
            </a:r>
            <a:endParaRPr lang="en-US" sz="1800" dirty="0"/>
          </a:p>
        </p:txBody>
      </p:sp>
      <p:sp>
        <p:nvSpPr>
          <p:cNvPr id="4" name="Logo mark"/>
          <p:cNvSpPr/>
          <p:nvPr/>
        </p:nvSpPr>
        <p:spPr>
          <a:xfrm>
            <a:off x="640080" y="3429000"/>
            <a:ext cx="822960" cy="822960"/>
          </a:xfrm>
          <a:prstGeom prst="roundRect">
            <a:avLst>
              <a:gd name="adj" fmla="val 11111"/>
            </a:avLst>
          </a:prstGeom>
          <a:solidFill>
            <a:schemeClr val="accent1"/>
          </a:solidFill>
          <a:ln w="12700">
            <a:solidFill>
              <a:schemeClr val="accent1"/>
            </a:solidFill>
            <a:prstDash val="solid"/>
          </a:ln>
        </p:spPr>
      </p:sp>
      <p:sp>
        <p:nvSpPr>
          <p:cNvPr id="5" name="Logo text"/>
          <p:cNvSpPr txBox="1"/>
          <p:nvPr/>
        </p:nvSpPr>
        <p:spPr>
          <a:xfrm>
            <a:off x="640080" y="34290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CV</a:t>
            </a:r>
            <a:endParaRPr lang="en-US" sz="2400" dirty="0"/>
          </a:p>
        </p:txBody>
      </p:sp>
      <p:sp>
        <p:nvSpPr>
          <p:cNvPr id="6" name="Author"/>
          <p:cNvSpPr txBox="1"/>
          <p:nvPr/>
        </p:nvSpPr>
        <p:spPr>
          <a:xfrm>
            <a:off x="1691640" y="3383280"/>
            <a:ext cx="6766560" cy="914400"/>
          </a:xfrm>
          <a:prstGeom prst="rect">
            <a:avLst/>
          </a:prstGeom>
          <a:noFill/>
          <a:ln/>
        </p:spPr>
        <p:txBody>
          <a:bodyPr wrap="square" lIns="0" tIns="0" rIns="0" bIns="0" rtlCol="0" anchor="ctr"/>
          <a:lstStyle/>
          <a:p>
            <a:pPr indent="0" marL="0">
              <a:buNone/>
            </a:pPr>
            <a:r>
              <a:rPr lang="en-US" sz="1300" b="1" dirty="0">
                <a:solidFill>
                  <a:schemeClr val="tx1"/>
                </a:solidFill>
              </a:rPr>
              <a:t>Youssef Hajri</a:t>
            </a:r>
            <a:endParaRPr lang="en-US" sz="1300" dirty="0"/>
          </a:p>
          <a:p>
            <a:pPr indent="0" marL="0">
              <a:buNone/>
            </a:pPr>
            <a:r>
              <a:rPr lang="en-US" sz="1300" dirty="0">
                <a:solidFill>
                  <a:schemeClr val="tx1"/>
                </a:solidFill>
              </a:rPr>
              <a:t>Student ID 1425158</a:t>
            </a:r>
            <a:endParaRPr lang="en-US" sz="1300" dirty="0"/>
          </a:p>
          <a:p>
            <a:pPr indent="0" marL="0">
              <a:buNone/>
            </a:pPr>
            <a:r>
              <a:rPr lang="en-US" sz="1300" dirty="0">
                <a:solidFill>
                  <a:schemeClr val="tx1"/>
                </a:solidFill>
              </a:rPr>
              <a:t>MAAI902 Natural Language Processing and LLMs, University of Wollongong in Dubai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The problem: thousands of reviews, two languages</a:t>
            </a:r>
            <a:endParaRPr lang="en-US" sz="2600" dirty="0"/>
          </a:p>
        </p:txBody>
      </p:sp>
      <p:sp>
        <p:nvSpPr>
          <p:cNvPr id="3" name="Text 1"/>
          <p:cNvSpPr txBox="1"/>
          <p:nvPr/>
        </p:nvSpPr>
        <p:spPr>
          <a:xfrm>
            <a:off x="457200" y="1097280"/>
            <a:ext cx="3931920"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Residents review apps like UAE PASS, RTA Dubai and DEWA every day.</a:t>
            </a:r>
            <a:endParaRPr lang="en-US" sz="1500" dirty="0"/>
          </a:p>
          <a:p>
            <a:pPr marL="342900" indent="-342900">
              <a:spcAft>
                <a:spcPts val="600"/>
              </a:spcAft>
              <a:buSzPct val="100000"/>
              <a:buChar char="•"/>
            </a:pPr>
            <a:r>
              <a:rPr lang="en-US" sz="1500" dirty="0">
                <a:solidFill>
                  <a:schemeClr val="tx1"/>
                </a:solidFill>
              </a:rPr>
              <a:t>Almost half the reviews are in Arabic, many are only a few words long.</a:t>
            </a:r>
            <a:endParaRPr lang="en-US" sz="1500" dirty="0"/>
          </a:p>
          <a:p>
            <a:pPr marL="342900" indent="-342900">
              <a:spcAft>
                <a:spcPts val="600"/>
              </a:spcAft>
              <a:buSzPct val="100000"/>
              <a:buChar char="•"/>
            </a:pPr>
            <a:r>
              <a:rPr lang="en-US" sz="1500" dirty="0">
                <a:solidFill>
                  <a:schemeClr val="tx1"/>
                </a:solidFill>
              </a:rPr>
              <a:t>Nobody reads them all, so problems are found late.</a:t>
            </a:r>
            <a:endParaRPr lang="en-US" sz="1500" dirty="0"/>
          </a:p>
          <a:p>
            <a:pPr marL="342900" indent="-342900">
              <a:spcAft>
                <a:spcPts val="600"/>
              </a:spcAft>
              <a:buSzPct val="100000"/>
              <a:buChar char="•"/>
            </a:pPr>
            <a:r>
              <a:rPr lang="en-US" sz="1500" dirty="0">
                <a:solidFill>
                  <a:schemeClr val="tx1"/>
                </a:solidFill>
              </a:rPr>
              <a:t>My goal: collect them automatically and tell the team what to fix first.</a:t>
            </a:r>
            <a:endParaRPr lang="en-US" sz="1500" dirty="0"/>
          </a:p>
        </p:txBody>
      </p:sp>
      <p:sp>
        <p:nvSpPr>
          <p:cNvPr id="4" name="Reviews card"/>
          <p:cNvSpPr/>
          <p:nvPr/>
        </p:nvSpPr>
        <p:spPr>
          <a:xfrm>
            <a:off x="4754880" y="1097280"/>
            <a:ext cx="1874520" cy="1143000"/>
          </a:xfrm>
          <a:prstGeom prst="roundRect">
            <a:avLst>
              <a:gd name="adj" fmla="val 6400"/>
            </a:avLst>
          </a:prstGeom>
          <a:solidFill>
            <a:schemeClr val="bg2"/>
          </a:solidFill>
          <a:ln w="12700">
            <a:solidFill>
              <a:schemeClr val="bg2"/>
            </a:solidFill>
            <a:prstDash val="solid"/>
          </a:ln>
        </p:spPr>
      </p:sp>
      <p:sp>
        <p:nvSpPr>
          <p:cNvPr id="5" name="Reviews value"/>
          <p:cNvSpPr txBox="1"/>
          <p:nvPr/>
        </p:nvSpPr>
        <p:spPr>
          <a:xfrm>
            <a:off x="4892040" y="1207008"/>
            <a:ext cx="1600200" cy="594360"/>
          </a:xfrm>
          <a:prstGeom prst="rect">
            <a:avLst/>
          </a:prstGeom>
          <a:noFill/>
          <a:ln/>
        </p:spPr>
        <p:txBody>
          <a:bodyPr wrap="square" lIns="0" tIns="0" rIns="0" bIns="0" rtlCol="0" anchor="ctr"/>
          <a:lstStyle/>
          <a:p>
            <a:pPr indent="0" marL="0">
              <a:buNone/>
            </a:pPr>
            <a:r>
              <a:rPr lang="en-US" sz="3200" b="1" dirty="0">
                <a:solidFill>
                  <a:schemeClr val="accent1"/>
                </a:solidFill>
              </a:rPr>
              <a:t>5,271</a:t>
            </a:r>
            <a:endParaRPr lang="en-US" sz="3200" dirty="0"/>
          </a:p>
        </p:txBody>
      </p:sp>
      <p:sp>
        <p:nvSpPr>
          <p:cNvPr id="6" name="Reviews label"/>
          <p:cNvSpPr txBox="1"/>
          <p:nvPr/>
        </p:nvSpPr>
        <p:spPr>
          <a:xfrm>
            <a:off x="4892040" y="1810512"/>
            <a:ext cx="1600200" cy="365760"/>
          </a:xfrm>
          <a:prstGeom prst="rect">
            <a:avLst/>
          </a:prstGeom>
          <a:noFill/>
          <a:ln/>
        </p:spPr>
        <p:txBody>
          <a:bodyPr wrap="square" lIns="0" tIns="0" rIns="0" bIns="0" rtlCol="0" anchor="ctr"/>
          <a:lstStyle/>
          <a:p>
            <a:pPr indent="0" marL="0">
              <a:buNone/>
            </a:pPr>
            <a:r>
              <a:rPr lang="en-US" sz="1200" dirty="0">
                <a:solidFill>
                  <a:schemeClr val="tx1"/>
                </a:solidFill>
              </a:rPr>
              <a:t>reviews after cleaning</a:t>
            </a:r>
            <a:endParaRPr lang="en-US" sz="1200" dirty="0"/>
          </a:p>
        </p:txBody>
      </p:sp>
      <p:sp>
        <p:nvSpPr>
          <p:cNvPr id="7" name="Apps card"/>
          <p:cNvSpPr/>
          <p:nvPr/>
        </p:nvSpPr>
        <p:spPr>
          <a:xfrm>
            <a:off x="6812280" y="1097280"/>
            <a:ext cx="1874520" cy="1143000"/>
          </a:xfrm>
          <a:prstGeom prst="roundRect">
            <a:avLst>
              <a:gd name="adj" fmla="val 6400"/>
            </a:avLst>
          </a:prstGeom>
          <a:solidFill>
            <a:schemeClr val="bg2"/>
          </a:solidFill>
          <a:ln w="12700">
            <a:solidFill>
              <a:schemeClr val="bg2"/>
            </a:solidFill>
            <a:prstDash val="solid"/>
          </a:ln>
        </p:spPr>
      </p:sp>
      <p:sp>
        <p:nvSpPr>
          <p:cNvPr id="8" name="Apps value"/>
          <p:cNvSpPr txBox="1"/>
          <p:nvPr/>
        </p:nvSpPr>
        <p:spPr>
          <a:xfrm>
            <a:off x="6949440" y="1207008"/>
            <a:ext cx="1600200" cy="594360"/>
          </a:xfrm>
          <a:prstGeom prst="rect">
            <a:avLst/>
          </a:prstGeom>
          <a:noFill/>
          <a:ln/>
        </p:spPr>
        <p:txBody>
          <a:bodyPr wrap="square" lIns="0" tIns="0" rIns="0" bIns="0" rtlCol="0" anchor="ctr"/>
          <a:lstStyle/>
          <a:p>
            <a:pPr indent="0" marL="0">
              <a:buNone/>
            </a:pPr>
            <a:r>
              <a:rPr lang="en-US" sz="3200" b="1" dirty="0">
                <a:solidFill>
                  <a:schemeClr val="accent1"/>
                </a:solidFill>
              </a:rPr>
              <a:t>6</a:t>
            </a:r>
            <a:endParaRPr lang="en-US" sz="3200" dirty="0"/>
          </a:p>
        </p:txBody>
      </p:sp>
      <p:sp>
        <p:nvSpPr>
          <p:cNvPr id="9" name="Apps label"/>
          <p:cNvSpPr txBox="1"/>
          <p:nvPr/>
        </p:nvSpPr>
        <p:spPr>
          <a:xfrm>
            <a:off x="6949440" y="1810512"/>
            <a:ext cx="1600200" cy="365760"/>
          </a:xfrm>
          <a:prstGeom prst="rect">
            <a:avLst/>
          </a:prstGeom>
          <a:noFill/>
          <a:ln/>
        </p:spPr>
        <p:txBody>
          <a:bodyPr wrap="square" lIns="0" tIns="0" rIns="0" bIns="0" rtlCol="0" anchor="ctr"/>
          <a:lstStyle/>
          <a:p>
            <a:pPr indent="0" marL="0">
              <a:buNone/>
            </a:pPr>
            <a:r>
              <a:rPr lang="en-US" sz="1200" dirty="0">
                <a:solidFill>
                  <a:schemeClr val="tx1"/>
                </a:solidFill>
              </a:rPr>
              <a:t>government apps</a:t>
            </a:r>
            <a:endParaRPr lang="en-US" sz="1200" dirty="0"/>
          </a:p>
        </p:txBody>
      </p:sp>
      <p:sp>
        <p:nvSpPr>
          <p:cNvPr id="10" name="Arabic card"/>
          <p:cNvSpPr/>
          <p:nvPr/>
        </p:nvSpPr>
        <p:spPr>
          <a:xfrm>
            <a:off x="4754880" y="2423160"/>
            <a:ext cx="1874520" cy="1143000"/>
          </a:xfrm>
          <a:prstGeom prst="roundRect">
            <a:avLst>
              <a:gd name="adj" fmla="val 6400"/>
            </a:avLst>
          </a:prstGeom>
          <a:solidFill>
            <a:schemeClr val="bg2"/>
          </a:solidFill>
          <a:ln w="12700">
            <a:solidFill>
              <a:schemeClr val="bg2"/>
            </a:solidFill>
            <a:prstDash val="solid"/>
          </a:ln>
        </p:spPr>
      </p:sp>
      <p:sp>
        <p:nvSpPr>
          <p:cNvPr id="11" name="Arabic value"/>
          <p:cNvSpPr txBox="1"/>
          <p:nvPr/>
        </p:nvSpPr>
        <p:spPr>
          <a:xfrm>
            <a:off x="4892040" y="2532888"/>
            <a:ext cx="1600200" cy="594360"/>
          </a:xfrm>
          <a:prstGeom prst="rect">
            <a:avLst/>
          </a:prstGeom>
          <a:noFill/>
          <a:ln/>
        </p:spPr>
        <p:txBody>
          <a:bodyPr wrap="square" lIns="0" tIns="0" rIns="0" bIns="0" rtlCol="0" anchor="ctr"/>
          <a:lstStyle/>
          <a:p>
            <a:pPr indent="0" marL="0">
              <a:buNone/>
            </a:pPr>
            <a:r>
              <a:rPr lang="en-US" sz="3200" b="1" dirty="0">
                <a:solidFill>
                  <a:schemeClr val="accent1"/>
                </a:solidFill>
              </a:rPr>
              <a:t>41.5%</a:t>
            </a:r>
            <a:endParaRPr lang="en-US" sz="3200" dirty="0"/>
          </a:p>
        </p:txBody>
      </p:sp>
      <p:sp>
        <p:nvSpPr>
          <p:cNvPr id="12" name="Arabic label"/>
          <p:cNvSpPr txBox="1"/>
          <p:nvPr/>
        </p:nvSpPr>
        <p:spPr>
          <a:xfrm>
            <a:off x="4892040" y="3136392"/>
            <a:ext cx="1600200" cy="365760"/>
          </a:xfrm>
          <a:prstGeom prst="rect">
            <a:avLst/>
          </a:prstGeom>
          <a:noFill/>
          <a:ln/>
        </p:spPr>
        <p:txBody>
          <a:bodyPr wrap="square" lIns="0" tIns="0" rIns="0" bIns="0" rtlCol="0" anchor="ctr"/>
          <a:lstStyle/>
          <a:p>
            <a:pPr indent="0" marL="0">
              <a:buNone/>
            </a:pPr>
            <a:r>
              <a:rPr lang="en-US" sz="1200" dirty="0">
                <a:solidFill>
                  <a:schemeClr val="tx1"/>
                </a:solidFill>
              </a:rPr>
              <a:t>written in Arabic</a:t>
            </a:r>
            <a:endParaRPr lang="en-US" sz="1200" dirty="0"/>
          </a:p>
        </p:txBody>
      </p:sp>
      <p:sp>
        <p:nvSpPr>
          <p:cNvPr id="13" name="Negative card"/>
          <p:cNvSpPr/>
          <p:nvPr/>
        </p:nvSpPr>
        <p:spPr>
          <a:xfrm>
            <a:off x="6812280" y="2423160"/>
            <a:ext cx="1874520" cy="1143000"/>
          </a:xfrm>
          <a:prstGeom prst="roundRect">
            <a:avLst>
              <a:gd name="adj" fmla="val 6400"/>
            </a:avLst>
          </a:prstGeom>
          <a:solidFill>
            <a:schemeClr val="bg2"/>
          </a:solidFill>
          <a:ln w="12700">
            <a:solidFill>
              <a:schemeClr val="bg2"/>
            </a:solidFill>
            <a:prstDash val="solid"/>
          </a:ln>
        </p:spPr>
      </p:sp>
      <p:sp>
        <p:nvSpPr>
          <p:cNvPr id="14" name="Negative value"/>
          <p:cNvSpPr txBox="1"/>
          <p:nvPr/>
        </p:nvSpPr>
        <p:spPr>
          <a:xfrm>
            <a:off x="6949440" y="2532888"/>
            <a:ext cx="1600200" cy="594360"/>
          </a:xfrm>
          <a:prstGeom prst="rect">
            <a:avLst/>
          </a:prstGeom>
          <a:noFill/>
          <a:ln/>
        </p:spPr>
        <p:txBody>
          <a:bodyPr wrap="square" lIns="0" tIns="0" rIns="0" bIns="0" rtlCol="0" anchor="ctr"/>
          <a:lstStyle/>
          <a:p>
            <a:pPr indent="0" marL="0">
              <a:buNone/>
            </a:pPr>
            <a:r>
              <a:rPr lang="en-US" sz="3200" b="1" dirty="0">
                <a:solidFill>
                  <a:schemeClr val="accent2"/>
                </a:solidFill>
              </a:rPr>
              <a:t>27.6%</a:t>
            </a:r>
            <a:endParaRPr lang="en-US" sz="3200" dirty="0"/>
          </a:p>
        </p:txBody>
      </p:sp>
      <p:sp>
        <p:nvSpPr>
          <p:cNvPr id="15" name="Negative label"/>
          <p:cNvSpPr txBox="1"/>
          <p:nvPr/>
        </p:nvSpPr>
        <p:spPr>
          <a:xfrm>
            <a:off x="6949440" y="3136392"/>
            <a:ext cx="1600200" cy="365760"/>
          </a:xfrm>
          <a:prstGeom prst="rect">
            <a:avLst/>
          </a:prstGeom>
          <a:noFill/>
          <a:ln/>
        </p:spPr>
        <p:txBody>
          <a:bodyPr wrap="square" lIns="0" tIns="0" rIns="0" bIns="0" rtlCol="0" anchor="ctr"/>
          <a:lstStyle/>
          <a:p>
            <a:pPr indent="0" marL="0">
              <a:buNone/>
            </a:pPr>
            <a:r>
              <a:rPr lang="en-US" sz="1200" dirty="0">
                <a:solidFill>
                  <a:schemeClr val="tx1"/>
                </a:solidFill>
              </a:rPr>
              <a:t>negative (1 or 2 stars)</a:t>
            </a:r>
            <a:endParaRPr lang="en-US" sz="1200" dirty="0"/>
          </a:p>
        </p:txBody>
      </p:sp>
      <p:sp>
        <p:nvSpPr>
          <p:cNvPr id="16" name="Text 14"/>
          <p:cNvSpPr txBox="1"/>
          <p:nvPr/>
        </p:nvSpPr>
        <p:spPr>
          <a:xfrm>
            <a:off x="4754880" y="3749040"/>
            <a:ext cx="3931920" cy="365760"/>
          </a:xfrm>
          <a:prstGeom prst="rect">
            <a:avLst/>
          </a:prstGeom>
          <a:noFill/>
          <a:ln/>
        </p:spPr>
        <p:txBody>
          <a:bodyPr wrap="square" lIns="0" tIns="0" rIns="0" bIns="0" rtlCol="0" anchor="ctr"/>
          <a:lstStyle/>
          <a:p>
            <a:pPr indent="0" marL="0">
              <a:buNone/>
            </a:pPr>
            <a:r>
              <a:rPr lang="en-US" sz="1200" i="1" dirty="0">
                <a:solidFill>
                  <a:schemeClr val="accent3"/>
                </a:solidFill>
              </a:rPr>
              <a:t>Median review length: 3 words. Average rating: 3.8.</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How it works</a:t>
            </a:r>
            <a:endParaRPr lang="en-US" sz="2600" dirty="0"/>
          </a:p>
        </p:txBody>
      </p:sp>
      <p:sp>
        <p:nvSpPr>
          <p:cNvPr id="3" name="Step 1"/>
          <p:cNvSpPr/>
          <p:nvPr/>
        </p:nvSpPr>
        <p:spPr>
          <a:xfrm>
            <a:off x="457200" y="1463040"/>
            <a:ext cx="1463040" cy="192024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594360" y="1600200"/>
            <a:ext cx="457200" cy="365760"/>
          </a:xfrm>
          <a:prstGeom prst="rect">
            <a:avLst/>
          </a:prstGeom>
          <a:noFill/>
          <a:ln/>
        </p:spPr>
        <p:txBody>
          <a:bodyPr wrap="square" lIns="0" tIns="0" rIns="0" bIns="0" rtlCol="0" anchor="ctr"/>
          <a:lstStyle/>
          <a:p>
            <a:pPr indent="0" marL="0">
              <a:buNone/>
            </a:pPr>
            <a:r>
              <a:rPr lang="en-US" sz="1800" b="1" dirty="0">
                <a:solidFill>
                  <a:schemeClr val="accent1"/>
                </a:solidFill>
              </a:rPr>
              <a:t>1</a:t>
            </a:r>
            <a:endParaRPr lang="en-US" sz="1800" dirty="0"/>
          </a:p>
        </p:txBody>
      </p:sp>
      <p:sp>
        <p:nvSpPr>
          <p:cNvPr id="5" name="Text 3"/>
          <p:cNvSpPr txBox="1"/>
          <p:nvPr/>
        </p:nvSpPr>
        <p:spPr>
          <a:xfrm>
            <a:off x="594360" y="2011680"/>
            <a:ext cx="1188720" cy="365760"/>
          </a:xfrm>
          <a:prstGeom prst="rect">
            <a:avLst/>
          </a:prstGeom>
          <a:noFill/>
          <a:ln/>
        </p:spPr>
        <p:txBody>
          <a:bodyPr wrap="square" lIns="0" tIns="0" rIns="0" bIns="0" rtlCol="0" anchor="ctr"/>
          <a:lstStyle/>
          <a:p>
            <a:pPr indent="0" marL="0">
              <a:buNone/>
            </a:pPr>
            <a:r>
              <a:rPr lang="en-US" sz="1600" b="1" dirty="0">
                <a:solidFill>
                  <a:schemeClr val="tx1"/>
                </a:solidFill>
              </a:rPr>
              <a:t>Collect</a:t>
            </a:r>
            <a:endParaRPr lang="en-US" sz="1600" dirty="0"/>
          </a:p>
        </p:txBody>
      </p:sp>
      <p:sp>
        <p:nvSpPr>
          <p:cNvPr id="6" name="Text 4"/>
          <p:cNvSpPr txBox="1"/>
          <p:nvPr/>
        </p:nvSpPr>
        <p:spPr>
          <a:xfrm>
            <a:off x="594360" y="2423160"/>
            <a:ext cx="1188720" cy="868680"/>
          </a:xfrm>
          <a:prstGeom prst="rect">
            <a:avLst/>
          </a:prstGeom>
          <a:noFill/>
          <a:ln/>
        </p:spPr>
        <p:txBody>
          <a:bodyPr wrap="square" lIns="0" tIns="0" rIns="0" bIns="0" rtlCol="0" anchor="t"/>
          <a:lstStyle/>
          <a:p>
            <a:pPr indent="0" marL="0">
              <a:buNone/>
            </a:pPr>
            <a:r>
              <a:rPr lang="en-US" sz="1100" dirty="0">
                <a:solidFill>
                  <a:schemeClr val="tx1"/>
                </a:solidFill>
              </a:rPr>
              <a:t>Google Play scraper, incremental, no personal data</a:t>
            </a:r>
            <a:endParaRPr lang="en-US" sz="1100" dirty="0"/>
          </a:p>
        </p:txBody>
      </p:sp>
      <p:sp>
        <p:nvSpPr>
          <p:cNvPr id="7" name="Text 5"/>
          <p:cNvSpPr txBox="1"/>
          <p:nvPr/>
        </p:nvSpPr>
        <p:spPr>
          <a:xfrm>
            <a:off x="1901952" y="2194560"/>
            <a:ext cx="265176" cy="365760"/>
          </a:xfrm>
          <a:prstGeom prst="rect">
            <a:avLst/>
          </a:prstGeom>
          <a:noFill/>
          <a:ln/>
        </p:spPr>
        <p:txBody>
          <a:bodyPr wrap="square" lIns="0" tIns="0" rIns="0" bIns="0" rtlCol="0" anchor="ctr"/>
          <a:lstStyle/>
          <a:p>
            <a:pPr algn="ctr" indent="0" marL="0">
              <a:buNone/>
            </a:pPr>
            <a:r>
              <a:rPr lang="en-US" sz="1600" dirty="0">
                <a:solidFill>
                  <a:schemeClr val="accent3"/>
                </a:solidFill>
              </a:rPr>
              <a:t>→</a:t>
            </a:r>
            <a:endParaRPr lang="en-US" sz="1600" dirty="0"/>
          </a:p>
        </p:txBody>
      </p:sp>
      <p:sp>
        <p:nvSpPr>
          <p:cNvPr id="8" name="Step 2"/>
          <p:cNvSpPr/>
          <p:nvPr/>
        </p:nvSpPr>
        <p:spPr>
          <a:xfrm>
            <a:off x="2148840" y="1463040"/>
            <a:ext cx="1463040" cy="1920240"/>
          </a:xfrm>
          <a:prstGeom prst="roundRect">
            <a:avLst>
              <a:gd name="adj" fmla="val 5000"/>
            </a:avLst>
          </a:prstGeom>
          <a:solidFill>
            <a:schemeClr val="bg2"/>
          </a:solidFill>
          <a:ln w="12700">
            <a:solidFill>
              <a:schemeClr val="bg2"/>
            </a:solidFill>
            <a:prstDash val="solid"/>
          </a:ln>
        </p:spPr>
      </p:sp>
      <p:sp>
        <p:nvSpPr>
          <p:cNvPr id="9" name="Text 7"/>
          <p:cNvSpPr txBox="1"/>
          <p:nvPr/>
        </p:nvSpPr>
        <p:spPr>
          <a:xfrm>
            <a:off x="2286000" y="1600200"/>
            <a:ext cx="457200" cy="365760"/>
          </a:xfrm>
          <a:prstGeom prst="rect">
            <a:avLst/>
          </a:prstGeom>
          <a:noFill/>
          <a:ln/>
        </p:spPr>
        <p:txBody>
          <a:bodyPr wrap="square" lIns="0" tIns="0" rIns="0" bIns="0" rtlCol="0" anchor="ctr"/>
          <a:lstStyle/>
          <a:p>
            <a:pPr indent="0" marL="0">
              <a:buNone/>
            </a:pPr>
            <a:r>
              <a:rPr lang="en-US" sz="1800" b="1" dirty="0">
                <a:solidFill>
                  <a:schemeClr val="accent1"/>
                </a:solidFill>
              </a:rPr>
              <a:t>2</a:t>
            </a:r>
            <a:endParaRPr lang="en-US" sz="1800" dirty="0"/>
          </a:p>
        </p:txBody>
      </p:sp>
      <p:sp>
        <p:nvSpPr>
          <p:cNvPr id="10" name="Text 8"/>
          <p:cNvSpPr txBox="1"/>
          <p:nvPr/>
        </p:nvSpPr>
        <p:spPr>
          <a:xfrm>
            <a:off x="2286000" y="2011680"/>
            <a:ext cx="1188720" cy="365760"/>
          </a:xfrm>
          <a:prstGeom prst="rect">
            <a:avLst/>
          </a:prstGeom>
          <a:noFill/>
          <a:ln/>
        </p:spPr>
        <p:txBody>
          <a:bodyPr wrap="square" lIns="0" tIns="0" rIns="0" bIns="0" rtlCol="0" anchor="ctr"/>
          <a:lstStyle/>
          <a:p>
            <a:pPr indent="0" marL="0">
              <a:buNone/>
            </a:pPr>
            <a:r>
              <a:rPr lang="en-US" sz="1600" b="1" dirty="0">
                <a:solidFill>
                  <a:schemeClr val="tx1"/>
                </a:solidFill>
              </a:rPr>
              <a:t>Clean</a:t>
            </a:r>
            <a:endParaRPr lang="en-US" sz="1600" dirty="0"/>
          </a:p>
        </p:txBody>
      </p:sp>
      <p:sp>
        <p:nvSpPr>
          <p:cNvPr id="11" name="Text 9"/>
          <p:cNvSpPr txBox="1"/>
          <p:nvPr/>
        </p:nvSpPr>
        <p:spPr>
          <a:xfrm>
            <a:off x="2286000" y="2423160"/>
            <a:ext cx="1188720" cy="868680"/>
          </a:xfrm>
          <a:prstGeom prst="rect">
            <a:avLst/>
          </a:prstGeom>
          <a:noFill/>
          <a:ln/>
        </p:spPr>
        <p:txBody>
          <a:bodyPr wrap="square" lIns="0" tIns="0" rIns="0" bIns="0" rtlCol="0" anchor="t"/>
          <a:lstStyle/>
          <a:p>
            <a:pPr indent="0" marL="0">
              <a:buNone/>
            </a:pPr>
            <a:r>
              <a:rPr lang="en-US" sz="1100" dirty="0">
                <a:solidFill>
                  <a:schemeClr val="tx1"/>
                </a:solidFill>
              </a:rPr>
              <a:t>NLTK, spaCy, CAMeL Tools for Arabic</a:t>
            </a:r>
            <a:endParaRPr lang="en-US" sz="1100" dirty="0"/>
          </a:p>
        </p:txBody>
      </p:sp>
      <p:sp>
        <p:nvSpPr>
          <p:cNvPr id="12" name="Text 10"/>
          <p:cNvSpPr txBox="1"/>
          <p:nvPr/>
        </p:nvSpPr>
        <p:spPr>
          <a:xfrm>
            <a:off x="3593592" y="2194560"/>
            <a:ext cx="265176" cy="365760"/>
          </a:xfrm>
          <a:prstGeom prst="rect">
            <a:avLst/>
          </a:prstGeom>
          <a:noFill/>
          <a:ln/>
        </p:spPr>
        <p:txBody>
          <a:bodyPr wrap="square" lIns="0" tIns="0" rIns="0" bIns="0" rtlCol="0" anchor="ctr"/>
          <a:lstStyle/>
          <a:p>
            <a:pPr algn="ctr" indent="0" marL="0">
              <a:buNone/>
            </a:pPr>
            <a:r>
              <a:rPr lang="en-US" sz="1600" dirty="0">
                <a:solidFill>
                  <a:schemeClr val="accent3"/>
                </a:solidFill>
              </a:rPr>
              <a:t>→</a:t>
            </a:r>
            <a:endParaRPr lang="en-US" sz="1600" dirty="0"/>
          </a:p>
        </p:txBody>
      </p:sp>
      <p:sp>
        <p:nvSpPr>
          <p:cNvPr id="13" name="Step 3"/>
          <p:cNvSpPr/>
          <p:nvPr/>
        </p:nvSpPr>
        <p:spPr>
          <a:xfrm>
            <a:off x="3840480" y="1463040"/>
            <a:ext cx="1463040" cy="1920240"/>
          </a:xfrm>
          <a:prstGeom prst="roundRect">
            <a:avLst>
              <a:gd name="adj" fmla="val 5000"/>
            </a:avLst>
          </a:prstGeom>
          <a:solidFill>
            <a:schemeClr val="bg2"/>
          </a:solidFill>
          <a:ln w="12700">
            <a:solidFill>
              <a:schemeClr val="bg2"/>
            </a:solidFill>
            <a:prstDash val="solid"/>
          </a:ln>
        </p:spPr>
      </p:sp>
      <p:sp>
        <p:nvSpPr>
          <p:cNvPr id="14" name="Text 12"/>
          <p:cNvSpPr txBox="1"/>
          <p:nvPr/>
        </p:nvSpPr>
        <p:spPr>
          <a:xfrm>
            <a:off x="3977640" y="1600200"/>
            <a:ext cx="457200" cy="365760"/>
          </a:xfrm>
          <a:prstGeom prst="rect">
            <a:avLst/>
          </a:prstGeom>
          <a:noFill/>
          <a:ln/>
        </p:spPr>
        <p:txBody>
          <a:bodyPr wrap="square" lIns="0" tIns="0" rIns="0" bIns="0" rtlCol="0" anchor="ctr"/>
          <a:lstStyle/>
          <a:p>
            <a:pPr indent="0" marL="0">
              <a:buNone/>
            </a:pPr>
            <a:r>
              <a:rPr lang="en-US" sz="1800" b="1" dirty="0">
                <a:solidFill>
                  <a:schemeClr val="accent1"/>
                </a:solidFill>
              </a:rPr>
              <a:t>3</a:t>
            </a:r>
            <a:endParaRPr lang="en-US" sz="1800" dirty="0"/>
          </a:p>
        </p:txBody>
      </p:sp>
      <p:sp>
        <p:nvSpPr>
          <p:cNvPr id="15" name="Text 13"/>
          <p:cNvSpPr txBox="1"/>
          <p:nvPr/>
        </p:nvSpPr>
        <p:spPr>
          <a:xfrm>
            <a:off x="3977640" y="2011680"/>
            <a:ext cx="1188720" cy="365760"/>
          </a:xfrm>
          <a:prstGeom prst="rect">
            <a:avLst/>
          </a:prstGeom>
          <a:noFill/>
          <a:ln/>
        </p:spPr>
        <p:txBody>
          <a:bodyPr wrap="square" lIns="0" tIns="0" rIns="0" bIns="0" rtlCol="0" anchor="ctr"/>
          <a:lstStyle/>
          <a:p>
            <a:pPr indent="0" marL="0">
              <a:buNone/>
            </a:pPr>
            <a:r>
              <a:rPr lang="en-US" sz="1600" b="1" dirty="0">
                <a:solidFill>
                  <a:schemeClr val="tx1"/>
                </a:solidFill>
              </a:rPr>
              <a:t>Represent</a:t>
            </a:r>
            <a:endParaRPr lang="en-US" sz="1600" dirty="0"/>
          </a:p>
        </p:txBody>
      </p:sp>
      <p:sp>
        <p:nvSpPr>
          <p:cNvPr id="16" name="Text 14"/>
          <p:cNvSpPr txBox="1"/>
          <p:nvPr/>
        </p:nvSpPr>
        <p:spPr>
          <a:xfrm>
            <a:off x="3977640" y="2423160"/>
            <a:ext cx="1188720" cy="868680"/>
          </a:xfrm>
          <a:prstGeom prst="rect">
            <a:avLst/>
          </a:prstGeom>
          <a:noFill/>
          <a:ln/>
        </p:spPr>
        <p:txBody>
          <a:bodyPr wrap="square" lIns="0" tIns="0" rIns="0" bIns="0" rtlCol="0" anchor="t"/>
          <a:lstStyle/>
          <a:p>
            <a:pPr indent="0" marL="0">
              <a:buNone/>
            </a:pPr>
            <a:r>
              <a:rPr lang="en-US" sz="1100" dirty="0">
                <a:solidFill>
                  <a:schemeClr val="tx1"/>
                </a:solidFill>
              </a:rPr>
              <a:t>BoW, TF-IDF, Word2Vec, BGE-M3</a:t>
            </a:r>
            <a:endParaRPr lang="en-US" sz="1100" dirty="0"/>
          </a:p>
        </p:txBody>
      </p:sp>
      <p:sp>
        <p:nvSpPr>
          <p:cNvPr id="17" name="Text 15"/>
          <p:cNvSpPr txBox="1"/>
          <p:nvPr/>
        </p:nvSpPr>
        <p:spPr>
          <a:xfrm>
            <a:off x="5285232" y="2194560"/>
            <a:ext cx="265176" cy="365760"/>
          </a:xfrm>
          <a:prstGeom prst="rect">
            <a:avLst/>
          </a:prstGeom>
          <a:noFill/>
          <a:ln/>
        </p:spPr>
        <p:txBody>
          <a:bodyPr wrap="square" lIns="0" tIns="0" rIns="0" bIns="0" rtlCol="0" anchor="ctr"/>
          <a:lstStyle/>
          <a:p>
            <a:pPr algn="ctr" indent="0" marL="0">
              <a:buNone/>
            </a:pPr>
            <a:r>
              <a:rPr lang="en-US" sz="1600" dirty="0">
                <a:solidFill>
                  <a:schemeClr val="accent3"/>
                </a:solidFill>
              </a:rPr>
              <a:t>→</a:t>
            </a:r>
            <a:endParaRPr lang="en-US" sz="1600" dirty="0"/>
          </a:p>
        </p:txBody>
      </p:sp>
      <p:sp>
        <p:nvSpPr>
          <p:cNvPr id="18" name="Step 4"/>
          <p:cNvSpPr/>
          <p:nvPr/>
        </p:nvSpPr>
        <p:spPr>
          <a:xfrm>
            <a:off x="5532120" y="1463040"/>
            <a:ext cx="1463040" cy="1920240"/>
          </a:xfrm>
          <a:prstGeom prst="roundRect">
            <a:avLst>
              <a:gd name="adj" fmla="val 5000"/>
            </a:avLst>
          </a:prstGeom>
          <a:solidFill>
            <a:schemeClr val="bg2"/>
          </a:solidFill>
          <a:ln w="12700">
            <a:solidFill>
              <a:schemeClr val="bg2"/>
            </a:solidFill>
            <a:prstDash val="solid"/>
          </a:ln>
        </p:spPr>
      </p:sp>
      <p:sp>
        <p:nvSpPr>
          <p:cNvPr id="19" name="Text 17"/>
          <p:cNvSpPr txBox="1"/>
          <p:nvPr/>
        </p:nvSpPr>
        <p:spPr>
          <a:xfrm>
            <a:off x="5669280" y="1600200"/>
            <a:ext cx="457200" cy="365760"/>
          </a:xfrm>
          <a:prstGeom prst="rect">
            <a:avLst/>
          </a:prstGeom>
          <a:noFill/>
          <a:ln/>
        </p:spPr>
        <p:txBody>
          <a:bodyPr wrap="square" lIns="0" tIns="0" rIns="0" bIns="0" rtlCol="0" anchor="ctr"/>
          <a:lstStyle/>
          <a:p>
            <a:pPr indent="0" marL="0">
              <a:buNone/>
            </a:pPr>
            <a:r>
              <a:rPr lang="en-US" sz="1800" b="1" dirty="0">
                <a:solidFill>
                  <a:schemeClr val="accent1"/>
                </a:solidFill>
              </a:rPr>
              <a:t>4</a:t>
            </a:r>
            <a:endParaRPr lang="en-US" sz="1800" dirty="0"/>
          </a:p>
        </p:txBody>
      </p:sp>
      <p:sp>
        <p:nvSpPr>
          <p:cNvPr id="20" name="Text 18"/>
          <p:cNvSpPr txBox="1"/>
          <p:nvPr/>
        </p:nvSpPr>
        <p:spPr>
          <a:xfrm>
            <a:off x="5669280" y="2011680"/>
            <a:ext cx="1188720" cy="365760"/>
          </a:xfrm>
          <a:prstGeom prst="rect">
            <a:avLst/>
          </a:prstGeom>
          <a:noFill/>
          <a:ln/>
        </p:spPr>
        <p:txBody>
          <a:bodyPr wrap="square" lIns="0" tIns="0" rIns="0" bIns="0" rtlCol="0" anchor="ctr"/>
          <a:lstStyle/>
          <a:p>
            <a:pPr indent="0" marL="0">
              <a:buNone/>
            </a:pPr>
            <a:r>
              <a:rPr lang="en-US" sz="1600" b="1" dirty="0">
                <a:solidFill>
                  <a:schemeClr val="tx1"/>
                </a:solidFill>
              </a:rPr>
              <a:t>Analyse</a:t>
            </a:r>
            <a:endParaRPr lang="en-US" sz="1600" dirty="0"/>
          </a:p>
        </p:txBody>
      </p:sp>
      <p:sp>
        <p:nvSpPr>
          <p:cNvPr id="21" name="Text 19"/>
          <p:cNvSpPr txBox="1"/>
          <p:nvPr/>
        </p:nvSpPr>
        <p:spPr>
          <a:xfrm>
            <a:off x="5669280" y="2423160"/>
            <a:ext cx="1188720" cy="868680"/>
          </a:xfrm>
          <a:prstGeom prst="rect">
            <a:avLst/>
          </a:prstGeom>
          <a:noFill/>
          <a:ln/>
        </p:spPr>
        <p:txBody>
          <a:bodyPr wrap="square" lIns="0" tIns="0" rIns="0" bIns="0" rtlCol="0" anchor="t"/>
          <a:lstStyle/>
          <a:p>
            <a:pPr indent="0" marL="0">
              <a:buNone/>
            </a:pPr>
            <a:r>
              <a:rPr lang="en-US" sz="1100" dirty="0">
                <a:solidFill>
                  <a:schemeClr val="tx1"/>
                </a:solidFill>
              </a:rPr>
              <a:t>sentiment, emotion, NER, issues, releases</a:t>
            </a:r>
            <a:endParaRPr lang="en-US" sz="1100" dirty="0"/>
          </a:p>
        </p:txBody>
      </p:sp>
      <p:sp>
        <p:nvSpPr>
          <p:cNvPr id="22" name="Text 20"/>
          <p:cNvSpPr txBox="1"/>
          <p:nvPr/>
        </p:nvSpPr>
        <p:spPr>
          <a:xfrm>
            <a:off x="6976872" y="2194560"/>
            <a:ext cx="265176" cy="365760"/>
          </a:xfrm>
          <a:prstGeom prst="rect">
            <a:avLst/>
          </a:prstGeom>
          <a:noFill/>
          <a:ln/>
        </p:spPr>
        <p:txBody>
          <a:bodyPr wrap="square" lIns="0" tIns="0" rIns="0" bIns="0" rtlCol="0" anchor="ctr"/>
          <a:lstStyle/>
          <a:p>
            <a:pPr algn="ctr" indent="0" marL="0">
              <a:buNone/>
            </a:pPr>
            <a:r>
              <a:rPr lang="en-US" sz="1600" dirty="0">
                <a:solidFill>
                  <a:schemeClr val="accent3"/>
                </a:solidFill>
              </a:rPr>
              <a:t>→</a:t>
            </a:r>
            <a:endParaRPr lang="en-US" sz="1600" dirty="0"/>
          </a:p>
        </p:txBody>
      </p:sp>
      <p:sp>
        <p:nvSpPr>
          <p:cNvPr id="23" name="Step 5"/>
          <p:cNvSpPr/>
          <p:nvPr/>
        </p:nvSpPr>
        <p:spPr>
          <a:xfrm>
            <a:off x="7223760" y="1463040"/>
            <a:ext cx="1463040" cy="1920240"/>
          </a:xfrm>
          <a:prstGeom prst="roundRect">
            <a:avLst>
              <a:gd name="adj" fmla="val 5000"/>
            </a:avLst>
          </a:prstGeom>
          <a:solidFill>
            <a:schemeClr val="accent1"/>
          </a:solidFill>
          <a:ln w="12700">
            <a:solidFill>
              <a:schemeClr val="accent1"/>
            </a:solidFill>
            <a:prstDash val="solid"/>
          </a:ln>
        </p:spPr>
      </p:sp>
      <p:sp>
        <p:nvSpPr>
          <p:cNvPr id="24" name="Text 22"/>
          <p:cNvSpPr txBox="1"/>
          <p:nvPr/>
        </p:nvSpPr>
        <p:spPr>
          <a:xfrm>
            <a:off x="7360920" y="1600200"/>
            <a:ext cx="457200" cy="365760"/>
          </a:xfrm>
          <a:prstGeom prst="rect">
            <a:avLst/>
          </a:prstGeom>
          <a:noFill/>
          <a:ln/>
        </p:spPr>
        <p:txBody>
          <a:bodyPr wrap="square" lIns="0" tIns="0" rIns="0" bIns="0" rtlCol="0" anchor="ctr"/>
          <a:lstStyle/>
          <a:p>
            <a:pPr indent="0" marL="0">
              <a:buNone/>
            </a:pPr>
            <a:r>
              <a:rPr lang="en-US" sz="1800" b="1" dirty="0">
                <a:solidFill>
                  <a:schemeClr val="bg1"/>
                </a:solidFill>
              </a:rPr>
              <a:t>5</a:t>
            </a:r>
            <a:endParaRPr lang="en-US" sz="1800" dirty="0"/>
          </a:p>
        </p:txBody>
      </p:sp>
      <p:sp>
        <p:nvSpPr>
          <p:cNvPr id="25" name="Text 23"/>
          <p:cNvSpPr txBox="1"/>
          <p:nvPr/>
        </p:nvSpPr>
        <p:spPr>
          <a:xfrm>
            <a:off x="7360920" y="2011680"/>
            <a:ext cx="1188720" cy="365760"/>
          </a:xfrm>
          <a:prstGeom prst="rect">
            <a:avLst/>
          </a:prstGeom>
          <a:noFill/>
          <a:ln/>
        </p:spPr>
        <p:txBody>
          <a:bodyPr wrap="square" lIns="0" tIns="0" rIns="0" bIns="0" rtlCol="0" anchor="ctr"/>
          <a:lstStyle/>
          <a:p>
            <a:pPr indent="0" marL="0">
              <a:buNone/>
            </a:pPr>
            <a:r>
              <a:rPr lang="en-US" sz="1600" b="1" dirty="0">
                <a:solidFill>
                  <a:schemeClr val="bg1"/>
                </a:solidFill>
              </a:rPr>
              <a:t>Explain</a:t>
            </a:r>
            <a:endParaRPr lang="en-US" sz="1600" dirty="0"/>
          </a:p>
        </p:txBody>
      </p:sp>
      <p:sp>
        <p:nvSpPr>
          <p:cNvPr id="26" name="Text 24"/>
          <p:cNvSpPr txBox="1"/>
          <p:nvPr/>
        </p:nvSpPr>
        <p:spPr>
          <a:xfrm>
            <a:off x="7360920" y="2423160"/>
            <a:ext cx="1188720" cy="868680"/>
          </a:xfrm>
          <a:prstGeom prst="rect">
            <a:avLst/>
          </a:prstGeom>
          <a:noFill/>
          <a:ln/>
        </p:spPr>
        <p:txBody>
          <a:bodyPr wrap="square" lIns="0" tIns="0" rIns="0" bIns="0" rtlCol="0" anchor="t"/>
          <a:lstStyle/>
          <a:p>
            <a:pPr indent="0" marL="0">
              <a:buNone/>
            </a:pPr>
            <a:r>
              <a:rPr lang="en-US" sz="1100" dirty="0">
                <a:solidFill>
                  <a:schemeClr val="bg1"/>
                </a:solidFill>
              </a:rPr>
              <a:t>LLM prompts, RAG with citations, replies</a:t>
            </a:r>
            <a:endParaRPr lang="en-US" sz="1100" dirty="0"/>
          </a:p>
        </p:txBody>
      </p:sp>
      <p:sp>
        <p:nvSpPr>
          <p:cNvPr id="27" name="Text 25"/>
          <p:cNvSpPr txBox="1"/>
          <p:nvPr/>
        </p:nvSpPr>
        <p:spPr>
          <a:xfrm>
            <a:off x="457200" y="3657600"/>
            <a:ext cx="8229600" cy="731520"/>
          </a:xfrm>
          <a:prstGeom prst="rect">
            <a:avLst/>
          </a:prstGeom>
          <a:noFill/>
          <a:ln/>
        </p:spPr>
        <p:txBody>
          <a:bodyPr wrap="square" lIns="0" tIns="0" rIns="0" bIns="0" rtlCol="0" anchor="ctr"/>
          <a:lstStyle/>
          <a:p>
            <a:pPr indent="0" marL="0">
              <a:buNone/>
            </a:pPr>
            <a:r>
              <a:rPr lang="en-US" sz="1300" dirty="0">
                <a:solidFill>
                  <a:schemeClr val="tx1"/>
                </a:solidFill>
              </a:rPr>
              <a:t>Train and test split: 4,216 / 1,055 reviews. Labels come from star ratings (1 to 2 negative, 3 neutral, 4 to 5 positive). Whole pipeline runs in about 5 minutes on a Colab T4.</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Preprocessing: Arabic stemming cuts the vocabulary in half</a:t>
            </a:r>
            <a:endParaRPr lang="en-US" sz="2600" dirty="0"/>
          </a:p>
        </p:txBody>
      </p:sp>
      <p:graphicFrame>
        <p:nvGraphicFramePr>
          <p:cNvPr id="3" name="Chart 0" descr=""/>
          <p:cNvGraphicFramePr/>
          <p:nvPr/>
        </p:nvGraphicFramePr>
        <p:xfrm>
          <a:off x="457200" y="105156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52160" y="1188720"/>
            <a:ext cx="2834640"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Stop words removed, but I kept negation words in English and Arabic, so "not working" stays negative.</a:t>
            </a:r>
            <a:endParaRPr lang="en-US" sz="1300" dirty="0"/>
          </a:p>
          <a:p>
            <a:pPr marL="342900" indent="-342900">
              <a:spcAft>
                <a:spcPts val="600"/>
              </a:spcAft>
              <a:buSzPct val="100000"/>
              <a:buChar char="•"/>
            </a:pPr>
            <a:r>
              <a:rPr lang="en-US" sz="1300" dirty="0">
                <a:solidFill>
                  <a:schemeClr val="tx1"/>
                </a:solidFill>
              </a:rPr>
              <a:t>CAMeL Tools normalises Arabic letters, diacritics and stretched words.</a:t>
            </a:r>
            <a:endParaRPr lang="en-US" sz="1300" dirty="0"/>
          </a:p>
          <a:p>
            <a:pPr marL="342900" indent="-342900">
              <a:spcAft>
                <a:spcPts val="600"/>
              </a:spcAft>
              <a:buSzPct val="100000"/>
              <a:buChar char="•"/>
            </a:pPr>
            <a:r>
              <a:rPr lang="en-US" sz="1300" dirty="0">
                <a:solidFill>
                  <a:schemeClr val="tx1"/>
                </a:solidFill>
              </a:rPr>
              <a:t>The ISRI stemmer is aggressive: 3,106 → 1,456 Arabic types. Lemmas keep more meaning, so I used them for features.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Representations: BGE-M3 wins in both languages</a:t>
            </a:r>
            <a:endParaRPr lang="en-US" sz="2600" dirty="0"/>
          </a:p>
        </p:txBody>
      </p:sp>
      <p:graphicFrame>
        <p:nvGraphicFramePr>
          <p:cNvPr id="3" name="Chart 0" descr=""/>
          <p:cNvGraphicFramePr/>
          <p:nvPr/>
        </p:nvGraphicFramePr>
        <p:xfrm>
          <a:off x="457200" y="105156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Cross-lingual card"/>
          <p:cNvSpPr/>
          <p:nvPr/>
        </p:nvSpPr>
        <p:spPr>
          <a:xfrm>
            <a:off x="5852160" y="1188720"/>
            <a:ext cx="2834640" cy="1143000"/>
          </a:xfrm>
          <a:prstGeom prst="roundRect">
            <a:avLst>
              <a:gd name="adj" fmla="val 6400"/>
            </a:avLst>
          </a:prstGeom>
          <a:solidFill>
            <a:schemeClr val="bg2"/>
          </a:solidFill>
          <a:ln w="12700">
            <a:solidFill>
              <a:schemeClr val="bg2"/>
            </a:solidFill>
            <a:prstDash val="solid"/>
          </a:ln>
        </p:spPr>
      </p:sp>
      <p:sp>
        <p:nvSpPr>
          <p:cNvPr id="5" name="Cross-lingual value"/>
          <p:cNvSpPr txBox="1"/>
          <p:nvPr/>
        </p:nvSpPr>
        <p:spPr>
          <a:xfrm>
            <a:off x="5989320" y="1298448"/>
            <a:ext cx="2560320" cy="594360"/>
          </a:xfrm>
          <a:prstGeom prst="rect">
            <a:avLst/>
          </a:prstGeom>
          <a:noFill/>
          <a:ln/>
        </p:spPr>
        <p:txBody>
          <a:bodyPr wrap="square" lIns="0" tIns="0" rIns="0" bIns="0" rtlCol="0" anchor="ctr"/>
          <a:lstStyle/>
          <a:p>
            <a:pPr indent="0" marL="0">
              <a:buNone/>
            </a:pPr>
            <a:r>
              <a:rPr lang="en-US" sz="3200" b="1" dirty="0">
                <a:solidFill>
                  <a:schemeClr val="accent1"/>
                </a:solidFill>
              </a:rPr>
              <a:t>0.36 vs 0</a:t>
            </a:r>
            <a:endParaRPr lang="en-US" sz="3200" dirty="0"/>
          </a:p>
        </p:txBody>
      </p:sp>
      <p:sp>
        <p:nvSpPr>
          <p:cNvPr id="6" name="Cross-lingual label"/>
          <p:cNvSpPr txBox="1"/>
          <p:nvPr/>
        </p:nvSpPr>
        <p:spPr>
          <a:xfrm>
            <a:off x="5989320" y="1901952"/>
            <a:ext cx="2560320" cy="365760"/>
          </a:xfrm>
          <a:prstGeom prst="rect">
            <a:avLst/>
          </a:prstGeom>
          <a:noFill/>
          <a:ln/>
        </p:spPr>
        <p:txBody>
          <a:bodyPr wrap="square" lIns="0" tIns="0" rIns="0" bIns="0" rtlCol="0" anchor="ctr"/>
          <a:lstStyle/>
          <a:p>
            <a:pPr indent="0" marL="0">
              <a:buNone/>
            </a:pPr>
            <a:r>
              <a:rPr lang="en-US" sz="1200" dirty="0">
                <a:solidFill>
                  <a:schemeClr val="tx1"/>
                </a:solidFill>
              </a:rPr>
              <a:t>cross-lingual overlap@10, BGE-M3 vs TF-IDF</a:t>
            </a:r>
            <a:endParaRPr lang="en-US" sz="1200" dirty="0"/>
          </a:p>
        </p:txBody>
      </p:sp>
      <p:sp>
        <p:nvSpPr>
          <p:cNvPr id="7" name="Text 4"/>
          <p:cNvSpPr txBox="1"/>
          <p:nvPr/>
        </p:nvSpPr>
        <p:spPr>
          <a:xfrm>
            <a:off x="5852160" y="2560320"/>
            <a:ext cx="2834640" cy="192024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An English query never finds an Arabic review with TF-IDF because the words differ. BGE-M3 puts both languages in one 1024-dimension space, so 20% of results for an English query are Arabic.</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Sentiment: pre-trained vs fine-tuned with LoRA</a:t>
            </a:r>
            <a:endParaRPr lang="en-US" sz="2600" dirty="0"/>
          </a:p>
        </p:txBody>
      </p:sp>
      <p:graphicFrame>
        <p:nvGraphicFramePr>
          <p:cNvPr id="3" name="Chart 0" descr=""/>
          <p:cNvGraphicFramePr/>
          <p:nvPr/>
        </p:nvGraphicFramePr>
        <p:xfrm>
          <a:off x="457200" y="105156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LoRA card"/>
          <p:cNvSpPr/>
          <p:nvPr/>
        </p:nvSpPr>
        <p:spPr>
          <a:xfrm>
            <a:off x="5852160" y="1188720"/>
            <a:ext cx="2834640" cy="1143000"/>
          </a:xfrm>
          <a:prstGeom prst="roundRect">
            <a:avLst>
              <a:gd name="adj" fmla="val 6400"/>
            </a:avLst>
          </a:prstGeom>
          <a:solidFill>
            <a:schemeClr val="bg2"/>
          </a:solidFill>
          <a:ln w="12700">
            <a:solidFill>
              <a:schemeClr val="bg2"/>
            </a:solidFill>
            <a:prstDash val="solid"/>
          </a:ln>
        </p:spPr>
      </p:sp>
      <p:sp>
        <p:nvSpPr>
          <p:cNvPr id="5" name="LoRA value"/>
          <p:cNvSpPr txBox="1"/>
          <p:nvPr/>
        </p:nvSpPr>
        <p:spPr>
          <a:xfrm>
            <a:off x="5989320" y="1298448"/>
            <a:ext cx="2560320" cy="594360"/>
          </a:xfrm>
          <a:prstGeom prst="rect">
            <a:avLst/>
          </a:prstGeom>
          <a:noFill/>
          <a:ln/>
        </p:spPr>
        <p:txBody>
          <a:bodyPr wrap="square" lIns="0" tIns="0" rIns="0" bIns="0" rtlCol="0" anchor="ctr"/>
          <a:lstStyle/>
          <a:p>
            <a:pPr indent="0" marL="0">
              <a:buNone/>
            </a:pPr>
            <a:r>
              <a:rPr lang="en-US" sz="3200" b="1" dirty="0">
                <a:solidFill>
                  <a:schemeClr val="accent1"/>
                </a:solidFill>
              </a:rPr>
              <a:t>0.42%</a:t>
            </a:r>
            <a:endParaRPr lang="en-US" sz="3200" dirty="0"/>
          </a:p>
        </p:txBody>
      </p:sp>
      <p:sp>
        <p:nvSpPr>
          <p:cNvPr id="6" name="LoRA label"/>
          <p:cNvSpPr txBox="1"/>
          <p:nvPr/>
        </p:nvSpPr>
        <p:spPr>
          <a:xfrm>
            <a:off x="5989320" y="1901952"/>
            <a:ext cx="2560320" cy="365760"/>
          </a:xfrm>
          <a:prstGeom prst="rect">
            <a:avLst/>
          </a:prstGeom>
          <a:noFill/>
          <a:ln/>
        </p:spPr>
        <p:txBody>
          <a:bodyPr wrap="square" lIns="0" tIns="0" rIns="0" bIns="0" rtlCol="0" anchor="ctr"/>
          <a:lstStyle/>
          <a:p>
            <a:pPr indent="0" marL="0">
              <a:buNone/>
            </a:pPr>
            <a:r>
              <a:rPr lang="en-US" sz="1200" dirty="0">
                <a:solidFill>
                  <a:schemeClr val="tx1"/>
                </a:solidFill>
              </a:rPr>
              <a:t>of XLM-R weights trained with LoRA (r = 16), 1.1 minutes</a:t>
            </a:r>
            <a:endParaRPr lang="en-US" sz="1200" dirty="0"/>
          </a:p>
        </p:txBody>
      </p:sp>
      <p:sp>
        <p:nvSpPr>
          <p:cNvPr id="7" name="Text 4"/>
          <p:cNvSpPr txBox="1"/>
          <p:nvPr/>
        </p:nvSpPr>
        <p:spPr>
          <a:xfrm>
            <a:off x="5852160" y="2560320"/>
            <a:ext cx="2834640" cy="192024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LoRA gives the best accuracy (0.899) but not the best macro-F1: it rarely predicts the small neutral class. VADER only works for English (macro-F1 0.53).</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Emotion: low ratings are mostly sadness, not anger</a:t>
            </a:r>
            <a:endParaRPr lang="en-US" sz="2600" dirty="0"/>
          </a:p>
        </p:txBody>
      </p:sp>
      <p:graphicFrame>
        <p:nvGraphicFramePr>
          <p:cNvPr id="3" name="Chart 0" descr=""/>
          <p:cNvGraphicFramePr/>
          <p:nvPr/>
        </p:nvGraphicFramePr>
        <p:xfrm>
          <a:off x="457200" y="1051560"/>
          <a:ext cx="5486400" cy="3520440"/>
        </p:xfrm>
        <a:graphic xmlns:a="http://schemas.openxmlformats.org/drawingml/2006/main">
          <a:graphicData uri="http://schemas.openxmlformats.org/drawingml/2006/chart">
            <c:chart xmlns:c="http://schemas.openxmlformats.org/drawingml/2006/chart" r:id="rId1"/>
          </a:graphicData>
        </a:graphic>
      </p:graphicFrame>
      <p:sp>
        <p:nvSpPr>
          <p:cNvPr id="4" name="Sadness card"/>
          <p:cNvSpPr/>
          <p:nvPr/>
        </p:nvSpPr>
        <p:spPr>
          <a:xfrm>
            <a:off x="6217920" y="1188720"/>
            <a:ext cx="2468880" cy="1143000"/>
          </a:xfrm>
          <a:prstGeom prst="roundRect">
            <a:avLst>
              <a:gd name="adj" fmla="val 6400"/>
            </a:avLst>
          </a:prstGeom>
          <a:solidFill>
            <a:schemeClr val="bg2"/>
          </a:solidFill>
          <a:ln w="12700">
            <a:solidFill>
              <a:schemeClr val="bg2"/>
            </a:solidFill>
            <a:prstDash val="solid"/>
          </a:ln>
        </p:spPr>
      </p:sp>
      <p:sp>
        <p:nvSpPr>
          <p:cNvPr id="5" name="Sadness value"/>
          <p:cNvSpPr txBox="1"/>
          <p:nvPr/>
        </p:nvSpPr>
        <p:spPr>
          <a:xfrm>
            <a:off x="6355080" y="1298448"/>
            <a:ext cx="2194560" cy="594360"/>
          </a:xfrm>
          <a:prstGeom prst="rect">
            <a:avLst/>
          </a:prstGeom>
          <a:noFill/>
          <a:ln/>
        </p:spPr>
        <p:txBody>
          <a:bodyPr wrap="square" lIns="0" tIns="0" rIns="0" bIns="0" rtlCol="0" anchor="ctr"/>
          <a:lstStyle/>
          <a:p>
            <a:pPr indent="0" marL="0">
              <a:buNone/>
            </a:pPr>
            <a:r>
              <a:rPr lang="en-US" sz="3200" b="1" dirty="0">
                <a:solidFill>
                  <a:schemeClr val="accent1"/>
                </a:solidFill>
              </a:rPr>
              <a:t>46%</a:t>
            </a:r>
            <a:endParaRPr lang="en-US" sz="3200" dirty="0"/>
          </a:p>
        </p:txBody>
      </p:sp>
      <p:sp>
        <p:nvSpPr>
          <p:cNvPr id="6" name="Sadness label"/>
          <p:cNvSpPr txBox="1"/>
          <p:nvPr/>
        </p:nvSpPr>
        <p:spPr>
          <a:xfrm>
            <a:off x="6355080" y="1901952"/>
            <a:ext cx="2194560" cy="365760"/>
          </a:xfrm>
          <a:prstGeom prst="rect">
            <a:avLst/>
          </a:prstGeom>
          <a:noFill/>
          <a:ln/>
        </p:spPr>
        <p:txBody>
          <a:bodyPr wrap="square" lIns="0" tIns="0" rIns="0" bIns="0" rtlCol="0" anchor="ctr"/>
          <a:lstStyle/>
          <a:p>
            <a:pPr indent="0" marL="0">
              <a:buNone/>
            </a:pPr>
            <a:r>
              <a:rPr lang="en-US" sz="1200" dirty="0">
                <a:solidFill>
                  <a:schemeClr val="tx1"/>
                </a:solidFill>
              </a:rPr>
              <a:t>of complaints read as sadness</a:t>
            </a:r>
            <a:endParaRPr lang="en-US" sz="1200" dirty="0"/>
          </a:p>
        </p:txBody>
      </p:sp>
      <p:sp>
        <p:nvSpPr>
          <p:cNvPr id="7" name="Anger card"/>
          <p:cNvSpPr/>
          <p:nvPr/>
        </p:nvSpPr>
        <p:spPr>
          <a:xfrm>
            <a:off x="6217920" y="2514600"/>
            <a:ext cx="2468880" cy="1143000"/>
          </a:xfrm>
          <a:prstGeom prst="roundRect">
            <a:avLst>
              <a:gd name="adj" fmla="val 6400"/>
            </a:avLst>
          </a:prstGeom>
          <a:solidFill>
            <a:schemeClr val="bg2"/>
          </a:solidFill>
          <a:ln w="12700">
            <a:solidFill>
              <a:schemeClr val="bg2"/>
            </a:solidFill>
            <a:prstDash val="solid"/>
          </a:ln>
        </p:spPr>
      </p:sp>
      <p:sp>
        <p:nvSpPr>
          <p:cNvPr id="8" name="Anger value"/>
          <p:cNvSpPr txBox="1"/>
          <p:nvPr/>
        </p:nvSpPr>
        <p:spPr>
          <a:xfrm>
            <a:off x="6355080" y="2624328"/>
            <a:ext cx="2194560" cy="594360"/>
          </a:xfrm>
          <a:prstGeom prst="rect">
            <a:avLst/>
          </a:prstGeom>
          <a:noFill/>
          <a:ln/>
        </p:spPr>
        <p:txBody>
          <a:bodyPr wrap="square" lIns="0" tIns="0" rIns="0" bIns="0" rtlCol="0" anchor="ctr"/>
          <a:lstStyle/>
          <a:p>
            <a:pPr indent="0" marL="0">
              <a:buNone/>
            </a:pPr>
            <a:r>
              <a:rPr lang="en-US" sz="3200" b="1" dirty="0">
                <a:solidFill>
                  <a:schemeClr val="accent2"/>
                </a:solidFill>
              </a:rPr>
              <a:t>4%</a:t>
            </a:r>
            <a:endParaRPr lang="en-US" sz="3200" dirty="0"/>
          </a:p>
        </p:txBody>
      </p:sp>
      <p:sp>
        <p:nvSpPr>
          <p:cNvPr id="9" name="Anger label"/>
          <p:cNvSpPr txBox="1"/>
          <p:nvPr/>
        </p:nvSpPr>
        <p:spPr>
          <a:xfrm>
            <a:off x="6355080" y="3227832"/>
            <a:ext cx="2194560" cy="365760"/>
          </a:xfrm>
          <a:prstGeom prst="rect">
            <a:avLst/>
          </a:prstGeom>
          <a:noFill/>
          <a:ln/>
        </p:spPr>
        <p:txBody>
          <a:bodyPr wrap="square" lIns="0" tIns="0" rIns="0" bIns="0" rtlCol="0" anchor="ctr"/>
          <a:lstStyle/>
          <a:p>
            <a:pPr indent="0" marL="0">
              <a:buNone/>
            </a:pPr>
            <a:r>
              <a:rPr lang="en-US" sz="1200" dirty="0">
                <a:solidFill>
                  <a:schemeClr val="tx1"/>
                </a:solidFill>
              </a:rPr>
              <a:t>read as anger</a:t>
            </a:r>
            <a:endParaRPr lang="en-US" sz="1200" dirty="0"/>
          </a:p>
        </p:txBody>
      </p:sp>
      <p:sp>
        <p:nvSpPr>
          <p:cNvPr id="10" name="Text 7"/>
          <p:cNvSpPr txBox="1"/>
          <p:nvPr/>
        </p:nvSpPr>
        <p:spPr>
          <a:xfrm>
            <a:off x="6217920" y="3794760"/>
            <a:ext cx="2468880" cy="73152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People sound tired and let down, so replies should be patient, not defensive.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Issues found automatically, named in English and Arabic</a:t>
            </a:r>
            <a:endParaRPr lang="en-US" sz="2600" dirty="0"/>
          </a:p>
        </p:txBody>
      </p:sp>
      <p:graphicFrame>
        <p:nvGraphicFramePr>
          <p:cNvPr id="3" name="Chart 0" descr=""/>
          <p:cNvGraphicFramePr/>
          <p:nvPr/>
        </p:nvGraphicFramePr>
        <p:xfrm>
          <a:off x="457200" y="1051560"/>
          <a:ext cx="5303520" cy="3520440"/>
        </p:xfrm>
        <a:graphic xmlns:a="http://schemas.openxmlformats.org/drawingml/2006/main">
          <a:graphicData uri="http://schemas.openxmlformats.org/drawingml/2006/chart">
            <c:chart xmlns:c="http://schemas.openxmlformats.org/drawingml/2006/chart" r:id="rId1"/>
          </a:graphicData>
        </a:graphic>
      </p:graphicFrame>
      <p:sp>
        <p:nvSpPr>
          <p:cNvPr id="4" name="Clusters card"/>
          <p:cNvSpPr/>
          <p:nvPr/>
        </p:nvSpPr>
        <p:spPr>
          <a:xfrm>
            <a:off x="6035040" y="1188720"/>
            <a:ext cx="2651760" cy="1143000"/>
          </a:xfrm>
          <a:prstGeom prst="roundRect">
            <a:avLst>
              <a:gd name="adj" fmla="val 6400"/>
            </a:avLst>
          </a:prstGeom>
          <a:solidFill>
            <a:schemeClr val="bg2"/>
          </a:solidFill>
          <a:ln w="12700">
            <a:solidFill>
              <a:schemeClr val="bg2"/>
            </a:solidFill>
            <a:prstDash val="solid"/>
          </a:ln>
        </p:spPr>
      </p:sp>
      <p:sp>
        <p:nvSpPr>
          <p:cNvPr id="5" name="Clusters value"/>
          <p:cNvSpPr txBox="1"/>
          <p:nvPr/>
        </p:nvSpPr>
        <p:spPr>
          <a:xfrm>
            <a:off x="6172200" y="1298448"/>
            <a:ext cx="2377440" cy="594360"/>
          </a:xfrm>
          <a:prstGeom prst="rect">
            <a:avLst/>
          </a:prstGeom>
          <a:noFill/>
          <a:ln/>
        </p:spPr>
        <p:txBody>
          <a:bodyPr wrap="square" lIns="0" tIns="0" rIns="0" bIns="0" rtlCol="0" anchor="ctr"/>
          <a:lstStyle/>
          <a:p>
            <a:pPr indent="0" marL="0">
              <a:buNone/>
            </a:pPr>
            <a:r>
              <a:rPr lang="en-US" sz="3200" b="1" dirty="0">
                <a:solidFill>
                  <a:schemeClr val="accent1"/>
                </a:solidFill>
              </a:rPr>
              <a:t>13</a:t>
            </a:r>
            <a:endParaRPr lang="en-US" sz="3200" dirty="0"/>
          </a:p>
        </p:txBody>
      </p:sp>
      <p:sp>
        <p:nvSpPr>
          <p:cNvPr id="6" name="Clusters label"/>
          <p:cNvSpPr txBox="1"/>
          <p:nvPr/>
        </p:nvSpPr>
        <p:spPr>
          <a:xfrm>
            <a:off x="6172200" y="1901952"/>
            <a:ext cx="2377440" cy="365760"/>
          </a:xfrm>
          <a:prstGeom prst="rect">
            <a:avLst/>
          </a:prstGeom>
          <a:noFill/>
          <a:ln/>
        </p:spPr>
        <p:txBody>
          <a:bodyPr wrap="square" lIns="0" tIns="0" rIns="0" bIns="0" rtlCol="0" anchor="ctr"/>
          <a:lstStyle/>
          <a:p>
            <a:pPr indent="0" marL="0">
              <a:buNone/>
            </a:pPr>
            <a:r>
              <a:rPr lang="en-US" sz="1200" dirty="0">
                <a:solidFill>
                  <a:schemeClr val="tx1"/>
                </a:solidFill>
              </a:rPr>
              <a:t>clusters (k-means on BGE-M3, chosen by silhouette)</a:t>
            </a:r>
            <a:endParaRPr lang="en-US" sz="1200" dirty="0"/>
          </a:p>
        </p:txBody>
      </p:sp>
      <p:sp>
        <p:nvSpPr>
          <p:cNvPr id="7" name="Bilingual card"/>
          <p:cNvSpPr/>
          <p:nvPr/>
        </p:nvSpPr>
        <p:spPr>
          <a:xfrm>
            <a:off x="6035040" y="2514600"/>
            <a:ext cx="2651760" cy="1143000"/>
          </a:xfrm>
          <a:prstGeom prst="roundRect">
            <a:avLst>
              <a:gd name="adj" fmla="val 6400"/>
            </a:avLst>
          </a:prstGeom>
          <a:solidFill>
            <a:schemeClr val="bg2"/>
          </a:solidFill>
          <a:ln w="12700">
            <a:solidFill>
              <a:schemeClr val="bg2"/>
            </a:solidFill>
            <a:prstDash val="solid"/>
          </a:ln>
        </p:spPr>
      </p:sp>
      <p:sp>
        <p:nvSpPr>
          <p:cNvPr id="8" name="Bilingual value"/>
          <p:cNvSpPr txBox="1"/>
          <p:nvPr/>
        </p:nvSpPr>
        <p:spPr>
          <a:xfrm>
            <a:off x="6172200" y="2624328"/>
            <a:ext cx="2377440" cy="594360"/>
          </a:xfrm>
          <a:prstGeom prst="rect">
            <a:avLst/>
          </a:prstGeom>
          <a:noFill/>
          <a:ln/>
        </p:spPr>
        <p:txBody>
          <a:bodyPr wrap="square" lIns="0" tIns="0" rIns="0" bIns="0" rtlCol="0" anchor="ctr"/>
          <a:lstStyle/>
          <a:p>
            <a:pPr indent="0" marL="0">
              <a:buNone/>
            </a:pPr>
            <a:r>
              <a:rPr lang="en-US" sz="3200" b="1" dirty="0">
                <a:solidFill>
                  <a:schemeClr val="accent1"/>
                </a:solidFill>
              </a:rPr>
              <a:t>11</a:t>
            </a:r>
            <a:endParaRPr lang="en-US" sz="3200" dirty="0"/>
          </a:p>
        </p:txBody>
      </p:sp>
      <p:sp>
        <p:nvSpPr>
          <p:cNvPr id="9" name="Bilingual label"/>
          <p:cNvSpPr txBox="1"/>
          <p:nvPr/>
        </p:nvSpPr>
        <p:spPr>
          <a:xfrm>
            <a:off x="6172200" y="3227832"/>
            <a:ext cx="2377440" cy="365760"/>
          </a:xfrm>
          <a:prstGeom prst="rect">
            <a:avLst/>
          </a:prstGeom>
          <a:noFill/>
          <a:ln/>
        </p:spPr>
        <p:txBody>
          <a:bodyPr wrap="square" lIns="0" tIns="0" rIns="0" bIns="0" rtlCol="0" anchor="ctr"/>
          <a:lstStyle/>
          <a:p>
            <a:pPr indent="0" marL="0">
              <a:buNone/>
            </a:pPr>
            <a:r>
              <a:rPr lang="en-US" sz="1200" dirty="0">
                <a:solidFill>
                  <a:schemeClr val="tx1"/>
                </a:solidFill>
              </a:rPr>
              <a:t>of them mix English and Arabic reviews</a:t>
            </a:r>
            <a:endParaRPr lang="en-US" sz="1200" dirty="0"/>
          </a:p>
        </p:txBody>
      </p:sp>
      <p:sp>
        <p:nvSpPr>
          <p:cNvPr id="10" name="Text 7"/>
          <p:cNvSpPr txBox="1"/>
          <p:nvPr/>
        </p:nvSpPr>
        <p:spPr>
          <a:xfrm>
            <a:off x="6035040" y="3794760"/>
            <a:ext cx="2651760" cy="73152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Keywords from class-based TF-IDF, names written by the LLM, for example:</a:t>
            </a:r>
            <a:endParaRPr lang="en-US" sz="1200" dirty="0"/>
          </a:p>
          <a:p>
            <a:pPr rtl="1" algn="r" indent="0" marL="0">
              <a:spcAft>
                <a:spcPts val="600"/>
              </a:spcAft>
              <a:buNone/>
            </a:pPr>
            <a:r>
              <a:rPr lang="en-US" sz="1200" dirty="0">
                <a:solidFill>
                  <a:schemeClr val="tx1"/>
                </a:solidFill>
              </a:rPr>
              <a:t>مشكلة في تسجيل الدخول</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Which release made things worse?</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394960" cy="914400"/>
        </p:xfrm>
        <a:graphic>
          <a:graphicData uri="http://schemas.openxmlformats.org/drawingml/2006/table">
            <a:tbl>
              <a:tblPr/>
              <a:tblGrid>
                <a:gridCol w="1005840"/>
                <a:gridCol w="731520"/>
                <a:gridCol w="914400"/>
                <a:gridCol w="640080"/>
                <a:gridCol w="640080"/>
                <a:gridCol w="1463040"/>
              </a:tblGrid>
              <a:tr h="384048">
                <a:tc>
                  <a:txBody>
                    <a:bodyPr/>
                    <a:lstStyle/>
                    <a:p>
                      <a:pPr indent="0" marL="0">
                        <a:buNone/>
                      </a:pPr>
                      <a:r>
                        <a:rPr lang="en-US" sz="1100" b="1" dirty="0">
                          <a:solidFill>
                            <a:schemeClr val="bg1"/>
                          </a:solidFill>
                        </a:rPr>
                        <a:t>App</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Version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Complaints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Usual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q</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Issue that grew</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r>
              <a:tr h="384048">
                <a:tc>
                  <a:txBody>
                    <a:bodyPr/>
                    <a:lstStyle/>
                    <a:p>
                      <a:pPr indent="0" marL="0">
                        <a:buNone/>
                      </a:pPr>
                      <a:r>
                        <a:rPr lang="en-US" sz="1100" dirty="0">
                          <a:solidFill>
                            <a:schemeClr val="tx1"/>
                          </a:solidFill>
                        </a:rPr>
                        <a:t>DEWA</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10.3.6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95%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51%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App launch failure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rPr>
                        <a:t>RTA Dubai</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6.4.8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78%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28%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&lt;0.001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App launch failure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rPr>
                        <a:t>RTA Dubai</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6.4.2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63%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28%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&lt;0.001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UAE Pass login issue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rPr>
                        <a:t>UAE PASS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6.9.1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35%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23%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0.011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Login problem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rPr>
                        <a:t>Dubai Police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7.0.5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20%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0.039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App crash on update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bl>
          </a:graphicData>
        </a:graphic>
      </p:graphicFrame>
      <p:sp>
        <p:nvSpPr>
          <p:cNvPr id="4" name="Flags card"/>
          <p:cNvSpPr/>
          <p:nvPr/>
        </p:nvSpPr>
        <p:spPr>
          <a:xfrm>
            <a:off x="6126480" y="1097280"/>
            <a:ext cx="2560320" cy="1143000"/>
          </a:xfrm>
          <a:prstGeom prst="roundRect">
            <a:avLst>
              <a:gd name="adj" fmla="val 6400"/>
            </a:avLst>
          </a:prstGeom>
          <a:solidFill>
            <a:schemeClr val="bg2"/>
          </a:solidFill>
          <a:ln w="12700">
            <a:solidFill>
              <a:schemeClr val="bg2"/>
            </a:solidFill>
            <a:prstDash val="solid"/>
          </a:ln>
        </p:spPr>
      </p:sp>
      <p:sp>
        <p:nvSpPr>
          <p:cNvPr id="5" name="Flags value"/>
          <p:cNvSpPr txBox="1"/>
          <p:nvPr/>
        </p:nvSpPr>
        <p:spPr>
          <a:xfrm>
            <a:off x="6263640" y="1207008"/>
            <a:ext cx="2286000" cy="594360"/>
          </a:xfrm>
          <a:prstGeom prst="rect">
            <a:avLst/>
          </a:prstGeom>
          <a:noFill/>
          <a:ln/>
        </p:spPr>
        <p:txBody>
          <a:bodyPr wrap="square" lIns="0" tIns="0" rIns="0" bIns="0" rtlCol="0" anchor="ctr"/>
          <a:lstStyle/>
          <a:p>
            <a:pPr indent="0" marL="0">
              <a:buNone/>
            </a:pPr>
            <a:r>
              <a:rPr lang="en-US" sz="3200" b="1" dirty="0">
                <a:solidFill>
                  <a:schemeClr val="accent1"/>
                </a:solidFill>
              </a:rPr>
              <a:t>65 → 10</a:t>
            </a:r>
            <a:endParaRPr lang="en-US" sz="3200" dirty="0"/>
          </a:p>
        </p:txBody>
      </p:sp>
      <p:sp>
        <p:nvSpPr>
          <p:cNvPr id="6" name="Flags label"/>
          <p:cNvSpPr txBox="1"/>
          <p:nvPr/>
        </p:nvSpPr>
        <p:spPr>
          <a:xfrm>
            <a:off x="6263640" y="1810512"/>
            <a:ext cx="2286000" cy="365760"/>
          </a:xfrm>
          <a:prstGeom prst="rect">
            <a:avLst/>
          </a:prstGeom>
          <a:noFill/>
          <a:ln/>
        </p:spPr>
        <p:txBody>
          <a:bodyPr wrap="square" lIns="0" tIns="0" rIns="0" bIns="0" rtlCol="0" anchor="ctr"/>
          <a:lstStyle/>
          <a:p>
            <a:pPr indent="0" marL="0">
              <a:buNone/>
            </a:pPr>
            <a:r>
              <a:rPr lang="en-US" sz="1200" dirty="0">
                <a:solidFill>
                  <a:schemeClr val="tx1"/>
                </a:solidFill>
              </a:rPr>
              <a:t>versions tested → flagged after Benjamini-Hochberg</a:t>
            </a:r>
            <a:endParaRPr lang="en-US" sz="1200" dirty="0"/>
          </a:p>
        </p:txBody>
      </p:sp>
      <p:sp>
        <p:nvSpPr>
          <p:cNvPr id="7" name="Text 4"/>
          <p:cNvSpPr txBox="1"/>
          <p:nvPr/>
        </p:nvSpPr>
        <p:spPr>
          <a:xfrm>
            <a:off x="6126480" y="2423160"/>
            <a:ext cx="2560320" cy="210312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Two-proportion z-test per version against the rest of the app. 15 versions had p &lt; 0.05 alone, but with 65 tests some of that is chance, so I control the false discovery rate at 5%. Six flags are RTA Dubai releases in a row.</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Prompt engineering: few-shot beats zero-shot</a:t>
            </a:r>
            <a:endParaRPr lang="en-US" sz="2600" dirty="0"/>
          </a:p>
        </p:txBody>
      </p:sp>
      <p:graphicFrame>
        <p:nvGraphicFramePr>
          <p:cNvPr id="3" name="Chart 0" descr=""/>
          <p:cNvGraphicFramePr/>
          <p:nvPr/>
        </p:nvGraphicFramePr>
        <p:xfrm>
          <a:off x="457200" y="105156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52160" y="1188720"/>
            <a:ext cx="2834640"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Same 50 test reviews, free OpenRouter model, JSON output.</a:t>
            </a:r>
            <a:endParaRPr lang="en-US" sz="1300" dirty="0"/>
          </a:p>
          <a:p>
            <a:pPr marL="342900" indent="-342900">
              <a:spcAft>
                <a:spcPts val="600"/>
              </a:spcAft>
              <a:buSzPct val="100000"/>
              <a:buChar char="•"/>
            </a:pPr>
            <a:r>
              <a:rPr lang="en-US" sz="1300" dirty="0">
                <a:solidFill>
                  <a:schemeClr val="tx1"/>
                </a:solidFill>
              </a:rPr>
              <a:t>Adding a role and label definitions helps a little (0.57 → 0.59).</a:t>
            </a:r>
            <a:endParaRPr lang="en-US" sz="1300" dirty="0"/>
          </a:p>
          <a:p>
            <a:pPr marL="342900" indent="-342900">
              <a:spcAft>
                <a:spcPts val="600"/>
              </a:spcAft>
              <a:buSzPct val="100000"/>
              <a:buChar char="•"/>
            </a:pPr>
            <a:r>
              <a:rPr lang="en-US" sz="1300" dirty="0">
                <a:solidFill>
                  <a:schemeClr val="tx1"/>
                </a:solidFill>
              </a:rPr>
              <a:t>Six labelled examples help most (0.66).</a:t>
            </a:r>
            <a:endParaRPr lang="en-US" sz="1300" dirty="0"/>
          </a:p>
          <a:p>
            <a:pPr marL="342900" indent="-342900">
              <a:spcAft>
                <a:spcPts val="600"/>
              </a:spcAft>
              <a:buSzPct val="100000"/>
              <a:buChar char="•"/>
            </a:pPr>
            <a:r>
              <a:rPr lang="en-US" sz="1300" dirty="0">
                <a:solidFill>
                  <a:schemeClr val="tx1"/>
                </a:solidFill>
              </a:rPr>
              <a:t>On this small sample the LLM beats my fine-tuned model, but it is slower and has a daily limit.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RAG keeps the answers grounded</a:t>
            </a:r>
            <a:endParaRPr lang="en-US" sz="2600" dirty="0"/>
          </a:p>
        </p:txBody>
      </p:sp>
      <p:sp>
        <p:nvSpPr>
          <p:cNvPr id="3" name="RAG card"/>
          <p:cNvSpPr/>
          <p:nvPr/>
        </p:nvSpPr>
        <p:spPr>
          <a:xfrm>
            <a:off x="457200" y="1188720"/>
            <a:ext cx="2651760" cy="1143000"/>
          </a:xfrm>
          <a:prstGeom prst="roundRect">
            <a:avLst>
              <a:gd name="adj" fmla="val 6400"/>
            </a:avLst>
          </a:prstGeom>
          <a:solidFill>
            <a:schemeClr val="bg2"/>
          </a:solidFill>
          <a:ln w="12700">
            <a:solidFill>
              <a:schemeClr val="bg2"/>
            </a:solidFill>
            <a:prstDash val="solid"/>
          </a:ln>
        </p:spPr>
      </p:sp>
      <p:sp>
        <p:nvSpPr>
          <p:cNvPr id="4" name="RAG value"/>
          <p:cNvSpPr txBox="1"/>
          <p:nvPr/>
        </p:nvSpPr>
        <p:spPr>
          <a:xfrm>
            <a:off x="594360" y="1298448"/>
            <a:ext cx="2377440" cy="594360"/>
          </a:xfrm>
          <a:prstGeom prst="rect">
            <a:avLst/>
          </a:prstGeom>
          <a:noFill/>
          <a:ln/>
        </p:spPr>
        <p:txBody>
          <a:bodyPr wrap="square" lIns="0" tIns="0" rIns="0" bIns="0" rtlCol="0" anchor="ctr"/>
          <a:lstStyle/>
          <a:p>
            <a:pPr indent="0" marL="0">
              <a:buNone/>
            </a:pPr>
            <a:r>
              <a:rPr lang="en-US" sz="3200" b="1" dirty="0">
                <a:solidFill>
                  <a:schemeClr val="accent6"/>
                </a:solidFill>
              </a:rPr>
              <a:t>1.00</a:t>
            </a:r>
            <a:endParaRPr lang="en-US" sz="3200" dirty="0"/>
          </a:p>
        </p:txBody>
      </p:sp>
      <p:sp>
        <p:nvSpPr>
          <p:cNvPr id="5" name="RAG label"/>
          <p:cNvSpPr txBox="1"/>
          <p:nvPr/>
        </p:nvSpPr>
        <p:spPr>
          <a:xfrm>
            <a:off x="594360" y="1901952"/>
            <a:ext cx="2377440" cy="365760"/>
          </a:xfrm>
          <a:prstGeom prst="rect">
            <a:avLst/>
          </a:prstGeom>
          <a:noFill/>
          <a:ln/>
        </p:spPr>
        <p:txBody>
          <a:bodyPr wrap="square" lIns="0" tIns="0" rIns="0" bIns="0" rtlCol="0" anchor="ctr"/>
          <a:lstStyle/>
          <a:p>
            <a:pPr indent="0" marL="0">
              <a:buNone/>
            </a:pPr>
            <a:r>
              <a:rPr lang="en-US" sz="1200" dirty="0">
                <a:solidFill>
                  <a:schemeClr val="tx1"/>
                </a:solidFill>
              </a:rPr>
              <a:t>faithfulness with retrieval</a:t>
            </a:r>
            <a:endParaRPr lang="en-US" sz="1200" dirty="0"/>
          </a:p>
        </p:txBody>
      </p:sp>
      <p:sp>
        <p:nvSpPr>
          <p:cNvPr id="6" name="No RAG card"/>
          <p:cNvSpPr/>
          <p:nvPr/>
        </p:nvSpPr>
        <p:spPr>
          <a:xfrm>
            <a:off x="3291840" y="1188720"/>
            <a:ext cx="2651760" cy="1143000"/>
          </a:xfrm>
          <a:prstGeom prst="roundRect">
            <a:avLst>
              <a:gd name="adj" fmla="val 6400"/>
            </a:avLst>
          </a:prstGeom>
          <a:solidFill>
            <a:schemeClr val="bg2"/>
          </a:solidFill>
          <a:ln w="12700">
            <a:solidFill>
              <a:schemeClr val="bg2"/>
            </a:solidFill>
            <a:prstDash val="solid"/>
          </a:ln>
        </p:spPr>
      </p:sp>
      <p:sp>
        <p:nvSpPr>
          <p:cNvPr id="7" name="No RAG value"/>
          <p:cNvSpPr txBox="1"/>
          <p:nvPr/>
        </p:nvSpPr>
        <p:spPr>
          <a:xfrm>
            <a:off x="3429000" y="1298448"/>
            <a:ext cx="2377440" cy="594360"/>
          </a:xfrm>
          <a:prstGeom prst="rect">
            <a:avLst/>
          </a:prstGeom>
          <a:noFill/>
          <a:ln/>
        </p:spPr>
        <p:txBody>
          <a:bodyPr wrap="square" lIns="0" tIns="0" rIns="0" bIns="0" rtlCol="0" anchor="ctr"/>
          <a:lstStyle/>
          <a:p>
            <a:pPr indent="0" marL="0">
              <a:buNone/>
            </a:pPr>
            <a:r>
              <a:rPr lang="en-US" sz="3200" b="1" dirty="0">
                <a:solidFill>
                  <a:schemeClr val="accent2"/>
                </a:solidFill>
              </a:rPr>
              <a:t>0.57</a:t>
            </a:r>
            <a:endParaRPr lang="en-US" sz="3200" dirty="0"/>
          </a:p>
        </p:txBody>
      </p:sp>
      <p:sp>
        <p:nvSpPr>
          <p:cNvPr id="8" name="No RAG label"/>
          <p:cNvSpPr txBox="1"/>
          <p:nvPr/>
        </p:nvSpPr>
        <p:spPr>
          <a:xfrm>
            <a:off x="3429000" y="1901952"/>
            <a:ext cx="2377440" cy="365760"/>
          </a:xfrm>
          <a:prstGeom prst="rect">
            <a:avLst/>
          </a:prstGeom>
          <a:noFill/>
          <a:ln/>
        </p:spPr>
        <p:txBody>
          <a:bodyPr wrap="square" lIns="0" tIns="0" rIns="0" bIns="0" rtlCol="0" anchor="ctr"/>
          <a:lstStyle/>
          <a:p>
            <a:pPr indent="0" marL="0">
              <a:buNone/>
            </a:pPr>
            <a:r>
              <a:rPr lang="en-US" sz="1200" dirty="0">
                <a:solidFill>
                  <a:schemeClr val="tx1"/>
                </a:solidFill>
              </a:rPr>
              <a:t>faithfulness without retrieval</a:t>
            </a:r>
            <a:endParaRPr lang="en-US" sz="1200" dirty="0"/>
          </a:p>
        </p:txBody>
      </p:sp>
      <p:sp>
        <p:nvSpPr>
          <p:cNvPr id="9" name="Citations card"/>
          <p:cNvSpPr/>
          <p:nvPr/>
        </p:nvSpPr>
        <p:spPr>
          <a:xfrm>
            <a:off x="6126480" y="1188720"/>
            <a:ext cx="2560320" cy="1143000"/>
          </a:xfrm>
          <a:prstGeom prst="roundRect">
            <a:avLst>
              <a:gd name="adj" fmla="val 6400"/>
            </a:avLst>
          </a:prstGeom>
          <a:solidFill>
            <a:schemeClr val="bg2"/>
          </a:solidFill>
          <a:ln w="12700">
            <a:solidFill>
              <a:schemeClr val="bg2"/>
            </a:solidFill>
            <a:prstDash val="solid"/>
          </a:ln>
        </p:spPr>
      </p:sp>
      <p:sp>
        <p:nvSpPr>
          <p:cNvPr id="10" name="Citations value"/>
          <p:cNvSpPr txBox="1"/>
          <p:nvPr/>
        </p:nvSpPr>
        <p:spPr>
          <a:xfrm>
            <a:off x="6263640" y="1298448"/>
            <a:ext cx="2286000" cy="594360"/>
          </a:xfrm>
          <a:prstGeom prst="rect">
            <a:avLst/>
          </a:prstGeom>
          <a:noFill/>
          <a:ln/>
        </p:spPr>
        <p:txBody>
          <a:bodyPr wrap="square" lIns="0" tIns="0" rIns="0" bIns="0" rtlCol="0" anchor="ctr"/>
          <a:lstStyle/>
          <a:p>
            <a:pPr indent="0" marL="0">
              <a:buNone/>
            </a:pPr>
            <a:r>
              <a:rPr lang="en-US" sz="3200" b="1" dirty="0">
                <a:solidFill>
                  <a:schemeClr val="accent1"/>
                </a:solidFill>
              </a:rPr>
              <a:t>0</a:t>
            </a:r>
            <a:endParaRPr lang="en-US" sz="3200" dirty="0"/>
          </a:p>
        </p:txBody>
      </p:sp>
      <p:sp>
        <p:nvSpPr>
          <p:cNvPr id="11" name="Citations label"/>
          <p:cNvSpPr txBox="1"/>
          <p:nvPr/>
        </p:nvSpPr>
        <p:spPr>
          <a:xfrm>
            <a:off x="6263640" y="1901952"/>
            <a:ext cx="2286000" cy="365760"/>
          </a:xfrm>
          <a:prstGeom prst="rect">
            <a:avLst/>
          </a:prstGeom>
          <a:noFill/>
          <a:ln/>
        </p:spPr>
        <p:txBody>
          <a:bodyPr wrap="square" lIns="0" tIns="0" rIns="0" bIns="0" rtlCol="0" anchor="ctr"/>
          <a:lstStyle/>
          <a:p>
            <a:pPr indent="0" marL="0">
              <a:buNone/>
            </a:pPr>
            <a:r>
              <a:rPr lang="en-US" sz="1200" dirty="0">
                <a:solidFill>
                  <a:schemeClr val="tx1"/>
                </a:solidFill>
              </a:rPr>
              <a:t>invalid citations</a:t>
            </a:r>
            <a:endParaRPr lang="en-US" sz="1200" dirty="0"/>
          </a:p>
        </p:txBody>
      </p:sp>
      <p:sp>
        <p:nvSpPr>
          <p:cNvPr id="12" name="Text 10"/>
          <p:cNvSpPr txBox="1"/>
          <p:nvPr/>
        </p:nvSpPr>
        <p:spPr>
          <a:xfrm>
            <a:off x="457200" y="2606040"/>
            <a:ext cx="40233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Ask Citizen Voice: question → retrieve top reviews with BGE-M3 → LLM answers only from them and cites [R#].</a:t>
            </a:r>
            <a:endParaRPr lang="en-US" sz="1300" dirty="0"/>
          </a:p>
          <a:p>
            <a:pPr marL="342900" indent="-342900">
              <a:spcAft>
                <a:spcPts val="600"/>
              </a:spcAft>
              <a:buSzPct val="100000"/>
              <a:buChar char="•"/>
            </a:pPr>
            <a:r>
              <a:rPr lang="en-US" sz="1300" dirty="0">
                <a:solidFill>
                  <a:schemeClr val="tx1"/>
                </a:solidFill>
              </a:rPr>
              <a:t>A second LLM call checks every claim (LLM as a judge).</a:t>
            </a:r>
            <a:endParaRPr lang="en-US" sz="1300" dirty="0"/>
          </a:p>
        </p:txBody>
      </p:sp>
      <p:sp>
        <p:nvSpPr>
          <p:cNvPr id="13" name="Text 11"/>
          <p:cNvSpPr txBox="1"/>
          <p:nvPr/>
        </p:nvSpPr>
        <p:spPr>
          <a:xfrm>
            <a:off x="4754880" y="260604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Entity extraction: spaCy and CAMeLBERT found 0.64 entities per review, the LLM 0.27, but the LLM finds domain types like GOV_SERVICE and ERROR_MESSAGE.</a:t>
            </a:r>
            <a:endParaRPr lang="en-US" sz="1300" dirty="0"/>
          </a:p>
          <a:p>
            <a:pPr marL="342900" indent="-342900">
              <a:spcAft>
                <a:spcPts val="600"/>
              </a:spcAft>
              <a:buSzPct val="100000"/>
              <a:buChar char="•"/>
            </a:pPr>
            <a:r>
              <a:rPr lang="en-US" sz="1300" dirty="0">
                <a:solidFill>
                  <a:schemeClr val="tx1"/>
                </a:solidFill>
              </a:rPr>
              <a:t>Arabic questions work too, through the same index.</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The Citizen Voice app and dashboard</a:t>
            </a:r>
            <a:endParaRPr lang="en-US" sz="2600" dirty="0"/>
          </a:p>
        </p:txBody>
      </p:sp>
      <p:pic>
        <p:nvPicPr>
          <p:cNvPr id="3" name="Image 0" descr="Citizen Voice dashboard screenshot">    </p:cNvPr>
          <p:cNvPicPr>
            <a:picLocks noChangeAspect="1"/>
          </p:cNvPicPr>
          <p:nvPr/>
        </p:nvPicPr>
        <p:blipFill>
          <a:blip r:embed="rId1"/>
          <a:stretch>
            <a:fillRect/>
          </a:stretch>
        </p:blipFill>
        <p:spPr>
          <a:xfrm>
            <a:off x="457200" y="1005840"/>
            <a:ext cx="3429000" cy="3602736"/>
          </a:xfrm>
          <a:prstGeom prst="rect">
            <a:avLst/>
          </a:prstGeom>
        </p:spPr>
      </p:pic>
      <p:sp>
        <p:nvSpPr>
          <p:cNvPr id="4" name="Text 1"/>
          <p:cNvSpPr txBox="1"/>
          <p:nvPr/>
        </p:nvSpPr>
        <p:spPr>
          <a:xfrm>
            <a:off x="4206240" y="1097280"/>
            <a:ext cx="4480560" cy="3474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Streamlit app with tabs: Overview, Issues, Releases, Search, Ask, Triage and Reply, Analyze a review.</a:t>
            </a:r>
            <a:endParaRPr lang="en-US" sz="1400" dirty="0"/>
          </a:p>
          <a:p>
            <a:pPr marL="342900" indent="-342900">
              <a:spcAft>
                <a:spcPts val="600"/>
              </a:spcAft>
              <a:buSzPct val="100000"/>
              <a:buChar char="•"/>
            </a:pPr>
            <a:r>
              <a:rPr lang="en-US" sz="1400" dirty="0">
                <a:solidFill>
                  <a:schemeClr val="tx1"/>
                </a:solidFill>
              </a:rPr>
              <a:t>Search in English, get Arabic results too (for example "OTP code never arrives").</a:t>
            </a:r>
            <a:endParaRPr lang="en-US" sz="1400" dirty="0"/>
          </a:p>
          <a:p>
            <a:pPr marL="342900" indent="-342900">
              <a:spcAft>
                <a:spcPts val="600"/>
              </a:spcAft>
              <a:buSzPct val="100000"/>
              <a:buChar char="•"/>
            </a:pPr>
            <a:r>
              <a:rPr lang="en-US" sz="1400" dirty="0">
                <a:solidFill>
                  <a:schemeClr val="tx1"/>
                </a:solidFill>
              </a:rPr>
              <a:t>Drafts polite replies in both languages for the most urgent reviews.</a:t>
            </a:r>
            <a:endParaRPr lang="en-US" sz="1400" dirty="0"/>
          </a:p>
          <a:p>
            <a:pPr marL="342900" indent="-342900">
              <a:spcAft>
                <a:spcPts val="600"/>
              </a:spcAft>
              <a:buSzPct val="100000"/>
              <a:buChar char="•"/>
            </a:pPr>
            <a:r>
              <a:rPr lang="en-US" sz="1400" dirty="0">
                <a:solidFill>
                  <a:schemeClr val="tx1"/>
                </a:solidFill>
              </a:rPr>
              <a:t>A static HTML dashboard summarises every result for readers who do not run the code.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2"/>
                </a:solidFill>
              </a:rPr>
              <a:t>Limitations and next steps</a:t>
            </a:r>
            <a:endParaRPr lang="en-US" sz="2600" dirty="0"/>
          </a:p>
        </p:txBody>
      </p:sp>
      <p:sp>
        <p:nvSpPr>
          <p:cNvPr id="3" name="Limitations card"/>
          <p:cNvSpPr/>
          <p:nvPr/>
        </p:nvSpPr>
        <p:spPr>
          <a:xfrm>
            <a:off x="457200" y="1097280"/>
            <a:ext cx="4023360" cy="3383280"/>
          </a:xfrm>
          <a:prstGeom prst="roundRect">
            <a:avLst>
              <a:gd name="adj" fmla="val 2162"/>
            </a:avLst>
          </a:prstGeom>
          <a:solidFill>
            <a:schemeClr val="bg2"/>
          </a:solidFill>
          <a:ln w="12700">
            <a:solidFill>
              <a:schemeClr val="bg2"/>
            </a:solidFill>
            <a:prstDash val="solid"/>
          </a:ln>
        </p:spPr>
      </p:sp>
      <p:sp>
        <p:nvSpPr>
          <p:cNvPr id="4" name="Text 2"/>
          <p:cNvSpPr txBox="1"/>
          <p:nvPr/>
        </p:nvSpPr>
        <p:spPr>
          <a:xfrm>
            <a:off x="685800" y="1234440"/>
            <a:ext cx="3566160" cy="411480"/>
          </a:xfrm>
          <a:prstGeom prst="rect">
            <a:avLst/>
          </a:prstGeom>
          <a:noFill/>
          <a:ln/>
        </p:spPr>
        <p:txBody>
          <a:bodyPr wrap="square" lIns="0" tIns="0" rIns="0" bIns="0" rtlCol="0" anchor="ctr"/>
          <a:lstStyle/>
          <a:p>
            <a:pPr indent="0" marL="0">
              <a:buNone/>
            </a:pPr>
            <a:r>
              <a:rPr lang="en-US" sz="1700" b="1" dirty="0">
                <a:solidFill>
                  <a:schemeClr val="accent2"/>
                </a:solidFill>
              </a:rPr>
              <a:t>Limitations</a:t>
            </a:r>
            <a:endParaRPr lang="en-US" sz="1700" dirty="0"/>
          </a:p>
        </p:txBody>
      </p:sp>
      <p:sp>
        <p:nvSpPr>
          <p:cNvPr id="5" name="Text 3"/>
          <p:cNvSpPr txBox="1"/>
          <p:nvPr/>
        </p:nvSpPr>
        <p:spPr>
          <a:xfrm>
            <a:off x="685800" y="1737360"/>
            <a:ext cx="3566160" cy="2606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Star ratings are a weak label: some people write praise and give 1 star.</a:t>
            </a:r>
            <a:endParaRPr lang="en-US" sz="1300" dirty="0"/>
          </a:p>
          <a:p>
            <a:pPr marL="342900" indent="-342900">
              <a:spcAft>
                <a:spcPts val="600"/>
              </a:spcAft>
              <a:buSzPct val="100000"/>
              <a:buChar char="•"/>
            </a:pPr>
            <a:r>
              <a:rPr lang="en-US" sz="1300" dirty="0">
                <a:solidFill>
                  <a:schemeClr val="tx1"/>
                </a:solidFill>
              </a:rPr>
              <a:t>Reviews are very short (median 3 words).</a:t>
            </a:r>
            <a:endParaRPr lang="en-US" sz="1300" dirty="0"/>
          </a:p>
          <a:p>
            <a:pPr marL="342900" indent="-342900">
              <a:spcAft>
                <a:spcPts val="600"/>
              </a:spcAft>
              <a:buSzPct val="100000"/>
              <a:buChar char="•"/>
            </a:pPr>
            <a:r>
              <a:rPr lang="en-US" sz="1300" dirty="0">
                <a:solidFill>
                  <a:schemeClr val="tx1"/>
                </a:solidFill>
              </a:rPr>
              <a:t>Free LLM: about 50 requests a day, so prompting tests use 50 reviews.</a:t>
            </a:r>
            <a:endParaRPr lang="en-US" sz="1300" dirty="0"/>
          </a:p>
          <a:p>
            <a:pPr marL="342900" indent="-342900">
              <a:spcAft>
                <a:spcPts val="600"/>
              </a:spcAft>
              <a:buSzPct val="100000"/>
              <a:buChar char="•"/>
            </a:pPr>
            <a:r>
              <a:rPr lang="en-US" sz="1300" dirty="0">
                <a:solidFill>
                  <a:schemeClr val="tx1"/>
                </a:solidFill>
              </a:rPr>
              <a:t>The judge is an LLM, not a human.</a:t>
            </a:r>
            <a:endParaRPr lang="en-US" sz="1300" dirty="0"/>
          </a:p>
        </p:txBody>
      </p:sp>
      <p:sp>
        <p:nvSpPr>
          <p:cNvPr id="6" name="Next steps card"/>
          <p:cNvSpPr/>
          <p:nvPr/>
        </p:nvSpPr>
        <p:spPr>
          <a:xfrm>
            <a:off x="4663440" y="1097280"/>
            <a:ext cx="4023360" cy="3383280"/>
          </a:xfrm>
          <a:prstGeom prst="roundRect">
            <a:avLst>
              <a:gd name="adj" fmla="val 2162"/>
            </a:avLst>
          </a:prstGeom>
          <a:solidFill>
            <a:schemeClr val="bg2"/>
          </a:solidFill>
          <a:ln w="12700">
            <a:solidFill>
              <a:schemeClr val="bg2"/>
            </a:solidFill>
            <a:prstDash val="solid"/>
          </a:ln>
        </p:spPr>
      </p:sp>
      <p:sp>
        <p:nvSpPr>
          <p:cNvPr id="7" name="Text 5"/>
          <p:cNvSpPr txBox="1"/>
          <p:nvPr/>
        </p:nvSpPr>
        <p:spPr>
          <a:xfrm>
            <a:off x="4892040" y="1234440"/>
            <a:ext cx="3566160" cy="411480"/>
          </a:xfrm>
          <a:prstGeom prst="rect">
            <a:avLst/>
          </a:prstGeom>
          <a:noFill/>
          <a:ln/>
        </p:spPr>
        <p:txBody>
          <a:bodyPr wrap="square" lIns="0" tIns="0" rIns="0" bIns="0" rtlCol="0" anchor="ctr"/>
          <a:lstStyle/>
          <a:p>
            <a:pPr indent="0" marL="0">
              <a:buNone/>
            </a:pPr>
            <a:r>
              <a:rPr lang="en-US" sz="1700" b="1" dirty="0">
                <a:solidFill>
                  <a:schemeClr val="accent1"/>
                </a:solidFill>
              </a:rPr>
              <a:t>Next steps</a:t>
            </a:r>
            <a:endParaRPr lang="en-US" sz="1700" dirty="0"/>
          </a:p>
        </p:txBody>
      </p:sp>
      <p:sp>
        <p:nvSpPr>
          <p:cNvPr id="8" name="Text 6"/>
          <p:cNvSpPr txBox="1"/>
          <p:nvPr/>
        </p:nvSpPr>
        <p:spPr>
          <a:xfrm>
            <a:off x="4892040" y="1737360"/>
            <a:ext cx="3566160" cy="2606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Label a few hundred reviews by hand to check the models.</a:t>
            </a:r>
            <a:endParaRPr lang="en-US" sz="1300" dirty="0"/>
          </a:p>
          <a:p>
            <a:pPr marL="342900" indent="-342900">
              <a:spcAft>
                <a:spcPts val="600"/>
              </a:spcAft>
              <a:buSzPct val="100000"/>
              <a:buChar char="•"/>
            </a:pPr>
            <a:r>
              <a:rPr lang="en-US" sz="1300" dirty="0">
                <a:solidFill>
                  <a:schemeClr val="tx1"/>
                </a:solidFill>
              </a:rPr>
              <a:t>Run the collector daily and alert on new release regressions.</a:t>
            </a:r>
            <a:endParaRPr lang="en-US" sz="1300" dirty="0"/>
          </a:p>
          <a:p>
            <a:pPr marL="342900" indent="-342900">
              <a:spcAft>
                <a:spcPts val="600"/>
              </a:spcAft>
              <a:buSzPct val="100000"/>
              <a:buChar char="•"/>
            </a:pPr>
            <a:r>
              <a:rPr lang="en-US" sz="1300" dirty="0">
                <a:solidFill>
                  <a:schemeClr val="tx1"/>
                </a:solidFill>
              </a:rPr>
              <a:t>Add iOS App Store reviews.</a:t>
            </a:r>
            <a:endParaRPr lang="en-US" sz="1300" dirty="0"/>
          </a:p>
          <a:p>
            <a:pPr marL="342900" indent="-342900">
              <a:spcAft>
                <a:spcPts val="600"/>
              </a:spcAft>
              <a:buSzPct val="100000"/>
              <a:buChar char="•"/>
            </a:pPr>
            <a:r>
              <a:rPr lang="en-US" sz="1300" dirty="0">
                <a:solidFill>
                  <a:schemeClr val="tx1"/>
                </a:solidFill>
              </a:rPr>
              <a:t>Share the issue list with the app teams.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914400"/>
          </a:xfrm>
          <a:prstGeom prst="rect">
            <a:avLst/>
          </a:prstGeom>
          <a:noFill/>
          <a:ln/>
        </p:spPr>
        <p:txBody>
          <a:bodyPr wrap="square" lIns="0" tIns="0" rIns="0" bIns="0" rtlCol="0" anchor="b"/>
          <a:lstStyle/>
          <a:p>
            <a:pPr algn="l" indent="0" marL="0">
              <a:buNone/>
            </a:pPr>
            <a:r>
              <a:rPr lang="en-US" sz="4400" b="1" dirty="0">
                <a:solidFill>
                  <a:schemeClr val="tx2"/>
                </a:solidFill>
              </a:rPr>
              <a:t>Thank you</a:t>
            </a:r>
            <a:endParaRPr lang="en-US" sz="4400" dirty="0"/>
          </a:p>
        </p:txBody>
      </p:sp>
      <p:sp>
        <p:nvSpPr>
          <p:cNvPr id="3" name="Text 0"/>
          <p:cNvSpPr/>
          <p:nvPr>
            <p:ph idx="101" type="body" hasCustomPrompt="1"/>
          </p:nvPr>
        </p:nvSpPr>
        <p:spPr>
          <a:xfrm>
            <a:off x="640080" y="2423160"/>
            <a:ext cx="7863840" cy="731520"/>
          </a:xfrm>
          <a:prstGeom prst="rect">
            <a:avLst/>
          </a:prstGeom>
          <a:noFill/>
          <a:ln/>
        </p:spPr>
        <p:txBody>
          <a:bodyPr wrap="square" lIns="0" tIns="0" rIns="0" bIns="0" rtlCol="0" anchor="t"/>
          <a:lstStyle/>
          <a:p>
            <a:pPr algn="l" indent="0" marL="0">
              <a:buNone/>
            </a:pPr>
            <a:r>
              <a:rPr lang="en-US" sz="1800" dirty="0">
                <a:solidFill>
                  <a:schemeClr val="tx1"/>
                </a:solidFill>
              </a:rPr>
              <a:t>Questions are welcome</a:t>
            </a:r>
            <a:endParaRPr lang="en-US" sz="1800" dirty="0"/>
          </a:p>
        </p:txBody>
      </p:sp>
      <p:sp>
        <p:nvSpPr>
          <p:cNvPr id="4" name="Repository link"/>
          <p:cNvSpPr txBox="1"/>
          <p:nvPr/>
        </p:nvSpPr>
        <p:spPr>
          <a:xfrm>
            <a:off x="640080" y="3429000"/>
            <a:ext cx="7863840" cy="822960"/>
          </a:xfrm>
          <a:prstGeom prst="rect">
            <a:avLst/>
          </a:prstGeom>
          <a:noFill/>
          <a:ln/>
        </p:spPr>
        <p:txBody>
          <a:bodyPr wrap="square" lIns="0" tIns="0" rIns="0" bIns="0" rtlCol="0" anchor="ctr"/>
          <a:lstStyle/>
          <a:p>
            <a:pPr indent="0" marL="0">
              <a:buNone/>
            </a:pPr>
            <a:r>
              <a:rPr lang="en-US" sz="1200" b="1" dirty="0">
                <a:solidFill>
                  <a:schemeClr val="tx1"/>
                </a:solidFill>
              </a:rPr>
              <a:t>Code: </a:t>
            </a:r>
            <a:pPr indent="0" marL="0">
              <a:buNone/>
            </a:pPr>
            <a:r>
              <a:rPr lang="en-US" sz="1200" dirty="0">
                <a:solidFill>
                  <a:schemeClr val="tx1"/>
                </a:solidFill>
              </a:rPr>
              <a:t>github.com/youssef-hjr/Citizen-Voice-Bilingual-Review-Intelligence-for-UAE-Government-Apps</a:t>
            </a:r>
            <a:endParaRPr lang="en-US" sz="1200" dirty="0"/>
          </a:p>
          <a:p>
            <a:pPr indent="0" marL="0">
              <a:buNone/>
            </a:pPr>
            <a:r>
              <a:rPr lang="en-US" sz="1200" dirty="0">
                <a:solidFill>
                  <a:schemeClr val="tx1"/>
                </a:solidFill>
              </a:rPr>
              <a:t>Youssef Hajri, Student ID 1425158</a:t>
            </a:r>
            <a:endParaRPr lang="en-US" sz="1200" dirty="0"/>
          </a:p>
        </p:txBody>
      </p:sp>
    </p:spTree>
  </p:cSld>
  <p:clrMapOvr>
    <a:masterClrMapping/>
  </p:clrMapOvr>
</p:sld>
</file>

<file path=ppt/theme/theme1.xml><?xml version="1.0" encoding="utf-8"?>
<a:theme xmlns:a="http://schemas.openxmlformats.org/drawingml/2006/main" name="Citizen Voice">
  <a:themeElements>
    <a:clrScheme name="Citizen Voice">
      <a:dk1>
        <a:srgbClr val="1F2937"/>
      </a:dk1>
      <a:lt1>
        <a:srgbClr val="FFFFFF"/>
      </a:lt1>
      <a:dk2>
        <a:srgbClr val="0F5257"/>
      </a:dk2>
      <a:lt2>
        <a:srgbClr val="F3F4F6"/>
      </a:lt2>
      <a:accent1>
        <a:srgbClr val="0F5257"/>
      </a:accent1>
      <a:accent2>
        <a:srgbClr val="C2410C"/>
      </a:accent2>
      <a:accent3>
        <a:srgbClr val="6B7280"/>
      </a:accent3>
      <a:accent4>
        <a:srgbClr val="9CA3AF"/>
      </a:accent4>
      <a:accent5>
        <a:srgbClr val="D1D5DB"/>
      </a:accent5>
      <a:accent6>
        <a:srgbClr val="15803D"/>
      </a:accent6>
      <a:hlink>
        <a:srgbClr val="0F5257"/>
      </a:hlink>
      <a:folHlink>
        <a:srgbClr val="6B7280"/>
      </a:folHlink>
    </a:clrScheme>
    <a:fontScheme name="Citizen Vo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Citizen Voice</dc:title>
  <dc:subject>MAAI902 NLP Solution Design</dc:subject>
  <dc:creator>Youssef Hajri</dc:creator>
  <cp:lastModifiedBy>Youssef Hajri</cp:lastModifiedBy>
  <cp:revision>1</cp:revision>
  <dcterms:created xsi:type="dcterms:W3CDTF">2026-10-25T20:01:20Z</dcterms:created>
  <dcterms:modified xsi:type="dcterms:W3CDTF">2026-10-25T20:01:20Z</dcterms:modified>
</cp:coreProperties>
</file>