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6a35e6-6b84-2e59-b94c-6c97a8be94fa}">
          <p14:sldIdLst>
            <p14:sldId id="256"/>
            <p14:sldId id="257"/>
          </p14:sldIdLst>
        </p14:section>
        <p14:section name="The problem" id="{139cdf6d-0bba-1fdd-5864-4a1c633bd19a}">
          <p14:sldIdLst>
            <p14:sldId id="258"/>
            <p14:sldId id="259"/>
            <p14:sldId id="260"/>
          </p14:sldIdLst>
        </p14:section>
        <p14:section name="Data and preprocessing" id="{b0080573-699c-0fd5-08ca-3f1584f527fa}">
          <p14:sldIdLst>
            <p14:sldId id="261"/>
            <p14:sldId id="262"/>
            <p14:sldId id="263"/>
            <p14:sldId id="264"/>
            <p14:sldId id="265"/>
            <p14:sldId id="266"/>
            <p14:sldId id="267"/>
          </p14:sldIdLst>
        </p14:section>
        <p14:section name="Models" id="{b2640a43-f33b-92e6-d11a-cbb3da99990b}">
          <p14:sldIdLst>
            <p14:sldId id="268"/>
            <p14:sldId id="269"/>
            <p14:sldId id="270"/>
            <p14:sldId id="271"/>
            <p14:sldId id="272"/>
            <p14:sldId id="273"/>
            <p14:sldId id="274"/>
          </p14:sldIdLst>
        </p14:section>
        <p14:section name="Findings" id="{aa92ffdc-8315-70d1-dd6d-c3e2a8c39fd5}">
          <p14:sldIdLst>
            <p14:sldId id="275"/>
            <p14:sldId id="276"/>
            <p14:sldId id="277"/>
          </p14:sldIdLst>
        </p14:section>
        <p14:section name="LLMs" id="{016896eb-6800-bc80-e905-feb64d00319b}">
          <p14:sldIdLst>
            <p14:sldId id="278"/>
            <p14:sldId id="279"/>
            <p14:sldId id="280"/>
          </p14:sldIdLst>
        </p14:section>
        <p14:section name="Demo and conclusion" id="{716b47dc-9079-4629-1774-27e43af4f73d}">
          <p14:sldIdLst>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English</c:v>
                </c:pt>
              </c:strCache>
            </c:strRef>
          </c:tx>
          <c:spPr>
            <a:solidFill>
              <a:srgbClr val="0F5257"/>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Raw tokens</c:v>
                  </c:pt>
                  <c:pt idx="1">
                    <c:v>No stop words</c:v>
                  </c:pt>
                  <c:pt idx="2">
                    <c:v>Stemmed</c:v>
                  </c:pt>
                  <c:pt idx="3">
                    <c:v>Lemmatised</c:v>
                  </c:pt>
                </c:lvl>
              </c:multiLvlStrCache>
            </c:multiLvlStrRef>
          </c:cat>
          <c:val>
            <c:numRef>
              <c:f>Sheet1!$B$2:$B$5</c:f>
              <c:numCache>
                <c:formatCode>General</c:formatCode>
                <c:ptCount val="4"/>
                <c:pt idx="0">
                  <c:v>3436</c:v>
                </c:pt>
                <c:pt idx="1">
                  <c:v>3294</c:v>
                </c:pt>
                <c:pt idx="2">
                  <c:v>2529</c:v>
                </c:pt>
                <c:pt idx="3">
                  <c:v>2688</c:v>
                </c:pt>
              </c:numCache>
            </c:numRef>
          </c:val>
        </c:ser>
        <c:ser>
          <c:idx val="1"/>
          <c:order val="1"/>
          <c:tx>
            <c:strRef>
              <c:f>Sheet1!$C$1</c:f>
              <c:strCache>
                <c:ptCount val="1"/>
                <c:pt idx="0">
                  <c:v>Arabic</c:v>
                </c:pt>
              </c:strCache>
            </c:strRef>
          </c:tx>
          <c:spPr>
            <a:solidFill>
              <a:srgbClr val="C2410C"/>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Raw tokens</c:v>
                  </c:pt>
                  <c:pt idx="1">
                    <c:v>No stop words</c:v>
                  </c:pt>
                  <c:pt idx="2">
                    <c:v>Stemmed</c:v>
                  </c:pt>
                  <c:pt idx="3">
                    <c:v>Lemmatised</c:v>
                  </c:pt>
                </c:lvl>
              </c:multiLvlStrCache>
            </c:multiLvlStrRef>
          </c:cat>
          <c:val>
            <c:numRef>
              <c:f>Sheet1!$C$2:$C$5</c:f>
              <c:numCache>
                <c:formatCode>General</c:formatCode>
                <c:ptCount val="4"/>
                <c:pt idx="0">
                  <c:v>3271</c:v>
                </c:pt>
                <c:pt idx="1">
                  <c:v>3106</c:v>
                </c:pt>
                <c:pt idx="2">
                  <c:v>1456</c:v>
                </c:pt>
                <c:pt idx="3">
                  <c:v>2644</c:v>
                </c:pt>
              </c:numCache>
            </c:numRef>
          </c:val>
        </c:ser>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 (sentiment)</c:v>
                </c:pt>
              </c:strCache>
            </c:strRef>
          </c:tx>
          <c:spPr>
            <a:solidFill>
              <a:srgbClr val="9CA3AF"/>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BoW</c:v>
                  </c:pt>
                  <c:pt idx="1">
                    <c:v>TF-IDF</c:v>
                  </c:pt>
                  <c:pt idx="2">
                    <c:v>Word2Vec</c:v>
                  </c:pt>
                  <c:pt idx="3">
                    <c:v>BGE-M3</c:v>
                  </c:pt>
                </c:lvl>
              </c:multiLvlStrCache>
            </c:multiLvlStrRef>
          </c:cat>
          <c:val>
            <c:numRef>
              <c:f>Sheet1!$B$2:$B$5</c:f>
              <c:numCache>
                <c:formatCode>General</c:formatCode>
                <c:ptCount val="4"/>
                <c:pt idx="0">
                  <c:v>0.611</c:v>
                </c:pt>
                <c:pt idx="1">
                  <c:v>0.6</c:v>
                </c:pt>
                <c:pt idx="2">
                  <c:v>0.584</c:v>
                </c:pt>
                <c:pt idx="3">
                  <c:v>0.633</c:v>
                </c:pt>
              </c:numCache>
            </c:numRef>
          </c:val>
        </c:ser>
        <c:ser>
          <c:idx val="1"/>
          <c:order val="1"/>
          <c:tx>
            <c:strRef>
              <c:f>Sheet1!$C$1</c:f>
              <c:strCache>
                <c:ptCount val="1"/>
                <c:pt idx="0">
                  <c:v>Precision@5 (search)</c:v>
                </c:pt>
              </c:strCache>
            </c:strRef>
          </c:tx>
          <c:spPr>
            <a:solidFill>
              <a:srgbClr val="0F5257"/>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BoW</c:v>
                  </c:pt>
                  <c:pt idx="1">
                    <c:v>TF-IDF</c:v>
                  </c:pt>
                  <c:pt idx="2">
                    <c:v>Word2Vec</c:v>
                  </c:pt>
                  <c:pt idx="3">
                    <c:v>BGE-M3</c:v>
                  </c:pt>
                </c:lvl>
              </c:multiLvlStrCache>
            </c:multiLvlStrRef>
          </c:cat>
          <c:val>
            <c:numRef>
              <c:f>Sheet1!$C$2:$C$5</c:f>
              <c:numCache>
                <c:formatCode>General</c:formatCode>
                <c:ptCount val="4"/>
                <c:pt idx="0">
                  <c:v>0.771</c:v>
                </c:pt>
                <c:pt idx="1">
                  <c:v>0.787</c:v>
                </c:pt>
                <c:pt idx="2">
                  <c:v>0.792</c:v>
                </c:pt>
                <c:pt idx="3">
                  <c:v>0.866</c:v>
                </c:pt>
              </c:numCache>
            </c:numRef>
          </c:val>
        </c:ser>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9CA3AF"/>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LR</c:v>
                  </c:pt>
                  <c:pt idx="1">
                    <c:v>RoBERTa / CAMeLBERT</c:v>
                  </c:pt>
                  <c:pt idx="2">
                    <c:v>XLM-R</c:v>
                  </c:pt>
                  <c:pt idx="3">
                    <c:v>XLM-R + LoRA</c:v>
                  </c:pt>
                </c:lvl>
              </c:multiLvlStrCache>
            </c:multiLvlStrRef>
          </c:cat>
          <c:val>
            <c:numRef>
              <c:f>Sheet1!$B$2:$B$5</c:f>
              <c:numCache>
                <c:formatCode>General</c:formatCode>
                <c:ptCount val="4"/>
                <c:pt idx="0">
                  <c:v>0.829</c:v>
                </c:pt>
                <c:pt idx="1">
                  <c:v>0.843</c:v>
                </c:pt>
                <c:pt idx="2">
                  <c:v>0.857</c:v>
                </c:pt>
                <c:pt idx="3">
                  <c:v>0.899</c:v>
                </c:pt>
              </c:numCache>
            </c:numRef>
          </c:val>
        </c:ser>
        <c:ser>
          <c:idx val="1"/>
          <c:order val="1"/>
          <c:tx>
            <c:strRef>
              <c:f>Sheet1!$C$1</c:f>
              <c:strCache>
                <c:ptCount val="1"/>
                <c:pt idx="0">
                  <c:v>Macro-F1</c:v>
                </c:pt>
              </c:strCache>
            </c:strRef>
          </c:tx>
          <c:spPr>
            <a:solidFill>
              <a:srgbClr val="0F5257"/>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LR</c:v>
                  </c:pt>
                  <c:pt idx="1">
                    <c:v>RoBERTa / CAMeLBERT</c:v>
                  </c:pt>
                  <c:pt idx="2">
                    <c:v>XLM-R</c:v>
                  </c:pt>
                  <c:pt idx="3">
                    <c:v>XLM-R + LoRA</c:v>
                  </c:pt>
                </c:lvl>
              </c:multiLvlStrCache>
            </c:multiLvlStrRef>
          </c:cat>
          <c:val>
            <c:numRef>
              <c:f>Sheet1!$C$2:$C$5</c:f>
              <c:numCache>
                <c:formatCode>General</c:formatCode>
                <c:ptCount val="4"/>
                <c:pt idx="0">
                  <c:v>0.6</c:v>
                </c:pt>
                <c:pt idx="1">
                  <c:v>0.639</c:v>
                </c:pt>
                <c:pt idx="2">
                  <c:v>0.643</c:v>
                </c:pt>
                <c:pt idx="3">
                  <c:v>0.615</c:v>
                </c:pt>
              </c:numCache>
            </c:numRef>
          </c:val>
        </c:ser>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Anger</c:v>
                </c:pt>
              </c:strCache>
            </c:strRef>
          </c:tx>
          <c:spPr>
            <a:solidFill>
              <a:srgbClr val="B91C1C"/>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Sheet1!$B$2:$B$6</c:f>
              <c:numCache>
                <c:formatCode>General</c:formatCode>
                <c:ptCount val="5"/>
                <c:pt idx="0">
                  <c:v>0.05</c:v>
                </c:pt>
                <c:pt idx="1">
                  <c:v>0.03</c:v>
                </c:pt>
                <c:pt idx="2">
                  <c:v>0.01</c:v>
                </c:pt>
                <c:pt idx="3">
                  <c:v>0</c:v>
                </c:pt>
                <c:pt idx="4">
                  <c:v>0</c:v>
                </c:pt>
              </c:numCache>
            </c:numRef>
          </c:val>
        </c:ser>
        <c:ser>
          <c:idx val="1"/>
          <c:order val="1"/>
          <c:tx>
            <c:strRef>
              <c:f>Sheet1!$C$1</c:f>
              <c:strCache>
                <c:ptCount val="1"/>
                <c:pt idx="0">
                  <c:v>Disgust</c:v>
                </c:pt>
              </c:strCache>
            </c:strRef>
          </c:tx>
          <c:spPr>
            <a:solidFill>
              <a:srgbClr val="92400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Sheet1!$C$2:$C$6</c:f>
              <c:numCache>
                <c:formatCode>General</c:formatCode>
                <c:ptCount val="5"/>
                <c:pt idx="0">
                  <c:v>0.11</c:v>
                </c:pt>
                <c:pt idx="1">
                  <c:v>0.02</c:v>
                </c:pt>
                <c:pt idx="2">
                  <c:v>0.02</c:v>
                </c:pt>
                <c:pt idx="3">
                  <c:v>0</c:v>
                </c:pt>
                <c:pt idx="4">
                  <c:v>0.01</c:v>
                </c:pt>
              </c:numCache>
            </c:numRef>
          </c:val>
        </c:ser>
        <c:ser>
          <c:idx val="2"/>
          <c:order val="2"/>
          <c:tx>
            <c:strRef>
              <c:f>Sheet1!$D$1</c:f>
              <c:strCache>
                <c:ptCount val="1"/>
                <c:pt idx="0">
                  <c:v>Fear</c:v>
                </c:pt>
              </c:strCache>
            </c:strRef>
          </c:tx>
          <c:spPr>
            <a:solidFill>
              <a:srgbClr val="7C3AED"/>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Sheet1!$D$2:$D$6</c:f>
              <c:numCache>
                <c:formatCode>General</c:formatCode>
                <c:ptCount val="5"/>
                <c:pt idx="0">
                  <c:v>0.01</c:v>
                </c:pt>
                <c:pt idx="1">
                  <c:v>0.01</c:v>
                </c:pt>
                <c:pt idx="2">
                  <c:v>0.01</c:v>
                </c:pt>
                <c:pt idx="3">
                  <c:v>0</c:v>
                </c:pt>
                <c:pt idx="4">
                  <c:v>0</c:v>
                </c:pt>
              </c:numCache>
            </c:numRef>
          </c:val>
        </c:ser>
        <c:ser>
          <c:idx val="3"/>
          <c:order val="3"/>
          <c:tx>
            <c:strRef>
              <c:f>Sheet1!$E$1</c:f>
              <c:strCache>
                <c:ptCount val="1"/>
                <c:pt idx="0">
                  <c:v>Joy</c:v>
                </c:pt>
              </c:strCache>
            </c:strRef>
          </c:tx>
          <c:spPr>
            <a:solidFill>
              <a:srgbClr val="15803D"/>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Sheet1!$E$2:$E$6</c:f>
              <c:numCache>
                <c:formatCode>General</c:formatCode>
                <c:ptCount val="5"/>
                <c:pt idx="0">
                  <c:v>0.02</c:v>
                </c:pt>
                <c:pt idx="1">
                  <c:v>0.02</c:v>
                </c:pt>
                <c:pt idx="2">
                  <c:v>0.09</c:v>
                </c:pt>
                <c:pt idx="3">
                  <c:v>0.28</c:v>
                </c:pt>
                <c:pt idx="4">
                  <c:v>0.47</c:v>
                </c:pt>
              </c:numCache>
            </c:numRef>
          </c:val>
        </c:ser>
        <c:ser>
          <c:idx val="4"/>
          <c:order val="4"/>
          <c:tx>
            <c:strRef>
              <c:f>Sheet1!$F$1</c:f>
              <c:strCache>
                <c:ptCount val="1"/>
                <c:pt idx="0">
                  <c:v>Neutral</c:v>
                </c:pt>
              </c:strCache>
            </c:strRef>
          </c:tx>
          <c:spPr>
            <a:solidFill>
              <a:srgbClr val="D1D5D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Sheet1!$F$2:$F$6</c:f>
              <c:numCache>
                <c:formatCode>General</c:formatCode>
                <c:ptCount val="5"/>
                <c:pt idx="0">
                  <c:v>0.3</c:v>
                </c:pt>
                <c:pt idx="1">
                  <c:v>0.37</c:v>
                </c:pt>
                <c:pt idx="2">
                  <c:v>0.49</c:v>
                </c:pt>
                <c:pt idx="3">
                  <c:v>0.48</c:v>
                </c:pt>
                <c:pt idx="4">
                  <c:v>0.44</c:v>
                </c:pt>
              </c:numCache>
            </c:numRef>
          </c:val>
        </c:ser>
        <c:ser>
          <c:idx val="5"/>
          <c:order val="5"/>
          <c:tx>
            <c:strRef>
              <c:f>Sheet1!$G$1</c:f>
              <c:strCache>
                <c:ptCount val="1"/>
                <c:pt idx="0">
                  <c:v>Sadness</c:v>
                </c:pt>
              </c:strCache>
            </c:strRef>
          </c:tx>
          <c:spPr>
            <a:solidFill>
              <a:srgbClr val="0F5257"/>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Sheet1!$G$2:$G$6</c:f>
              <c:numCache>
                <c:formatCode>General</c:formatCode>
                <c:ptCount val="5"/>
                <c:pt idx="0">
                  <c:v>0.46</c:v>
                </c:pt>
                <c:pt idx="1">
                  <c:v>0.5</c:v>
                </c:pt>
                <c:pt idx="2">
                  <c:v>0.3</c:v>
                </c:pt>
                <c:pt idx="3">
                  <c:v>0.2</c:v>
                </c:pt>
                <c:pt idx="4">
                  <c:v>0.05</c:v>
                </c:pt>
              </c:numCache>
            </c:numRef>
          </c:val>
        </c:ser>
        <c:ser>
          <c:idx val="6"/>
          <c:order val="6"/>
          <c:tx>
            <c:strRef>
              <c:f>Sheet1!$H$1</c:f>
              <c:strCache>
                <c:ptCount val="1"/>
                <c:pt idx="0">
                  <c:v>Surprise</c:v>
                </c:pt>
              </c:strCache>
            </c:strRef>
          </c:tx>
          <c:spPr>
            <a:solidFill>
              <a:srgbClr val="CA8A0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Sheet1!$H$2:$H$6</c:f>
              <c:numCache>
                <c:formatCode>General</c:formatCode>
                <c:ptCount val="5"/>
                <c:pt idx="0">
                  <c:v>0.06</c:v>
                </c:pt>
                <c:pt idx="1">
                  <c:v>0.05</c:v>
                </c:pt>
                <c:pt idx="2">
                  <c:v>0.07</c:v>
                </c:pt>
                <c:pt idx="3">
                  <c:v>0.03</c:v>
                </c:pt>
                <c:pt idx="4">
                  <c:v>0.02</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Complaints</c:v>
                </c:pt>
              </c:strCache>
            </c:strRef>
          </c:tx>
          <c:spPr>
            <a:solidFill>
              <a:srgbClr val="0F5257"/>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Sheet1!$A$2:$A$9</c:f>
              <c:multiLvlStrCache>
                <c:ptCount val="8"/>
                <c:lvl>
                  <c:pt idx="0">
                    <c:v>App not working</c:v>
                  </c:pt>
                  <c:pt idx="1">
                    <c:v>App crash on update</c:v>
                  </c:pt>
                  <c:pt idx="2">
                    <c:v>Update malfunction</c:v>
                  </c:pt>
                  <c:pt idx="3">
                    <c:v>App launch failure</c:v>
                  </c:pt>
                  <c:pt idx="4">
                    <c:v>Login problem</c:v>
                  </c:pt>
                  <c:pt idx="5">
                    <c:v>Payment failure</c:v>
                  </c:pt>
                  <c:pt idx="6">
                    <c:v>Poor customer service</c:v>
                  </c:pt>
                  <c:pt idx="7">
                    <c:v>Parking payment issue</c:v>
                  </c:pt>
                </c:lvl>
              </c:multiLvlStrCache>
            </c:multiLvlStrRef>
          </c:cat>
          <c:val>
            <c:numRef>
              <c:f>Sheet1!$B$2:$B$9</c:f>
              <c:numCache>
                <c:formatCode>General</c:formatCode>
                <c:ptCount val="8"/>
                <c:pt idx="0">
                  <c:v>124</c:v>
                </c:pt>
                <c:pt idx="1">
                  <c:v>127</c:v>
                </c:pt>
                <c:pt idx="2">
                  <c:v>144</c:v>
                </c:pt>
                <c:pt idx="3">
                  <c:v>160</c:v>
                </c:pt>
                <c:pt idx="4">
                  <c:v>161</c:v>
                </c:pt>
                <c:pt idx="5">
                  <c:v>172</c:v>
                </c:pt>
                <c:pt idx="6">
                  <c:v>184</c:v>
                </c:pt>
                <c:pt idx="7">
                  <c:v>200</c:v>
                </c:pt>
              </c:numCache>
            </c:numRef>
          </c:val>
        </c:ser>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c:v>
                </c:pt>
              </c:strCache>
            </c:strRef>
          </c:tx>
          <c:spPr>
            <a:solidFill>
              <a:srgbClr val="0F5257"/>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Zero-shot</c:v>
                  </c:pt>
                  <c:pt idx="1">
                    <c:v>Role + definitions</c:v>
                  </c:pt>
                  <c:pt idx="2">
                    <c:v>Few-shot</c:v>
                  </c:pt>
                  <c:pt idx="3">
                    <c:v>XLM-R + LoRA</c:v>
                  </c:pt>
                </c:lvl>
              </c:multiLvlStrCache>
            </c:multiLvlStrRef>
          </c:cat>
          <c:val>
            <c:numRef>
              <c:f>Sheet1!$B$2:$B$5</c:f>
              <c:numCache>
                <c:formatCode>General</c:formatCode>
                <c:ptCount val="4"/>
                <c:pt idx="0">
                  <c:v>0.569</c:v>
                </c:pt>
                <c:pt idx="1">
                  <c:v>0.594</c:v>
                </c:pt>
                <c:pt idx="2">
                  <c:v>0.655</c:v>
                </c:pt>
                <c:pt idx="3">
                  <c:v>0.545</c:v>
                </c:pt>
              </c:numCache>
            </c:numRef>
          </c:val>
        </c:ser>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651760"/>
            <a:ext cx="9052560" cy="914400"/>
          </a:xfrm>
          <a:prstGeom prst="rect">
            <a:avLst/>
          </a:prstGeom>
          <a:noFill/>
          <a:ln/>
        </p:spPr>
        <p:txBody>
          <a:bodyPr wrap="square" rtlCol="0"/>
          <a:lstStyle>
            <a:lvl1pPr algn="l" indent="0" marL="0">
              <a:buNone/>
              <a:defRPr lang="en-US" sz="4000" b="1" dirty="0">
                <a:solidFill>
                  <a:schemeClr val="accent1"/>
                </a:solidFill>
              </a:defRPr>
            </a:lvl1pPr>
          </a:lstStyle>
          <a:p>
            <a:pPr algn="l" indent="0" marL="0">
              <a:buNone/>
            </a:pPr>
            <a:endParaRPr lang="en-US" sz="4000" dirty="0"/>
          </a:p>
        </p:txBody>
      </p:sp>
      <p:sp>
        <p:nvSpPr>
          <p:cNvPr id="3" name="Text 0"/>
          <p:cNvSpPr/>
          <p:nvPr>
            <p:ph idx="101" type="body" hasCustomPrompt="1"/>
          </p:nvPr>
        </p:nvSpPr>
        <p:spPr>
          <a:xfrm>
            <a:off x="2377440" y="3566160"/>
            <a:ext cx="9052560" cy="73152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Youssef Hajri  |  MAAI902 Citizen Voice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Citizen Voice</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algn="l" indent="0" marL="0">
              <a:buNone/>
            </a:pPr>
            <a:r>
              <a:rPr lang="en-US" sz="2200" dirty="0">
                <a:solidFill>
                  <a:schemeClr val="accent5"/>
                </a:solidFill>
              </a:rPr>
              <a:t>Bilingual review intelligence for UAE government apps</a:t>
            </a:r>
            <a:endParaRPr lang="en-US" sz="2200" dirty="0"/>
          </a:p>
        </p:txBody>
      </p:sp>
      <p:sp>
        <p:nvSpPr>
          <p:cNvPr id="4" name="Author"/>
          <p:cNvSpPr txBox="1"/>
          <p:nvPr/>
        </p:nvSpPr>
        <p:spPr>
          <a:xfrm>
            <a:off x="731520" y="4846320"/>
            <a:ext cx="10698480" cy="1097280"/>
          </a:xfrm>
          <a:prstGeom prst="rect">
            <a:avLst/>
          </a:prstGeom>
          <a:noFill/>
          <a:ln/>
        </p:spPr>
        <p:txBody>
          <a:bodyPr wrap="square" lIns="0" tIns="0" rIns="0" bIns="0" rtlCol="0" anchor="ctr"/>
          <a:lstStyle/>
          <a:p>
            <a:pPr indent="0" marL="0">
              <a:buNone/>
            </a:pPr>
            <a:r>
              <a:rPr lang="en-US" sz="1600" b="1" dirty="0">
                <a:solidFill>
                  <a:schemeClr val="bg1"/>
                </a:solidFill>
              </a:rPr>
              <a:t>Youssef Hajri</a:t>
            </a:r>
            <a:endParaRPr lang="en-US" sz="1600" dirty="0"/>
          </a:p>
          <a:p>
            <a:pPr indent="0" marL="0">
              <a:buNone/>
            </a:pPr>
            <a:r>
              <a:rPr lang="en-US" sz="1600" dirty="0">
                <a:solidFill>
                  <a:schemeClr val="bg1"/>
                </a:solidFill>
              </a:rPr>
              <a:t>Student ID 1425158</a:t>
            </a:r>
            <a:endParaRPr lang="en-US" sz="1600" dirty="0"/>
          </a:p>
          <a:p>
            <a:pPr indent="0" marL="0">
              <a:buNone/>
            </a:pPr>
            <a:r>
              <a:rPr lang="en-US" sz="1600" dirty="0">
                <a:solidFill>
                  <a:schemeClr val="bg1"/>
                </a:solidFill>
              </a:rPr>
              <a:t>MAAI902 Natural Language Processing and LLMs  |  University of Wollongong in Dubai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What I will cover</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AGENDA</a:t>
            </a:r>
            <a:endParaRPr lang="en-US" sz="1200" dirty="0"/>
          </a:p>
        </p:txBody>
      </p:sp>
      <p:sp>
        <p:nvSpPr>
          <p:cNvPr id="4" name="Agenda 01"/>
          <p:cNvSpPr/>
          <p:nvPr/>
        </p:nvSpPr>
        <p:spPr>
          <a:xfrm>
            <a:off x="548640" y="1600200"/>
            <a:ext cx="3520440" cy="1965960"/>
          </a:xfrm>
          <a:prstGeom prst="roundRect">
            <a:avLst>
              <a:gd name="adj" fmla="val 4651"/>
            </a:avLst>
          </a:prstGeom>
          <a:solidFill>
            <a:schemeClr val="bg2"/>
          </a:solidFill>
          <a:ln w="12700">
            <a:solidFill>
              <a:schemeClr val="bg2"/>
            </a:solidFill>
            <a:prstDash val="solid"/>
          </a:ln>
        </p:spPr>
      </p:sp>
      <p:sp>
        <p:nvSpPr>
          <p:cNvPr id="5" name="Text 3"/>
          <p:cNvSpPr txBox="1"/>
          <p:nvPr/>
        </p:nvSpPr>
        <p:spPr>
          <a:xfrm>
            <a:off x="822960" y="178308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01</a:t>
            </a:r>
            <a:endParaRPr lang="en-US" sz="2800" dirty="0"/>
          </a:p>
        </p:txBody>
      </p:sp>
      <p:sp>
        <p:nvSpPr>
          <p:cNvPr id="6" name="Text 4"/>
          <p:cNvSpPr txBox="1"/>
          <p:nvPr/>
        </p:nvSpPr>
        <p:spPr>
          <a:xfrm>
            <a:off x="822960" y="237744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The problem</a:t>
            </a:r>
            <a:endParaRPr lang="en-US" sz="1900" dirty="0"/>
          </a:p>
        </p:txBody>
      </p:sp>
      <p:sp>
        <p:nvSpPr>
          <p:cNvPr id="7" name="Text 5"/>
          <p:cNvSpPr txBox="1"/>
          <p:nvPr/>
        </p:nvSpPr>
        <p:spPr>
          <a:xfrm>
            <a:off x="822960" y="2834640"/>
            <a:ext cx="2971800" cy="594360"/>
          </a:xfrm>
          <a:prstGeom prst="rect">
            <a:avLst/>
          </a:prstGeom>
          <a:noFill/>
          <a:ln/>
        </p:spPr>
        <p:txBody>
          <a:bodyPr wrap="square" lIns="0" tIns="0" rIns="0" bIns="0" rtlCol="0" anchor="ctr"/>
          <a:lstStyle/>
          <a:p>
            <a:pPr indent="0" marL="0">
              <a:buNone/>
            </a:pPr>
            <a:r>
              <a:rPr lang="en-US" sz="1400" dirty="0">
                <a:solidFill>
                  <a:schemeClr val="tx1"/>
                </a:solidFill>
              </a:rPr>
              <a:t>Why app reviews matter and what is hard</a:t>
            </a:r>
            <a:endParaRPr lang="en-US" sz="1400" dirty="0"/>
          </a:p>
        </p:txBody>
      </p:sp>
      <p:sp>
        <p:nvSpPr>
          <p:cNvPr id="8" name="Agenda 02"/>
          <p:cNvSpPr/>
          <p:nvPr/>
        </p:nvSpPr>
        <p:spPr>
          <a:xfrm>
            <a:off x="4325112" y="1600200"/>
            <a:ext cx="3520440" cy="1965960"/>
          </a:xfrm>
          <a:prstGeom prst="roundRect">
            <a:avLst>
              <a:gd name="adj" fmla="val 4651"/>
            </a:avLst>
          </a:prstGeom>
          <a:solidFill>
            <a:schemeClr val="bg2"/>
          </a:solidFill>
          <a:ln w="12700">
            <a:solidFill>
              <a:schemeClr val="bg2"/>
            </a:solidFill>
            <a:prstDash val="solid"/>
          </a:ln>
        </p:spPr>
      </p:sp>
      <p:sp>
        <p:nvSpPr>
          <p:cNvPr id="9" name="Text 7"/>
          <p:cNvSpPr txBox="1"/>
          <p:nvPr/>
        </p:nvSpPr>
        <p:spPr>
          <a:xfrm>
            <a:off x="4599432" y="178308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02</a:t>
            </a:r>
            <a:endParaRPr lang="en-US" sz="2800" dirty="0"/>
          </a:p>
        </p:txBody>
      </p:sp>
      <p:sp>
        <p:nvSpPr>
          <p:cNvPr id="10" name="Text 8"/>
          <p:cNvSpPr txBox="1"/>
          <p:nvPr/>
        </p:nvSpPr>
        <p:spPr>
          <a:xfrm>
            <a:off x="4599432" y="237744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Data and preprocessing</a:t>
            </a:r>
            <a:endParaRPr lang="en-US" sz="1900" dirty="0"/>
          </a:p>
        </p:txBody>
      </p:sp>
      <p:sp>
        <p:nvSpPr>
          <p:cNvPr id="11" name="Text 9"/>
          <p:cNvSpPr txBox="1"/>
          <p:nvPr/>
        </p:nvSpPr>
        <p:spPr>
          <a:xfrm>
            <a:off x="4599432" y="2834640"/>
            <a:ext cx="2971800" cy="594360"/>
          </a:xfrm>
          <a:prstGeom prst="rect">
            <a:avLst/>
          </a:prstGeom>
          <a:noFill/>
          <a:ln/>
        </p:spPr>
        <p:txBody>
          <a:bodyPr wrap="square" lIns="0" tIns="0" rIns="0" bIns="0" rtlCol="0" anchor="ctr"/>
          <a:lstStyle/>
          <a:p>
            <a:pPr indent="0" marL="0">
              <a:buNone/>
            </a:pPr>
            <a:r>
              <a:rPr lang="en-US" sz="1400" dirty="0">
                <a:solidFill>
                  <a:schemeClr val="tx1"/>
                </a:solidFill>
              </a:rPr>
              <a:t>Scraping Google Play, cleaning English and Arabic</a:t>
            </a:r>
            <a:endParaRPr lang="en-US" sz="1400" dirty="0"/>
          </a:p>
        </p:txBody>
      </p:sp>
      <p:sp>
        <p:nvSpPr>
          <p:cNvPr id="12" name="Agenda 03"/>
          <p:cNvSpPr/>
          <p:nvPr/>
        </p:nvSpPr>
        <p:spPr>
          <a:xfrm>
            <a:off x="8101584" y="1600200"/>
            <a:ext cx="3520440" cy="1965960"/>
          </a:xfrm>
          <a:prstGeom prst="roundRect">
            <a:avLst>
              <a:gd name="adj" fmla="val 4651"/>
            </a:avLst>
          </a:prstGeom>
          <a:solidFill>
            <a:schemeClr val="bg2"/>
          </a:solidFill>
          <a:ln w="12700">
            <a:solidFill>
              <a:schemeClr val="bg2"/>
            </a:solidFill>
            <a:prstDash val="solid"/>
          </a:ln>
        </p:spPr>
      </p:sp>
      <p:sp>
        <p:nvSpPr>
          <p:cNvPr id="13" name="Text 11"/>
          <p:cNvSpPr txBox="1"/>
          <p:nvPr/>
        </p:nvSpPr>
        <p:spPr>
          <a:xfrm>
            <a:off x="8375904" y="178308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03</a:t>
            </a:r>
            <a:endParaRPr lang="en-US" sz="2800" dirty="0"/>
          </a:p>
        </p:txBody>
      </p:sp>
      <p:sp>
        <p:nvSpPr>
          <p:cNvPr id="14" name="Text 12"/>
          <p:cNvSpPr txBox="1"/>
          <p:nvPr/>
        </p:nvSpPr>
        <p:spPr>
          <a:xfrm>
            <a:off x="8375904" y="237744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Models</a:t>
            </a:r>
            <a:endParaRPr lang="en-US" sz="1900" dirty="0"/>
          </a:p>
        </p:txBody>
      </p:sp>
      <p:sp>
        <p:nvSpPr>
          <p:cNvPr id="15" name="Text 13"/>
          <p:cNvSpPr txBox="1"/>
          <p:nvPr/>
        </p:nvSpPr>
        <p:spPr>
          <a:xfrm>
            <a:off x="8375904" y="2834640"/>
            <a:ext cx="2971800" cy="594360"/>
          </a:xfrm>
          <a:prstGeom prst="rect">
            <a:avLst/>
          </a:prstGeom>
          <a:noFill/>
          <a:ln/>
        </p:spPr>
        <p:txBody>
          <a:bodyPr wrap="square" lIns="0" tIns="0" rIns="0" bIns="0" rtlCol="0" anchor="ctr"/>
          <a:lstStyle/>
          <a:p>
            <a:pPr indent="0" marL="0">
              <a:buNone/>
            </a:pPr>
            <a:r>
              <a:rPr lang="en-US" sz="1400" dirty="0">
                <a:solidFill>
                  <a:schemeClr val="tx1"/>
                </a:solidFill>
              </a:rPr>
              <a:t>Representations, sentiment, LoRA, emotion, NER</a:t>
            </a:r>
            <a:endParaRPr lang="en-US" sz="1400" dirty="0"/>
          </a:p>
        </p:txBody>
      </p:sp>
      <p:sp>
        <p:nvSpPr>
          <p:cNvPr id="16" name="Agenda 04"/>
          <p:cNvSpPr/>
          <p:nvPr/>
        </p:nvSpPr>
        <p:spPr>
          <a:xfrm>
            <a:off x="548640" y="3840480"/>
            <a:ext cx="3520440" cy="1965960"/>
          </a:xfrm>
          <a:prstGeom prst="roundRect">
            <a:avLst>
              <a:gd name="adj" fmla="val 4651"/>
            </a:avLst>
          </a:prstGeom>
          <a:solidFill>
            <a:schemeClr val="bg2"/>
          </a:solidFill>
          <a:ln w="12700">
            <a:solidFill>
              <a:schemeClr val="bg2"/>
            </a:solidFill>
            <a:prstDash val="solid"/>
          </a:ln>
        </p:spPr>
      </p:sp>
      <p:sp>
        <p:nvSpPr>
          <p:cNvPr id="17" name="Text 15"/>
          <p:cNvSpPr txBox="1"/>
          <p:nvPr/>
        </p:nvSpPr>
        <p:spPr>
          <a:xfrm>
            <a:off x="822960" y="40233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04</a:t>
            </a:r>
            <a:endParaRPr lang="en-US" sz="2800" dirty="0"/>
          </a:p>
        </p:txBody>
      </p:sp>
      <p:sp>
        <p:nvSpPr>
          <p:cNvPr id="18" name="Text 16"/>
          <p:cNvSpPr txBox="1"/>
          <p:nvPr/>
        </p:nvSpPr>
        <p:spPr>
          <a:xfrm>
            <a:off x="822960" y="461772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Findings</a:t>
            </a:r>
            <a:endParaRPr lang="en-US" sz="1900" dirty="0"/>
          </a:p>
        </p:txBody>
      </p:sp>
      <p:sp>
        <p:nvSpPr>
          <p:cNvPr id="19" name="Text 17"/>
          <p:cNvSpPr txBox="1"/>
          <p:nvPr/>
        </p:nvSpPr>
        <p:spPr>
          <a:xfrm>
            <a:off x="822960" y="5074920"/>
            <a:ext cx="2971800" cy="594360"/>
          </a:xfrm>
          <a:prstGeom prst="rect">
            <a:avLst/>
          </a:prstGeom>
          <a:noFill/>
          <a:ln/>
        </p:spPr>
        <p:txBody>
          <a:bodyPr wrap="square" lIns="0" tIns="0" rIns="0" bIns="0" rtlCol="0" anchor="ctr"/>
          <a:lstStyle/>
          <a:p>
            <a:pPr indent="0" marL="0">
              <a:buNone/>
            </a:pPr>
            <a:r>
              <a:rPr lang="en-US" sz="1400" dirty="0">
                <a:solidFill>
                  <a:schemeClr val="tx1"/>
                </a:solidFill>
              </a:rPr>
              <a:t>Issues people report and the releases that hurt</a:t>
            </a:r>
            <a:endParaRPr lang="en-US" sz="1400" dirty="0"/>
          </a:p>
        </p:txBody>
      </p:sp>
      <p:sp>
        <p:nvSpPr>
          <p:cNvPr id="20" name="Agenda 05"/>
          <p:cNvSpPr/>
          <p:nvPr/>
        </p:nvSpPr>
        <p:spPr>
          <a:xfrm>
            <a:off x="4325112" y="3840480"/>
            <a:ext cx="3520440" cy="1965960"/>
          </a:xfrm>
          <a:prstGeom prst="roundRect">
            <a:avLst>
              <a:gd name="adj" fmla="val 4651"/>
            </a:avLst>
          </a:prstGeom>
          <a:solidFill>
            <a:schemeClr val="bg2"/>
          </a:solidFill>
          <a:ln w="12700">
            <a:solidFill>
              <a:schemeClr val="bg2"/>
            </a:solidFill>
            <a:prstDash val="solid"/>
          </a:ln>
        </p:spPr>
      </p:sp>
      <p:sp>
        <p:nvSpPr>
          <p:cNvPr id="21" name="Text 19"/>
          <p:cNvSpPr txBox="1"/>
          <p:nvPr/>
        </p:nvSpPr>
        <p:spPr>
          <a:xfrm>
            <a:off x="4599432" y="40233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05</a:t>
            </a:r>
            <a:endParaRPr lang="en-US" sz="2800" dirty="0"/>
          </a:p>
        </p:txBody>
      </p:sp>
      <p:sp>
        <p:nvSpPr>
          <p:cNvPr id="22" name="Text 20"/>
          <p:cNvSpPr txBox="1"/>
          <p:nvPr/>
        </p:nvSpPr>
        <p:spPr>
          <a:xfrm>
            <a:off x="4599432" y="461772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LLMs</a:t>
            </a:r>
            <a:endParaRPr lang="en-US" sz="1900" dirty="0"/>
          </a:p>
        </p:txBody>
      </p:sp>
      <p:sp>
        <p:nvSpPr>
          <p:cNvPr id="23" name="Text 21"/>
          <p:cNvSpPr txBox="1"/>
          <p:nvPr/>
        </p:nvSpPr>
        <p:spPr>
          <a:xfrm>
            <a:off x="4599432" y="5074920"/>
            <a:ext cx="2971800" cy="594360"/>
          </a:xfrm>
          <a:prstGeom prst="rect">
            <a:avLst/>
          </a:prstGeom>
          <a:noFill/>
          <a:ln/>
        </p:spPr>
        <p:txBody>
          <a:bodyPr wrap="square" lIns="0" tIns="0" rIns="0" bIns="0" rtlCol="0" anchor="ctr"/>
          <a:lstStyle/>
          <a:p>
            <a:pPr indent="0" marL="0">
              <a:buNone/>
            </a:pPr>
            <a:r>
              <a:rPr lang="en-US" sz="1400" dirty="0">
                <a:solidFill>
                  <a:schemeClr val="tx1"/>
                </a:solidFill>
              </a:rPr>
              <a:t>Prompt engineering and RAG</a:t>
            </a:r>
            <a:endParaRPr lang="en-US" sz="1400" dirty="0"/>
          </a:p>
        </p:txBody>
      </p:sp>
      <p:sp>
        <p:nvSpPr>
          <p:cNvPr id="24" name="Agenda 06"/>
          <p:cNvSpPr/>
          <p:nvPr/>
        </p:nvSpPr>
        <p:spPr>
          <a:xfrm>
            <a:off x="8101584" y="3840480"/>
            <a:ext cx="3520440" cy="1965960"/>
          </a:xfrm>
          <a:prstGeom prst="roundRect">
            <a:avLst>
              <a:gd name="adj" fmla="val 4651"/>
            </a:avLst>
          </a:prstGeom>
          <a:solidFill>
            <a:schemeClr val="bg2"/>
          </a:solidFill>
          <a:ln w="12700">
            <a:solidFill>
              <a:schemeClr val="bg2"/>
            </a:solidFill>
            <a:prstDash val="solid"/>
          </a:ln>
        </p:spPr>
      </p:sp>
      <p:sp>
        <p:nvSpPr>
          <p:cNvPr id="25" name="Text 23"/>
          <p:cNvSpPr txBox="1"/>
          <p:nvPr/>
        </p:nvSpPr>
        <p:spPr>
          <a:xfrm>
            <a:off x="8375904" y="40233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06</a:t>
            </a:r>
            <a:endParaRPr lang="en-US" sz="2800" dirty="0"/>
          </a:p>
        </p:txBody>
      </p:sp>
      <p:sp>
        <p:nvSpPr>
          <p:cNvPr id="26" name="Text 24"/>
          <p:cNvSpPr txBox="1"/>
          <p:nvPr/>
        </p:nvSpPr>
        <p:spPr>
          <a:xfrm>
            <a:off x="8375904" y="4617720"/>
            <a:ext cx="2971800" cy="411480"/>
          </a:xfrm>
          <a:prstGeom prst="rect">
            <a:avLst/>
          </a:prstGeom>
          <a:noFill/>
          <a:ln/>
        </p:spPr>
        <p:txBody>
          <a:bodyPr wrap="square" lIns="0" tIns="0" rIns="0" bIns="0" rtlCol="0" anchor="ctr"/>
          <a:lstStyle/>
          <a:p>
            <a:pPr indent="0" marL="0">
              <a:buNone/>
            </a:pPr>
            <a:r>
              <a:rPr lang="en-US" sz="1900" b="1" dirty="0">
                <a:solidFill>
                  <a:schemeClr val="accent1"/>
                </a:solidFill>
              </a:rPr>
              <a:t>Demo and conclusion</a:t>
            </a:r>
            <a:endParaRPr lang="en-US" sz="1900" dirty="0"/>
          </a:p>
        </p:txBody>
      </p:sp>
      <p:sp>
        <p:nvSpPr>
          <p:cNvPr id="27" name="Text 25"/>
          <p:cNvSpPr txBox="1"/>
          <p:nvPr/>
        </p:nvSpPr>
        <p:spPr>
          <a:xfrm>
            <a:off x="8375904" y="5074920"/>
            <a:ext cx="2971800" cy="594360"/>
          </a:xfrm>
          <a:prstGeom prst="rect">
            <a:avLst/>
          </a:prstGeom>
          <a:noFill/>
          <a:ln/>
        </p:spPr>
        <p:txBody>
          <a:bodyPr wrap="square" lIns="0" tIns="0" rIns="0" bIns="0" rtlCol="0" anchor="ctr"/>
          <a:lstStyle/>
          <a:p>
            <a:pPr indent="0" marL="0">
              <a:buNone/>
            </a:pPr>
            <a:r>
              <a:rPr lang="en-US" sz="1400" dirty="0">
                <a:solidFill>
                  <a:schemeClr val="tx1"/>
                </a:solidFill>
              </a:rPr>
              <a:t>The app, limitations and next steps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01</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The problem</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Thousands of reviews, two languages, nobody reading them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Residents talk to government apps every day</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01 THE PROBLEM</a:t>
            </a:r>
            <a:endParaRPr lang="en-US" sz="1200" dirty="0"/>
          </a:p>
        </p:txBody>
      </p:sp>
      <p:sp>
        <p:nvSpPr>
          <p:cNvPr id="4" name="Text 2"/>
          <p:cNvSpPr txBox="1"/>
          <p:nvPr/>
        </p:nvSpPr>
        <p:spPr>
          <a:xfrm>
            <a:off x="548640" y="1554480"/>
            <a:ext cx="5120640" cy="42062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UAE PASS, RTA Dubai, DEWA, Dubai Police and DubaiNow get new reviews every day on Google Play.</a:t>
            </a:r>
            <a:endParaRPr lang="en-US" sz="1800" dirty="0"/>
          </a:p>
          <a:p>
            <a:pPr marL="228600" indent="-228600">
              <a:spcAft>
                <a:spcPts val="800"/>
              </a:spcAft>
              <a:buSzPct val="100000"/>
              <a:buChar char="•"/>
            </a:pPr>
            <a:r>
              <a:rPr lang="en-US" sz="1800" dirty="0">
                <a:solidFill>
                  <a:schemeClr val="tx1"/>
                </a:solidFill>
              </a:rPr>
              <a:t>Almost half are written in Arabic, many in Gulf dialect or mixed with English.</a:t>
            </a:r>
            <a:endParaRPr lang="en-US" sz="1800" dirty="0"/>
          </a:p>
          <a:p>
            <a:pPr marL="228600" indent="-228600">
              <a:spcAft>
                <a:spcPts val="800"/>
              </a:spcAft>
              <a:buSzPct val="100000"/>
              <a:buChar char="•"/>
            </a:pPr>
            <a:r>
              <a:rPr lang="en-US" sz="1800" dirty="0">
                <a:solidFill>
                  <a:schemeClr val="tx1"/>
                </a:solidFill>
              </a:rPr>
              <a:t>Most reviews are only a few words long.</a:t>
            </a:r>
            <a:endParaRPr lang="en-US" sz="1800" dirty="0"/>
          </a:p>
          <a:p>
            <a:pPr marL="228600" indent="-228600">
              <a:spcAft>
                <a:spcPts val="800"/>
              </a:spcAft>
              <a:buSzPct val="100000"/>
              <a:buChar char="•"/>
            </a:pPr>
            <a:r>
              <a:rPr lang="en-US" sz="1800" dirty="0">
                <a:solidFill>
                  <a:schemeClr val="tx1"/>
                </a:solidFill>
              </a:rPr>
              <a:t>Nobody can read them all, so problems are found late.</a:t>
            </a:r>
            <a:endParaRPr lang="en-US" sz="1800" dirty="0"/>
          </a:p>
        </p:txBody>
      </p:sp>
      <p:sp>
        <p:nvSpPr>
          <p:cNvPr id="5" name="Reviews card"/>
          <p:cNvSpPr/>
          <p:nvPr/>
        </p:nvSpPr>
        <p:spPr>
          <a:xfrm>
            <a:off x="6126480" y="1554480"/>
            <a:ext cx="2651760" cy="1325880"/>
          </a:xfrm>
          <a:prstGeom prst="roundRect">
            <a:avLst>
              <a:gd name="adj" fmla="val 6897"/>
            </a:avLst>
          </a:prstGeom>
          <a:solidFill>
            <a:schemeClr val="bg2"/>
          </a:solidFill>
          <a:ln w="12700">
            <a:solidFill>
              <a:schemeClr val="bg2"/>
            </a:solidFill>
            <a:prstDash val="solid"/>
          </a:ln>
        </p:spPr>
      </p:sp>
      <p:sp>
        <p:nvSpPr>
          <p:cNvPr id="6" name="Reviews value"/>
          <p:cNvSpPr txBox="1"/>
          <p:nvPr/>
        </p:nvSpPr>
        <p:spPr>
          <a:xfrm>
            <a:off x="6355080" y="1691640"/>
            <a:ext cx="21945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5,271</a:t>
            </a:r>
            <a:endParaRPr lang="en-US" sz="3600" dirty="0"/>
          </a:p>
        </p:txBody>
      </p:sp>
      <p:sp>
        <p:nvSpPr>
          <p:cNvPr id="7" name="Reviews label"/>
          <p:cNvSpPr txBox="1"/>
          <p:nvPr/>
        </p:nvSpPr>
        <p:spPr>
          <a:xfrm>
            <a:off x="6355080" y="2377440"/>
            <a:ext cx="2194560" cy="411480"/>
          </a:xfrm>
          <a:prstGeom prst="rect">
            <a:avLst/>
          </a:prstGeom>
          <a:noFill/>
          <a:ln/>
        </p:spPr>
        <p:txBody>
          <a:bodyPr wrap="square" lIns="0" tIns="0" rIns="0" bIns="0" rtlCol="0" anchor="ctr"/>
          <a:lstStyle/>
          <a:p>
            <a:pPr indent="0" marL="0">
              <a:buNone/>
            </a:pPr>
            <a:r>
              <a:rPr lang="en-US" sz="1300" dirty="0">
                <a:solidFill>
                  <a:schemeClr val="tx1"/>
                </a:solidFill>
              </a:rPr>
              <a:t>reviews after cleaning</a:t>
            </a:r>
            <a:endParaRPr lang="en-US" sz="1300" dirty="0"/>
          </a:p>
        </p:txBody>
      </p:sp>
      <p:sp>
        <p:nvSpPr>
          <p:cNvPr id="8" name="Apps card"/>
          <p:cNvSpPr/>
          <p:nvPr/>
        </p:nvSpPr>
        <p:spPr>
          <a:xfrm>
            <a:off x="8961120" y="1554480"/>
            <a:ext cx="2651760" cy="1325880"/>
          </a:xfrm>
          <a:prstGeom prst="roundRect">
            <a:avLst>
              <a:gd name="adj" fmla="val 6897"/>
            </a:avLst>
          </a:prstGeom>
          <a:solidFill>
            <a:schemeClr val="bg2"/>
          </a:solidFill>
          <a:ln w="12700">
            <a:solidFill>
              <a:schemeClr val="bg2"/>
            </a:solidFill>
            <a:prstDash val="solid"/>
          </a:ln>
        </p:spPr>
      </p:sp>
      <p:sp>
        <p:nvSpPr>
          <p:cNvPr id="9" name="Apps value"/>
          <p:cNvSpPr txBox="1"/>
          <p:nvPr/>
        </p:nvSpPr>
        <p:spPr>
          <a:xfrm>
            <a:off x="9189720" y="1691640"/>
            <a:ext cx="21945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10" name="Apps label"/>
          <p:cNvSpPr txBox="1"/>
          <p:nvPr/>
        </p:nvSpPr>
        <p:spPr>
          <a:xfrm>
            <a:off x="9189720" y="2377440"/>
            <a:ext cx="2194560" cy="411480"/>
          </a:xfrm>
          <a:prstGeom prst="rect">
            <a:avLst/>
          </a:prstGeom>
          <a:noFill/>
          <a:ln/>
        </p:spPr>
        <p:txBody>
          <a:bodyPr wrap="square" lIns="0" tIns="0" rIns="0" bIns="0" rtlCol="0" anchor="ctr"/>
          <a:lstStyle/>
          <a:p>
            <a:pPr indent="0" marL="0">
              <a:buNone/>
            </a:pPr>
            <a:r>
              <a:rPr lang="en-US" sz="1300" dirty="0">
                <a:solidFill>
                  <a:schemeClr val="tx1"/>
                </a:solidFill>
              </a:rPr>
              <a:t>government apps</a:t>
            </a:r>
            <a:endParaRPr lang="en-US" sz="1300" dirty="0"/>
          </a:p>
        </p:txBody>
      </p:sp>
      <p:sp>
        <p:nvSpPr>
          <p:cNvPr id="11" name="Arabic card"/>
          <p:cNvSpPr/>
          <p:nvPr/>
        </p:nvSpPr>
        <p:spPr>
          <a:xfrm>
            <a:off x="6126480" y="3063240"/>
            <a:ext cx="2651760" cy="1325880"/>
          </a:xfrm>
          <a:prstGeom prst="roundRect">
            <a:avLst>
              <a:gd name="adj" fmla="val 6897"/>
            </a:avLst>
          </a:prstGeom>
          <a:solidFill>
            <a:schemeClr val="bg2"/>
          </a:solidFill>
          <a:ln w="12700">
            <a:solidFill>
              <a:schemeClr val="bg2"/>
            </a:solidFill>
            <a:prstDash val="solid"/>
          </a:ln>
        </p:spPr>
      </p:sp>
      <p:sp>
        <p:nvSpPr>
          <p:cNvPr id="12" name="Arabic value"/>
          <p:cNvSpPr txBox="1"/>
          <p:nvPr/>
        </p:nvSpPr>
        <p:spPr>
          <a:xfrm>
            <a:off x="6355080" y="3200400"/>
            <a:ext cx="21945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41.5%</a:t>
            </a:r>
            <a:endParaRPr lang="en-US" sz="3600" dirty="0"/>
          </a:p>
        </p:txBody>
      </p:sp>
      <p:sp>
        <p:nvSpPr>
          <p:cNvPr id="13" name="Arabic label"/>
          <p:cNvSpPr txBox="1"/>
          <p:nvPr/>
        </p:nvSpPr>
        <p:spPr>
          <a:xfrm>
            <a:off x="6355080" y="3886200"/>
            <a:ext cx="2194560" cy="411480"/>
          </a:xfrm>
          <a:prstGeom prst="rect">
            <a:avLst/>
          </a:prstGeom>
          <a:noFill/>
          <a:ln/>
        </p:spPr>
        <p:txBody>
          <a:bodyPr wrap="square" lIns="0" tIns="0" rIns="0" bIns="0" rtlCol="0" anchor="ctr"/>
          <a:lstStyle/>
          <a:p>
            <a:pPr indent="0" marL="0">
              <a:buNone/>
            </a:pPr>
            <a:r>
              <a:rPr lang="en-US" sz="1300" dirty="0">
                <a:solidFill>
                  <a:schemeClr val="tx1"/>
                </a:solidFill>
              </a:rPr>
              <a:t>written in Arabic</a:t>
            </a:r>
            <a:endParaRPr lang="en-US" sz="1300" dirty="0"/>
          </a:p>
        </p:txBody>
      </p:sp>
      <p:sp>
        <p:nvSpPr>
          <p:cNvPr id="14" name="Negative card"/>
          <p:cNvSpPr/>
          <p:nvPr/>
        </p:nvSpPr>
        <p:spPr>
          <a:xfrm>
            <a:off x="8961120" y="3063240"/>
            <a:ext cx="2651760" cy="1325880"/>
          </a:xfrm>
          <a:prstGeom prst="roundRect">
            <a:avLst>
              <a:gd name="adj" fmla="val 6897"/>
            </a:avLst>
          </a:prstGeom>
          <a:solidFill>
            <a:schemeClr val="bg2"/>
          </a:solidFill>
          <a:ln w="12700">
            <a:solidFill>
              <a:schemeClr val="bg2"/>
            </a:solidFill>
            <a:prstDash val="solid"/>
          </a:ln>
        </p:spPr>
      </p:sp>
      <p:sp>
        <p:nvSpPr>
          <p:cNvPr id="15" name="Negative value"/>
          <p:cNvSpPr txBox="1"/>
          <p:nvPr/>
        </p:nvSpPr>
        <p:spPr>
          <a:xfrm>
            <a:off x="9189720" y="3200400"/>
            <a:ext cx="21945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27.6%</a:t>
            </a:r>
            <a:endParaRPr lang="en-US" sz="3600" dirty="0"/>
          </a:p>
        </p:txBody>
      </p:sp>
      <p:sp>
        <p:nvSpPr>
          <p:cNvPr id="16" name="Negative label"/>
          <p:cNvSpPr txBox="1"/>
          <p:nvPr/>
        </p:nvSpPr>
        <p:spPr>
          <a:xfrm>
            <a:off x="9189720" y="3886200"/>
            <a:ext cx="2194560" cy="411480"/>
          </a:xfrm>
          <a:prstGeom prst="rect">
            <a:avLst/>
          </a:prstGeom>
          <a:noFill/>
          <a:ln/>
        </p:spPr>
        <p:txBody>
          <a:bodyPr wrap="square" lIns="0" tIns="0" rIns="0" bIns="0" rtlCol="0" anchor="ctr"/>
          <a:lstStyle/>
          <a:p>
            <a:pPr indent="0" marL="0">
              <a:buNone/>
            </a:pPr>
            <a:r>
              <a:rPr lang="en-US" sz="1300" dirty="0">
                <a:solidFill>
                  <a:schemeClr val="tx1"/>
                </a:solidFill>
              </a:rPr>
              <a:t>complaints (1 or 2 stars)</a:t>
            </a:r>
            <a:endParaRPr lang="en-US" sz="1300" dirty="0"/>
          </a:p>
        </p:txBody>
      </p:sp>
      <p:sp>
        <p:nvSpPr>
          <p:cNvPr id="17" name="Length card"/>
          <p:cNvSpPr/>
          <p:nvPr/>
        </p:nvSpPr>
        <p:spPr>
          <a:xfrm>
            <a:off x="6126480" y="4572000"/>
            <a:ext cx="2651760" cy="1325880"/>
          </a:xfrm>
          <a:prstGeom prst="roundRect">
            <a:avLst>
              <a:gd name="adj" fmla="val 6897"/>
            </a:avLst>
          </a:prstGeom>
          <a:solidFill>
            <a:schemeClr val="bg2"/>
          </a:solidFill>
          <a:ln w="12700">
            <a:solidFill>
              <a:schemeClr val="bg2"/>
            </a:solidFill>
            <a:prstDash val="solid"/>
          </a:ln>
        </p:spPr>
      </p:sp>
      <p:sp>
        <p:nvSpPr>
          <p:cNvPr id="18" name="Length value"/>
          <p:cNvSpPr txBox="1"/>
          <p:nvPr/>
        </p:nvSpPr>
        <p:spPr>
          <a:xfrm>
            <a:off x="6355080" y="4709160"/>
            <a:ext cx="21945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 words</a:t>
            </a:r>
            <a:endParaRPr lang="en-US" sz="3600" dirty="0"/>
          </a:p>
        </p:txBody>
      </p:sp>
      <p:sp>
        <p:nvSpPr>
          <p:cNvPr id="19" name="Length label"/>
          <p:cNvSpPr txBox="1"/>
          <p:nvPr/>
        </p:nvSpPr>
        <p:spPr>
          <a:xfrm>
            <a:off x="6355080" y="5394960"/>
            <a:ext cx="2194560" cy="411480"/>
          </a:xfrm>
          <a:prstGeom prst="rect">
            <a:avLst/>
          </a:prstGeom>
          <a:noFill/>
          <a:ln/>
        </p:spPr>
        <p:txBody>
          <a:bodyPr wrap="square" lIns="0" tIns="0" rIns="0" bIns="0" rtlCol="0" anchor="ctr"/>
          <a:lstStyle/>
          <a:p>
            <a:pPr indent="0" marL="0">
              <a:buNone/>
            </a:pPr>
            <a:r>
              <a:rPr lang="en-US" sz="1300" dirty="0">
                <a:solidFill>
                  <a:schemeClr val="tx1"/>
                </a:solidFill>
              </a:rPr>
              <a:t>median review length</a:t>
            </a:r>
            <a:endParaRPr lang="en-US" sz="1300" dirty="0"/>
          </a:p>
        </p:txBody>
      </p:sp>
      <p:sp>
        <p:nvSpPr>
          <p:cNvPr id="20" name="Rating card"/>
          <p:cNvSpPr/>
          <p:nvPr/>
        </p:nvSpPr>
        <p:spPr>
          <a:xfrm>
            <a:off x="8961120" y="4572000"/>
            <a:ext cx="2651760" cy="1325880"/>
          </a:xfrm>
          <a:prstGeom prst="roundRect">
            <a:avLst>
              <a:gd name="adj" fmla="val 6897"/>
            </a:avLst>
          </a:prstGeom>
          <a:solidFill>
            <a:schemeClr val="bg2"/>
          </a:solidFill>
          <a:ln w="12700">
            <a:solidFill>
              <a:schemeClr val="bg2"/>
            </a:solidFill>
            <a:prstDash val="solid"/>
          </a:ln>
        </p:spPr>
      </p:sp>
      <p:sp>
        <p:nvSpPr>
          <p:cNvPr id="21" name="Rating value"/>
          <p:cNvSpPr txBox="1"/>
          <p:nvPr/>
        </p:nvSpPr>
        <p:spPr>
          <a:xfrm>
            <a:off x="9189720" y="4709160"/>
            <a:ext cx="21945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3.8</a:t>
            </a:r>
            <a:endParaRPr lang="en-US" sz="3600" dirty="0"/>
          </a:p>
        </p:txBody>
      </p:sp>
      <p:sp>
        <p:nvSpPr>
          <p:cNvPr id="22" name="Rating label"/>
          <p:cNvSpPr txBox="1"/>
          <p:nvPr/>
        </p:nvSpPr>
        <p:spPr>
          <a:xfrm>
            <a:off x="9189720" y="5394960"/>
            <a:ext cx="2194560" cy="411480"/>
          </a:xfrm>
          <a:prstGeom prst="rect">
            <a:avLst/>
          </a:prstGeom>
          <a:noFill/>
          <a:ln/>
        </p:spPr>
        <p:txBody>
          <a:bodyPr wrap="square" lIns="0" tIns="0" rIns="0" bIns="0" rtlCol="0" anchor="ctr"/>
          <a:lstStyle/>
          <a:p>
            <a:pPr indent="0" marL="0">
              <a:buNone/>
            </a:pPr>
            <a:r>
              <a:rPr lang="en-US" sz="1300" dirty="0">
                <a:solidFill>
                  <a:schemeClr val="tx1"/>
                </a:solidFill>
              </a:rPr>
              <a:t>average star rating</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Four questions an app team needs answered</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01 THE PROBLEM</a:t>
            </a:r>
            <a:endParaRPr lang="en-US" sz="1200" dirty="0"/>
          </a:p>
        </p:txBody>
      </p:sp>
      <p:sp>
        <p:nvSpPr>
          <p:cNvPr id="4" name="Question 1"/>
          <p:cNvSpPr/>
          <p:nvPr/>
        </p:nvSpPr>
        <p:spPr>
          <a:xfrm>
            <a:off x="548640" y="1600200"/>
            <a:ext cx="5440680" cy="2011680"/>
          </a:xfrm>
          <a:prstGeom prst="roundRect">
            <a:avLst>
              <a:gd name="adj" fmla="val 4545"/>
            </a:avLst>
          </a:prstGeom>
          <a:solidFill>
            <a:schemeClr val="bg2"/>
          </a:solidFill>
          <a:ln w="12700">
            <a:solidFill>
              <a:schemeClr val="bg2"/>
            </a:solidFill>
            <a:prstDash val="solid"/>
          </a:ln>
        </p:spPr>
      </p:sp>
      <p:sp>
        <p:nvSpPr>
          <p:cNvPr id="5" name="Question number circle"/>
          <p:cNvSpPr/>
          <p:nvPr/>
        </p:nvSpPr>
        <p:spPr>
          <a:xfrm>
            <a:off x="822960" y="1920240"/>
            <a:ext cx="640080" cy="640080"/>
          </a:xfrm>
          <a:prstGeom prst="ellipse">
            <a:avLst/>
          </a:prstGeom>
          <a:solidFill>
            <a:schemeClr val="accent1"/>
          </a:solidFill>
          <a:ln w="12700">
            <a:solidFill>
              <a:schemeClr val="accent1"/>
            </a:solidFill>
            <a:prstDash val="solid"/>
          </a:ln>
        </p:spPr>
      </p:sp>
      <p:sp>
        <p:nvSpPr>
          <p:cNvPr id="6" name="Text 4"/>
          <p:cNvSpPr txBox="1"/>
          <p:nvPr/>
        </p:nvSpPr>
        <p:spPr>
          <a:xfrm>
            <a:off x="822960" y="19202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1691640" y="1920240"/>
            <a:ext cx="4069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What is broken?</a:t>
            </a:r>
            <a:endParaRPr lang="en-US" sz="2200" dirty="0"/>
          </a:p>
        </p:txBody>
      </p:sp>
      <p:sp>
        <p:nvSpPr>
          <p:cNvPr id="8" name="Text 6"/>
          <p:cNvSpPr txBox="1"/>
          <p:nvPr/>
        </p:nvSpPr>
        <p:spPr>
          <a:xfrm>
            <a:off x="1691640" y="2651760"/>
            <a:ext cx="4069080" cy="822960"/>
          </a:xfrm>
          <a:prstGeom prst="rect">
            <a:avLst/>
          </a:prstGeom>
          <a:noFill/>
          <a:ln/>
        </p:spPr>
        <p:txBody>
          <a:bodyPr wrap="square" lIns="0" tIns="0" rIns="0" bIns="0" rtlCol="0" anchor="ctr"/>
          <a:lstStyle/>
          <a:p>
            <a:pPr indent="0" marL="0">
              <a:buNone/>
            </a:pPr>
            <a:r>
              <a:rPr lang="en-US" sz="1500" dirty="0">
                <a:solidFill>
                  <a:schemeClr val="tx1"/>
                </a:solidFill>
              </a:rPr>
              <a:t>Issue discovery: complaints grouped into topics and named in English and Arabic</a:t>
            </a:r>
            <a:endParaRPr lang="en-US" sz="1500" dirty="0"/>
          </a:p>
        </p:txBody>
      </p:sp>
      <p:sp>
        <p:nvSpPr>
          <p:cNvPr id="9" name="Question 2"/>
          <p:cNvSpPr/>
          <p:nvPr/>
        </p:nvSpPr>
        <p:spPr>
          <a:xfrm>
            <a:off x="6172200" y="1600200"/>
            <a:ext cx="5440680" cy="2011680"/>
          </a:xfrm>
          <a:prstGeom prst="roundRect">
            <a:avLst>
              <a:gd name="adj" fmla="val 4545"/>
            </a:avLst>
          </a:prstGeom>
          <a:solidFill>
            <a:schemeClr val="bg2"/>
          </a:solidFill>
          <a:ln w="12700">
            <a:solidFill>
              <a:schemeClr val="bg2"/>
            </a:solidFill>
            <a:prstDash val="solid"/>
          </a:ln>
        </p:spPr>
      </p:sp>
      <p:sp>
        <p:nvSpPr>
          <p:cNvPr id="10" name="Question number circle"/>
          <p:cNvSpPr/>
          <p:nvPr/>
        </p:nvSpPr>
        <p:spPr>
          <a:xfrm>
            <a:off x="6446520" y="1920240"/>
            <a:ext cx="640080" cy="640080"/>
          </a:xfrm>
          <a:prstGeom prst="ellipse">
            <a:avLst/>
          </a:prstGeom>
          <a:solidFill>
            <a:schemeClr val="accent1"/>
          </a:solidFill>
          <a:ln w="12700">
            <a:solidFill>
              <a:schemeClr val="accent1"/>
            </a:solidFill>
            <a:prstDash val="solid"/>
          </a:ln>
        </p:spPr>
      </p:sp>
      <p:sp>
        <p:nvSpPr>
          <p:cNvPr id="11" name="Text 9"/>
          <p:cNvSpPr txBox="1"/>
          <p:nvPr/>
        </p:nvSpPr>
        <p:spPr>
          <a:xfrm>
            <a:off x="6446520" y="19202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7315200" y="1920240"/>
            <a:ext cx="4069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How upset are people?</a:t>
            </a:r>
            <a:endParaRPr lang="en-US" sz="2200" dirty="0"/>
          </a:p>
        </p:txBody>
      </p:sp>
      <p:sp>
        <p:nvSpPr>
          <p:cNvPr id="13" name="Text 11"/>
          <p:cNvSpPr txBox="1"/>
          <p:nvPr/>
        </p:nvSpPr>
        <p:spPr>
          <a:xfrm>
            <a:off x="7315200" y="2651760"/>
            <a:ext cx="4069080" cy="822960"/>
          </a:xfrm>
          <a:prstGeom prst="rect">
            <a:avLst/>
          </a:prstGeom>
          <a:noFill/>
          <a:ln/>
        </p:spPr>
        <p:txBody>
          <a:bodyPr wrap="square" lIns="0" tIns="0" rIns="0" bIns="0" rtlCol="0" anchor="ctr"/>
          <a:lstStyle/>
          <a:p>
            <a:pPr indent="0" marL="0">
              <a:buNone/>
            </a:pPr>
            <a:r>
              <a:rPr lang="en-US" sz="1500" dirty="0">
                <a:solidFill>
                  <a:schemeClr val="tx1"/>
                </a:solidFill>
              </a:rPr>
              <a:t>Sentiment and emotion models, from a word list to a fine-tuned transformer</a:t>
            </a:r>
            <a:endParaRPr lang="en-US" sz="1500" dirty="0"/>
          </a:p>
        </p:txBody>
      </p:sp>
      <p:sp>
        <p:nvSpPr>
          <p:cNvPr id="14" name="Question 3"/>
          <p:cNvSpPr/>
          <p:nvPr/>
        </p:nvSpPr>
        <p:spPr>
          <a:xfrm>
            <a:off x="548640" y="3886200"/>
            <a:ext cx="5440680" cy="2011680"/>
          </a:xfrm>
          <a:prstGeom prst="roundRect">
            <a:avLst>
              <a:gd name="adj" fmla="val 4545"/>
            </a:avLst>
          </a:prstGeom>
          <a:solidFill>
            <a:schemeClr val="bg2"/>
          </a:solidFill>
          <a:ln w="12700">
            <a:solidFill>
              <a:schemeClr val="bg2"/>
            </a:solidFill>
            <a:prstDash val="solid"/>
          </a:ln>
        </p:spPr>
      </p:sp>
      <p:sp>
        <p:nvSpPr>
          <p:cNvPr id="15" name="Question number circle"/>
          <p:cNvSpPr/>
          <p:nvPr/>
        </p:nvSpPr>
        <p:spPr>
          <a:xfrm>
            <a:off x="822960" y="42062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822960" y="42062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5"/>
          <p:cNvSpPr txBox="1"/>
          <p:nvPr/>
        </p:nvSpPr>
        <p:spPr>
          <a:xfrm>
            <a:off x="1691640" y="4206240"/>
            <a:ext cx="4069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Which release caused it?</a:t>
            </a:r>
            <a:endParaRPr lang="en-US" sz="2200" dirty="0"/>
          </a:p>
        </p:txBody>
      </p:sp>
      <p:sp>
        <p:nvSpPr>
          <p:cNvPr id="18" name="Text 16"/>
          <p:cNvSpPr txBox="1"/>
          <p:nvPr/>
        </p:nvSpPr>
        <p:spPr>
          <a:xfrm>
            <a:off x="1691640" y="4937760"/>
            <a:ext cx="4069080" cy="822960"/>
          </a:xfrm>
          <a:prstGeom prst="rect">
            <a:avLst/>
          </a:prstGeom>
          <a:noFill/>
          <a:ln/>
        </p:spPr>
        <p:txBody>
          <a:bodyPr wrap="square" lIns="0" tIns="0" rIns="0" bIns="0" rtlCol="0" anchor="ctr"/>
          <a:lstStyle/>
          <a:p>
            <a:pPr indent="0" marL="0">
              <a:buNone/>
            </a:pPr>
            <a:r>
              <a:rPr lang="en-US" sz="1500" dirty="0">
                <a:solidFill>
                  <a:schemeClr val="tx1"/>
                </a:solidFill>
              </a:rPr>
              <a:t>A statistical test on every app version</a:t>
            </a:r>
            <a:endParaRPr lang="en-US" sz="1500" dirty="0"/>
          </a:p>
        </p:txBody>
      </p:sp>
      <p:sp>
        <p:nvSpPr>
          <p:cNvPr id="19" name="Question 4"/>
          <p:cNvSpPr/>
          <p:nvPr/>
        </p:nvSpPr>
        <p:spPr>
          <a:xfrm>
            <a:off x="6172200" y="3886200"/>
            <a:ext cx="5440680" cy="2011680"/>
          </a:xfrm>
          <a:prstGeom prst="roundRect">
            <a:avLst>
              <a:gd name="adj" fmla="val 4545"/>
            </a:avLst>
          </a:prstGeom>
          <a:solidFill>
            <a:schemeClr val="bg2"/>
          </a:solidFill>
          <a:ln w="12700">
            <a:solidFill>
              <a:schemeClr val="bg2"/>
            </a:solidFill>
            <a:prstDash val="solid"/>
          </a:ln>
        </p:spPr>
      </p:sp>
      <p:sp>
        <p:nvSpPr>
          <p:cNvPr id="20" name="Question number circle"/>
          <p:cNvSpPr/>
          <p:nvPr/>
        </p:nvSpPr>
        <p:spPr>
          <a:xfrm>
            <a:off x="6446520" y="4206240"/>
            <a:ext cx="640080" cy="640080"/>
          </a:xfrm>
          <a:prstGeom prst="ellipse">
            <a:avLst/>
          </a:prstGeom>
          <a:solidFill>
            <a:schemeClr val="accent1"/>
          </a:solidFill>
          <a:ln w="12700">
            <a:solidFill>
              <a:schemeClr val="accent1"/>
            </a:solidFill>
            <a:prstDash val="solid"/>
          </a:ln>
        </p:spPr>
      </p:sp>
      <p:sp>
        <p:nvSpPr>
          <p:cNvPr id="21" name="Text 19"/>
          <p:cNvSpPr txBox="1"/>
          <p:nvPr/>
        </p:nvSpPr>
        <p:spPr>
          <a:xfrm>
            <a:off x="6446520" y="42062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20"/>
          <p:cNvSpPr txBox="1"/>
          <p:nvPr/>
        </p:nvSpPr>
        <p:spPr>
          <a:xfrm>
            <a:off x="7315200" y="4206240"/>
            <a:ext cx="4069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How should we answer?</a:t>
            </a:r>
            <a:endParaRPr lang="en-US" sz="2200" dirty="0"/>
          </a:p>
        </p:txBody>
      </p:sp>
      <p:sp>
        <p:nvSpPr>
          <p:cNvPr id="23" name="Text 21"/>
          <p:cNvSpPr txBox="1"/>
          <p:nvPr/>
        </p:nvSpPr>
        <p:spPr>
          <a:xfrm>
            <a:off x="7315200" y="4937760"/>
            <a:ext cx="4069080" cy="822960"/>
          </a:xfrm>
          <a:prstGeom prst="rect">
            <a:avLst/>
          </a:prstGeom>
          <a:noFill/>
          <a:ln/>
        </p:spPr>
        <p:txBody>
          <a:bodyPr wrap="square" lIns="0" tIns="0" rIns="0" bIns="0" rtlCol="0" anchor="ctr"/>
          <a:lstStyle/>
          <a:p>
            <a:pPr indent="0" marL="0">
              <a:buNone/>
            </a:pPr>
            <a:r>
              <a:rPr lang="en-US" sz="1500" dirty="0">
                <a:solidFill>
                  <a:schemeClr val="tx1"/>
                </a:solidFill>
              </a:rPr>
              <a:t>An LLM assistant grounded in real reviews, and bilingual reply drafts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02</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Data and preprocessing</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Scraping Google Play and cleaning English and Arabic text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How the reviews are scraped from Google Play</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DATA</a:t>
            </a:r>
            <a:endParaRPr lang="en-US" sz="1200" dirty="0"/>
          </a:p>
        </p:txBody>
      </p:sp>
      <p:sp>
        <p:nvSpPr>
          <p:cNvPr id="4" name="Step 1"/>
          <p:cNvSpPr/>
          <p:nvPr/>
        </p:nvSpPr>
        <p:spPr>
          <a:xfrm>
            <a:off x="548640" y="1600200"/>
            <a:ext cx="1956816" cy="2194560"/>
          </a:xfrm>
          <a:prstGeom prst="roundRect">
            <a:avLst>
              <a:gd name="adj" fmla="val 4673"/>
            </a:avLst>
          </a:prstGeom>
          <a:solidFill>
            <a:schemeClr val="bg2"/>
          </a:solidFill>
          <a:ln w="12700">
            <a:solidFill>
              <a:schemeClr val="bg2"/>
            </a:solidFill>
            <a:prstDash val="solid"/>
          </a:ln>
        </p:spPr>
      </p:sp>
      <p:sp>
        <p:nvSpPr>
          <p:cNvPr id="5" name="Text 3"/>
          <p:cNvSpPr txBox="1"/>
          <p:nvPr/>
        </p:nvSpPr>
        <p:spPr>
          <a:xfrm>
            <a:off x="731520" y="17373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31520" y="21488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Find the app</a:t>
            </a:r>
            <a:endParaRPr lang="en-US" sz="1700" dirty="0"/>
          </a:p>
        </p:txBody>
      </p:sp>
      <p:sp>
        <p:nvSpPr>
          <p:cNvPr id="7" name="Text 5"/>
          <p:cNvSpPr txBox="1"/>
          <p:nvPr/>
        </p:nvSpPr>
        <p:spPr>
          <a:xfrm>
            <a:off x="731520" y="2560320"/>
            <a:ext cx="1591056" cy="1143000"/>
          </a:xfrm>
          <a:prstGeom prst="rect">
            <a:avLst/>
          </a:prstGeom>
          <a:noFill/>
          <a:ln/>
        </p:spPr>
        <p:txBody>
          <a:bodyPr wrap="square" lIns="0" tIns="0" rIns="0" bIns="0" rtlCol="0" anchor="t"/>
          <a:lstStyle/>
          <a:p>
            <a:pPr indent="0" marL="0">
              <a:buNone/>
            </a:pPr>
            <a:r>
              <a:rPr lang="en-US" sz="1300" dirty="0">
                <a:solidFill>
                  <a:schemeClr val="tx1"/>
                </a:solidFill>
              </a:rPr>
              <a:t>Check the package id on the UAE store, or search by name if it changed</a:t>
            </a:r>
            <a:endParaRPr lang="en-US" sz="1300" dirty="0"/>
          </a:p>
        </p:txBody>
      </p:sp>
      <p:sp>
        <p:nvSpPr>
          <p:cNvPr id="8" name="Text 6"/>
          <p:cNvSpPr txBox="1"/>
          <p:nvPr/>
        </p:nvSpPr>
        <p:spPr>
          <a:xfrm>
            <a:off x="2505456" y="24688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9" name="Step 2"/>
          <p:cNvSpPr/>
          <p:nvPr/>
        </p:nvSpPr>
        <p:spPr>
          <a:xfrm>
            <a:off x="2825496" y="1600200"/>
            <a:ext cx="1956816" cy="2194560"/>
          </a:xfrm>
          <a:prstGeom prst="roundRect">
            <a:avLst>
              <a:gd name="adj" fmla="val 4673"/>
            </a:avLst>
          </a:prstGeom>
          <a:solidFill>
            <a:schemeClr val="bg2"/>
          </a:solidFill>
          <a:ln w="12700">
            <a:solidFill>
              <a:schemeClr val="bg2"/>
            </a:solidFill>
            <a:prstDash val="solid"/>
          </a:ln>
        </p:spPr>
      </p:sp>
      <p:sp>
        <p:nvSpPr>
          <p:cNvPr id="10" name="Text 8"/>
          <p:cNvSpPr txBox="1"/>
          <p:nvPr/>
        </p:nvSpPr>
        <p:spPr>
          <a:xfrm>
            <a:off x="3008376" y="17373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3008376" y="21488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Request reviews</a:t>
            </a:r>
            <a:endParaRPr lang="en-US" sz="1700" dirty="0"/>
          </a:p>
        </p:txBody>
      </p:sp>
      <p:sp>
        <p:nvSpPr>
          <p:cNvPr id="12" name="Text 10"/>
          <p:cNvSpPr txBox="1"/>
          <p:nvPr/>
        </p:nvSpPr>
        <p:spPr>
          <a:xfrm>
            <a:off x="3008376" y="2560320"/>
            <a:ext cx="1591056" cy="1143000"/>
          </a:xfrm>
          <a:prstGeom prst="rect">
            <a:avLst/>
          </a:prstGeom>
          <a:noFill/>
          <a:ln/>
        </p:spPr>
        <p:txBody>
          <a:bodyPr wrap="square" lIns="0" tIns="0" rIns="0" bIns="0" rtlCol="0" anchor="t"/>
          <a:lstStyle/>
          <a:p>
            <a:pPr indent="0" marL="0">
              <a:buNone/>
            </a:pPr>
            <a:r>
              <a:rPr lang="en-US" sz="1300" dirty="0">
                <a:solidFill>
                  <a:schemeClr val="tx1"/>
                </a:solidFill>
              </a:rPr>
              <a:t>google-play-scraper, country ae, newest first, once in English and once in Arabic</a:t>
            </a:r>
            <a:endParaRPr lang="en-US" sz="1300" dirty="0"/>
          </a:p>
        </p:txBody>
      </p:sp>
      <p:sp>
        <p:nvSpPr>
          <p:cNvPr id="13" name="Text 11"/>
          <p:cNvSpPr txBox="1"/>
          <p:nvPr/>
        </p:nvSpPr>
        <p:spPr>
          <a:xfrm>
            <a:off x="4782312" y="24688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4" name="Step 3"/>
          <p:cNvSpPr/>
          <p:nvPr/>
        </p:nvSpPr>
        <p:spPr>
          <a:xfrm>
            <a:off x="5102352" y="1600200"/>
            <a:ext cx="1956816" cy="2194560"/>
          </a:xfrm>
          <a:prstGeom prst="roundRect">
            <a:avLst>
              <a:gd name="adj" fmla="val 4673"/>
            </a:avLst>
          </a:prstGeom>
          <a:solidFill>
            <a:schemeClr val="bg2"/>
          </a:solidFill>
          <a:ln w="12700">
            <a:solidFill>
              <a:schemeClr val="bg2"/>
            </a:solidFill>
            <a:prstDash val="solid"/>
          </a:ln>
        </p:spPr>
      </p:sp>
      <p:sp>
        <p:nvSpPr>
          <p:cNvPr id="15" name="Text 13"/>
          <p:cNvSpPr txBox="1"/>
          <p:nvPr/>
        </p:nvSpPr>
        <p:spPr>
          <a:xfrm>
            <a:off x="5285232" y="17373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5285232" y="21488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Page through</a:t>
            </a:r>
            <a:endParaRPr lang="en-US" sz="1700" dirty="0"/>
          </a:p>
        </p:txBody>
      </p:sp>
      <p:sp>
        <p:nvSpPr>
          <p:cNvPr id="17" name="Text 15"/>
          <p:cNvSpPr txBox="1"/>
          <p:nvPr/>
        </p:nvSpPr>
        <p:spPr>
          <a:xfrm>
            <a:off x="5285232" y="2560320"/>
            <a:ext cx="1591056" cy="1143000"/>
          </a:xfrm>
          <a:prstGeom prst="rect">
            <a:avLst/>
          </a:prstGeom>
          <a:noFill/>
          <a:ln/>
        </p:spPr>
        <p:txBody>
          <a:bodyPr wrap="square" lIns="0" tIns="0" rIns="0" bIns="0" rtlCol="0" anchor="t"/>
          <a:lstStyle/>
          <a:p>
            <a:pPr indent="0" marL="0">
              <a:buNone/>
            </a:pPr>
            <a:r>
              <a:rPr lang="en-US" sz="1300" dirty="0">
                <a:solidFill>
                  <a:schemeClr val="tx1"/>
                </a:solidFill>
              </a:rPr>
              <a:t>Pages of 200, up to 600 per app and language, retries with a growing delay</a:t>
            </a:r>
            <a:endParaRPr lang="en-US" sz="1300" dirty="0"/>
          </a:p>
        </p:txBody>
      </p:sp>
      <p:sp>
        <p:nvSpPr>
          <p:cNvPr id="18" name="Text 16"/>
          <p:cNvSpPr txBox="1"/>
          <p:nvPr/>
        </p:nvSpPr>
        <p:spPr>
          <a:xfrm>
            <a:off x="7059168" y="24688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9" name="Step 4"/>
          <p:cNvSpPr/>
          <p:nvPr/>
        </p:nvSpPr>
        <p:spPr>
          <a:xfrm>
            <a:off x="7379208" y="1600200"/>
            <a:ext cx="1956816" cy="2194560"/>
          </a:xfrm>
          <a:prstGeom prst="roundRect">
            <a:avLst>
              <a:gd name="adj" fmla="val 4673"/>
            </a:avLst>
          </a:prstGeom>
          <a:solidFill>
            <a:schemeClr val="bg2"/>
          </a:solidFill>
          <a:ln w="12700">
            <a:solidFill>
              <a:schemeClr val="bg2"/>
            </a:solidFill>
            <a:prstDash val="solid"/>
          </a:ln>
        </p:spPr>
      </p:sp>
      <p:sp>
        <p:nvSpPr>
          <p:cNvPr id="20" name="Text 18"/>
          <p:cNvSpPr txBox="1"/>
          <p:nvPr/>
        </p:nvSpPr>
        <p:spPr>
          <a:xfrm>
            <a:off x="7562088" y="17373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7562088" y="21488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Skip known ids</a:t>
            </a:r>
            <a:endParaRPr lang="en-US" sz="1700" dirty="0"/>
          </a:p>
        </p:txBody>
      </p:sp>
      <p:sp>
        <p:nvSpPr>
          <p:cNvPr id="22" name="Text 20"/>
          <p:cNvSpPr txBox="1"/>
          <p:nvPr/>
        </p:nvSpPr>
        <p:spPr>
          <a:xfrm>
            <a:off x="7562088" y="2560320"/>
            <a:ext cx="1591056" cy="1143000"/>
          </a:xfrm>
          <a:prstGeom prst="rect">
            <a:avLst/>
          </a:prstGeom>
          <a:noFill/>
          <a:ln/>
        </p:spPr>
        <p:txBody>
          <a:bodyPr wrap="square" lIns="0" tIns="0" rIns="0" bIns="0" rtlCol="0" anchor="t"/>
          <a:lstStyle/>
          <a:p>
            <a:pPr indent="0" marL="0">
              <a:buNone/>
            </a:pPr>
            <a:r>
              <a:rPr lang="en-US" sz="1300" dirty="0">
                <a:solidFill>
                  <a:schemeClr val="tx1"/>
                </a:solidFill>
              </a:rPr>
              <a:t>Reviews already saved are ignored, so every run is incremental</a:t>
            </a:r>
            <a:endParaRPr lang="en-US" sz="1300" dirty="0"/>
          </a:p>
        </p:txBody>
      </p:sp>
      <p:sp>
        <p:nvSpPr>
          <p:cNvPr id="23" name="Text 21"/>
          <p:cNvSpPr txBox="1"/>
          <p:nvPr/>
        </p:nvSpPr>
        <p:spPr>
          <a:xfrm>
            <a:off x="9336024" y="24688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24" name="Step 5"/>
          <p:cNvSpPr/>
          <p:nvPr/>
        </p:nvSpPr>
        <p:spPr>
          <a:xfrm>
            <a:off x="9656064" y="1600200"/>
            <a:ext cx="1956816" cy="2194560"/>
          </a:xfrm>
          <a:prstGeom prst="roundRect">
            <a:avLst>
              <a:gd name="adj" fmla="val 4673"/>
            </a:avLst>
          </a:prstGeom>
          <a:solidFill>
            <a:schemeClr val="bg2"/>
          </a:solidFill>
          <a:ln w="12700">
            <a:solidFill>
              <a:schemeClr val="bg2"/>
            </a:solidFill>
            <a:prstDash val="solid"/>
          </a:ln>
        </p:spPr>
      </p:sp>
      <p:sp>
        <p:nvSpPr>
          <p:cNvPr id="25" name="Text 23"/>
          <p:cNvSpPr txBox="1"/>
          <p:nvPr/>
        </p:nvSpPr>
        <p:spPr>
          <a:xfrm>
            <a:off x="9838944" y="17373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5</a:t>
            </a:r>
            <a:endParaRPr lang="en-US" sz="2000" dirty="0"/>
          </a:p>
        </p:txBody>
      </p:sp>
      <p:sp>
        <p:nvSpPr>
          <p:cNvPr id="26" name="Text 24"/>
          <p:cNvSpPr txBox="1"/>
          <p:nvPr/>
        </p:nvSpPr>
        <p:spPr>
          <a:xfrm>
            <a:off x="9838944" y="21488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Save</a:t>
            </a:r>
            <a:endParaRPr lang="en-US" sz="1700" dirty="0"/>
          </a:p>
        </p:txBody>
      </p:sp>
      <p:sp>
        <p:nvSpPr>
          <p:cNvPr id="27" name="Text 25"/>
          <p:cNvSpPr txBox="1"/>
          <p:nvPr/>
        </p:nvSpPr>
        <p:spPr>
          <a:xfrm>
            <a:off x="9838944" y="2560320"/>
            <a:ext cx="1591056" cy="1143000"/>
          </a:xfrm>
          <a:prstGeom prst="rect">
            <a:avLst/>
          </a:prstGeom>
          <a:noFill/>
          <a:ln/>
        </p:spPr>
        <p:txBody>
          <a:bodyPr wrap="square" lIns="0" tIns="0" rIns="0" bIns="0" rtlCol="0" anchor="t"/>
          <a:lstStyle/>
          <a:p>
            <a:pPr indent="0" marL="0">
              <a:buNone/>
            </a:pPr>
            <a:r>
              <a:rPr lang="en-US" sz="1300" dirty="0">
                <a:solidFill>
                  <a:schemeClr val="tx1"/>
                </a:solidFill>
              </a:rPr>
              <a:t>Parquet file, duplicates and empty texts removed, names replaced by a hash</a:t>
            </a:r>
            <a:endParaRPr lang="en-US" sz="1300" dirty="0"/>
          </a:p>
        </p:txBody>
      </p:sp>
      <p:sp>
        <p:nvSpPr>
          <p:cNvPr id="28" name="Text 26"/>
          <p:cNvSpPr txBox="1"/>
          <p:nvPr/>
        </p:nvSpPr>
        <p:spPr>
          <a:xfrm>
            <a:off x="548640" y="4160520"/>
            <a:ext cx="11064240" cy="365760"/>
          </a:xfrm>
          <a:prstGeom prst="rect">
            <a:avLst/>
          </a:prstGeom>
          <a:noFill/>
          <a:ln/>
        </p:spPr>
        <p:txBody>
          <a:bodyPr wrap="square" lIns="0" tIns="0" rIns="0" bIns="0" rtlCol="0" anchor="t"/>
          <a:lstStyle/>
          <a:p>
            <a:pPr indent="0" marL="0">
              <a:spcAft>
                <a:spcPts val="800"/>
              </a:spcAft>
              <a:buNone/>
            </a:pPr>
            <a:r>
              <a:rPr lang="en-US" sz="1500" b="1" dirty="0">
                <a:solidFill>
                  <a:schemeClr val="accent1"/>
                </a:solidFill>
              </a:rPr>
              <a:t>Apps targeted</a:t>
            </a:r>
            <a:endParaRPr lang="en-US" sz="1500" dirty="0"/>
          </a:p>
        </p:txBody>
      </p:sp>
      <p:sp>
        <p:nvSpPr>
          <p:cNvPr id="29" name="App pill UAE PASS"/>
          <p:cNvSpPr/>
          <p:nvPr/>
        </p:nvSpPr>
        <p:spPr>
          <a:xfrm>
            <a:off x="548640" y="4572000"/>
            <a:ext cx="1280160" cy="502920"/>
          </a:xfrm>
          <a:prstGeom prst="roundRect">
            <a:avLst>
              <a:gd name="adj" fmla="val 49091"/>
            </a:avLst>
          </a:prstGeom>
          <a:solidFill>
            <a:schemeClr val="bg1"/>
          </a:solidFill>
          <a:ln w="12700">
            <a:solidFill>
              <a:schemeClr val="accent1"/>
            </a:solidFill>
            <a:prstDash val="solid"/>
          </a:ln>
        </p:spPr>
      </p:sp>
      <p:sp>
        <p:nvSpPr>
          <p:cNvPr id="30" name="Text 28"/>
          <p:cNvSpPr txBox="1"/>
          <p:nvPr/>
        </p:nvSpPr>
        <p:spPr>
          <a:xfrm>
            <a:off x="548640"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UAE PASS</a:t>
            </a:r>
            <a:endParaRPr lang="en-US" sz="1300" dirty="0"/>
          </a:p>
        </p:txBody>
      </p:sp>
      <p:sp>
        <p:nvSpPr>
          <p:cNvPr id="31" name="App pill DubaiNow"/>
          <p:cNvSpPr/>
          <p:nvPr/>
        </p:nvSpPr>
        <p:spPr>
          <a:xfrm>
            <a:off x="1947672" y="4572000"/>
            <a:ext cx="1280160" cy="502920"/>
          </a:xfrm>
          <a:prstGeom prst="roundRect">
            <a:avLst>
              <a:gd name="adj" fmla="val 49091"/>
            </a:avLst>
          </a:prstGeom>
          <a:solidFill>
            <a:schemeClr val="bg1"/>
          </a:solidFill>
          <a:ln w="12700">
            <a:solidFill>
              <a:schemeClr val="accent1"/>
            </a:solidFill>
            <a:prstDash val="solid"/>
          </a:ln>
        </p:spPr>
      </p:sp>
      <p:sp>
        <p:nvSpPr>
          <p:cNvPr id="32" name="Text 30"/>
          <p:cNvSpPr txBox="1"/>
          <p:nvPr/>
        </p:nvSpPr>
        <p:spPr>
          <a:xfrm>
            <a:off x="1947672"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DubaiNow</a:t>
            </a:r>
            <a:endParaRPr lang="en-US" sz="1300" dirty="0"/>
          </a:p>
        </p:txBody>
      </p:sp>
      <p:sp>
        <p:nvSpPr>
          <p:cNvPr id="33" name="App pill RTA Dubai"/>
          <p:cNvSpPr/>
          <p:nvPr/>
        </p:nvSpPr>
        <p:spPr>
          <a:xfrm>
            <a:off x="3346704" y="4572000"/>
            <a:ext cx="1280160" cy="502920"/>
          </a:xfrm>
          <a:prstGeom prst="roundRect">
            <a:avLst>
              <a:gd name="adj" fmla="val 49091"/>
            </a:avLst>
          </a:prstGeom>
          <a:solidFill>
            <a:schemeClr val="bg1"/>
          </a:solidFill>
          <a:ln w="12700">
            <a:solidFill>
              <a:schemeClr val="accent1"/>
            </a:solidFill>
            <a:prstDash val="solid"/>
          </a:ln>
        </p:spPr>
      </p:sp>
      <p:sp>
        <p:nvSpPr>
          <p:cNvPr id="34" name="Text 32"/>
          <p:cNvSpPr txBox="1"/>
          <p:nvPr/>
        </p:nvSpPr>
        <p:spPr>
          <a:xfrm>
            <a:off x="3346704"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RTA Dubai</a:t>
            </a:r>
            <a:endParaRPr lang="en-US" sz="1300" dirty="0"/>
          </a:p>
        </p:txBody>
      </p:sp>
      <p:sp>
        <p:nvSpPr>
          <p:cNvPr id="35" name="App pill DEWA"/>
          <p:cNvSpPr/>
          <p:nvPr/>
        </p:nvSpPr>
        <p:spPr>
          <a:xfrm>
            <a:off x="4745736" y="4572000"/>
            <a:ext cx="1280160" cy="502920"/>
          </a:xfrm>
          <a:prstGeom prst="roundRect">
            <a:avLst>
              <a:gd name="adj" fmla="val 49091"/>
            </a:avLst>
          </a:prstGeom>
          <a:solidFill>
            <a:schemeClr val="bg1"/>
          </a:solidFill>
          <a:ln w="12700">
            <a:solidFill>
              <a:schemeClr val="accent1"/>
            </a:solidFill>
            <a:prstDash val="solid"/>
          </a:ln>
        </p:spPr>
      </p:sp>
      <p:sp>
        <p:nvSpPr>
          <p:cNvPr id="36" name="Text 34"/>
          <p:cNvSpPr txBox="1"/>
          <p:nvPr/>
        </p:nvSpPr>
        <p:spPr>
          <a:xfrm>
            <a:off x="4745736"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DEWA</a:t>
            </a:r>
            <a:endParaRPr lang="en-US" sz="1300" dirty="0"/>
          </a:p>
        </p:txBody>
      </p:sp>
      <p:sp>
        <p:nvSpPr>
          <p:cNvPr id="37" name="App pill Dubai Police"/>
          <p:cNvSpPr/>
          <p:nvPr/>
        </p:nvSpPr>
        <p:spPr>
          <a:xfrm>
            <a:off x="6144768" y="4572000"/>
            <a:ext cx="1280160" cy="502920"/>
          </a:xfrm>
          <a:prstGeom prst="roundRect">
            <a:avLst>
              <a:gd name="adj" fmla="val 49091"/>
            </a:avLst>
          </a:prstGeom>
          <a:solidFill>
            <a:schemeClr val="bg1"/>
          </a:solidFill>
          <a:ln w="12700">
            <a:solidFill>
              <a:schemeClr val="accent1"/>
            </a:solidFill>
            <a:prstDash val="solid"/>
          </a:ln>
        </p:spPr>
      </p:sp>
      <p:sp>
        <p:nvSpPr>
          <p:cNvPr id="38" name="Text 36"/>
          <p:cNvSpPr txBox="1"/>
          <p:nvPr/>
        </p:nvSpPr>
        <p:spPr>
          <a:xfrm>
            <a:off x="6144768"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Dubai Police</a:t>
            </a:r>
            <a:endParaRPr lang="en-US" sz="1300" dirty="0"/>
          </a:p>
        </p:txBody>
      </p:sp>
      <p:sp>
        <p:nvSpPr>
          <p:cNvPr id="39" name="App pill UAEICP"/>
          <p:cNvSpPr/>
          <p:nvPr/>
        </p:nvSpPr>
        <p:spPr>
          <a:xfrm>
            <a:off x="7543800" y="4572000"/>
            <a:ext cx="1280160" cy="502920"/>
          </a:xfrm>
          <a:prstGeom prst="roundRect">
            <a:avLst>
              <a:gd name="adj" fmla="val 49091"/>
            </a:avLst>
          </a:prstGeom>
          <a:solidFill>
            <a:schemeClr val="bg1"/>
          </a:solidFill>
          <a:ln w="12700">
            <a:solidFill>
              <a:schemeClr val="accent1"/>
            </a:solidFill>
            <a:prstDash val="solid"/>
          </a:ln>
        </p:spPr>
      </p:sp>
      <p:sp>
        <p:nvSpPr>
          <p:cNvPr id="40" name="Text 38"/>
          <p:cNvSpPr txBox="1"/>
          <p:nvPr/>
        </p:nvSpPr>
        <p:spPr>
          <a:xfrm>
            <a:off x="7543800"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UAEICP</a:t>
            </a:r>
            <a:endParaRPr lang="en-US" sz="1300" dirty="0"/>
          </a:p>
        </p:txBody>
      </p:sp>
      <p:sp>
        <p:nvSpPr>
          <p:cNvPr id="41" name="App pill TAMM"/>
          <p:cNvSpPr/>
          <p:nvPr/>
        </p:nvSpPr>
        <p:spPr>
          <a:xfrm>
            <a:off x="8942832" y="4572000"/>
            <a:ext cx="1280160" cy="502920"/>
          </a:xfrm>
          <a:prstGeom prst="roundRect">
            <a:avLst>
              <a:gd name="adj" fmla="val 49091"/>
            </a:avLst>
          </a:prstGeom>
          <a:solidFill>
            <a:schemeClr val="bg1"/>
          </a:solidFill>
          <a:ln w="12700">
            <a:solidFill>
              <a:schemeClr val="accent1"/>
            </a:solidFill>
            <a:prstDash val="solid"/>
          </a:ln>
        </p:spPr>
      </p:sp>
      <p:sp>
        <p:nvSpPr>
          <p:cNvPr id="42" name="Text 40"/>
          <p:cNvSpPr txBox="1"/>
          <p:nvPr/>
        </p:nvSpPr>
        <p:spPr>
          <a:xfrm>
            <a:off x="8942832"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TAMM</a:t>
            </a:r>
            <a:endParaRPr lang="en-US" sz="1300" dirty="0"/>
          </a:p>
        </p:txBody>
      </p:sp>
      <p:sp>
        <p:nvSpPr>
          <p:cNvPr id="43" name="App pill MOHRE"/>
          <p:cNvSpPr/>
          <p:nvPr/>
        </p:nvSpPr>
        <p:spPr>
          <a:xfrm>
            <a:off x="10341864" y="4572000"/>
            <a:ext cx="1280160" cy="502920"/>
          </a:xfrm>
          <a:prstGeom prst="roundRect">
            <a:avLst>
              <a:gd name="adj" fmla="val 49091"/>
            </a:avLst>
          </a:prstGeom>
          <a:solidFill>
            <a:schemeClr val="bg1"/>
          </a:solidFill>
          <a:ln w="12700">
            <a:solidFill>
              <a:schemeClr val="accent1"/>
            </a:solidFill>
            <a:prstDash val="solid"/>
          </a:ln>
        </p:spPr>
      </p:sp>
      <p:sp>
        <p:nvSpPr>
          <p:cNvPr id="44" name="Text 42"/>
          <p:cNvSpPr txBox="1"/>
          <p:nvPr/>
        </p:nvSpPr>
        <p:spPr>
          <a:xfrm>
            <a:off x="10341864" y="4572000"/>
            <a:ext cx="1280160" cy="502920"/>
          </a:xfrm>
          <a:prstGeom prst="rect">
            <a:avLst/>
          </a:prstGeom>
          <a:noFill/>
          <a:ln/>
        </p:spPr>
        <p:txBody>
          <a:bodyPr wrap="square" lIns="0" tIns="0" rIns="0" bIns="0" rtlCol="0" anchor="ctr"/>
          <a:lstStyle/>
          <a:p>
            <a:pPr algn="ctr" indent="0" marL="0">
              <a:buNone/>
            </a:pPr>
            <a:r>
              <a:rPr lang="en-US" sz="1300" dirty="0">
                <a:solidFill>
                  <a:schemeClr val="accent1"/>
                </a:solidFill>
              </a:rPr>
              <a:t>MOHRE</a:t>
            </a:r>
            <a:endParaRPr lang="en-US" sz="1300" dirty="0"/>
          </a:p>
        </p:txBody>
      </p:sp>
      <p:sp>
        <p:nvSpPr>
          <p:cNvPr id="45" name="Text 43"/>
          <p:cNvSpPr txBox="1"/>
          <p:nvPr/>
        </p:nvSpPr>
        <p:spPr>
          <a:xfrm>
            <a:off x="548640" y="5303520"/>
            <a:ext cx="11064240" cy="822960"/>
          </a:xfrm>
          <a:prstGeom prst="rect">
            <a:avLst/>
          </a:prstGeom>
          <a:noFill/>
          <a:ln/>
        </p:spPr>
        <p:txBody>
          <a:bodyPr wrap="square" lIns="0" tIns="0" rIns="0" bIns="0" rtlCol="0" anchor="t"/>
          <a:lstStyle/>
          <a:p>
            <a:pPr indent="0" marL="0">
              <a:spcAft>
                <a:spcPts val="800"/>
              </a:spcAft>
              <a:buNone/>
            </a:pPr>
            <a:r>
              <a:rPr lang="en-US" sz="1400" dirty="0">
                <a:solidFill>
                  <a:schemeClr val="accent3"/>
                </a:solidFill>
              </a:rPr>
              <a:t>For each review I keep the text, star rating, thumbs-up count, app version, date and the official reply. TAMM was not found on the store and the ICP and MOHRE searches returned other apps, so the data comes mostly from five large apps.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What the data looks like</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DATA</a:t>
            </a:r>
            <a:endParaRPr lang="en-US" sz="1200" dirty="0"/>
          </a:p>
        </p:txBody>
      </p:sp>
      <p:pic>
        <p:nvPicPr>
          <p:cNvPr id="4" name="Image 0" descr="Star ratings by app, language mix and review length">    </p:cNvPr>
          <p:cNvPicPr>
            <a:picLocks noChangeAspect="1"/>
          </p:cNvPicPr>
          <p:nvPr/>
        </p:nvPicPr>
        <p:blipFill>
          <a:blip r:embed="rId1"/>
          <a:stretch>
            <a:fillRect/>
          </a:stretch>
        </p:blipFill>
        <p:spPr>
          <a:xfrm>
            <a:off x="548640" y="1463040"/>
            <a:ext cx="11064240" cy="2659085"/>
          </a:xfrm>
          <a:prstGeom prst="rect">
            <a:avLst/>
          </a:prstGeom>
        </p:spPr>
      </p:pic>
      <p:sp>
        <p:nvSpPr>
          <p:cNvPr id="5" name="Polarised card"/>
          <p:cNvSpPr/>
          <p:nvPr/>
        </p:nvSpPr>
        <p:spPr>
          <a:xfrm>
            <a:off x="548640" y="4617720"/>
            <a:ext cx="3566160" cy="1325880"/>
          </a:xfrm>
          <a:prstGeom prst="roundRect">
            <a:avLst>
              <a:gd name="adj" fmla="val 6897"/>
            </a:avLst>
          </a:prstGeom>
          <a:solidFill>
            <a:schemeClr val="bg2"/>
          </a:solidFill>
          <a:ln w="12700">
            <a:solidFill>
              <a:schemeClr val="bg2"/>
            </a:solidFill>
            <a:prstDash val="solid"/>
          </a:ln>
        </p:spPr>
      </p:sp>
      <p:sp>
        <p:nvSpPr>
          <p:cNvPr id="6" name="Polarised value"/>
          <p:cNvSpPr txBox="1"/>
          <p:nvPr/>
        </p:nvSpPr>
        <p:spPr>
          <a:xfrm>
            <a:off x="777240" y="475488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Polarised</a:t>
            </a:r>
            <a:endParaRPr lang="en-US" sz="3600" dirty="0"/>
          </a:p>
        </p:txBody>
      </p:sp>
      <p:sp>
        <p:nvSpPr>
          <p:cNvPr id="7" name="Polarised label"/>
          <p:cNvSpPr txBox="1"/>
          <p:nvPr/>
        </p:nvSpPr>
        <p:spPr>
          <a:xfrm>
            <a:off x="777240" y="5440680"/>
            <a:ext cx="3108960" cy="411480"/>
          </a:xfrm>
          <a:prstGeom prst="rect">
            <a:avLst/>
          </a:prstGeom>
          <a:noFill/>
          <a:ln/>
        </p:spPr>
        <p:txBody>
          <a:bodyPr wrap="square" lIns="0" tIns="0" rIns="0" bIns="0" rtlCol="0" anchor="ctr"/>
          <a:lstStyle/>
          <a:p>
            <a:pPr indent="0" marL="0">
              <a:buNone/>
            </a:pPr>
            <a:r>
              <a:rPr lang="en-US" sz="1300" dirty="0">
                <a:solidFill>
                  <a:schemeClr val="tx1"/>
                </a:solidFill>
              </a:rPr>
              <a:t>mostly 1 or 5 stars, so neutral is rare</a:t>
            </a:r>
            <a:endParaRPr lang="en-US" sz="1300" dirty="0"/>
          </a:p>
        </p:txBody>
      </p:sp>
      <p:sp>
        <p:nvSpPr>
          <p:cNvPr id="8" name="Split card"/>
          <p:cNvSpPr/>
          <p:nvPr/>
        </p:nvSpPr>
        <p:spPr>
          <a:xfrm>
            <a:off x="4297680" y="4617720"/>
            <a:ext cx="3566160" cy="1325880"/>
          </a:xfrm>
          <a:prstGeom prst="roundRect">
            <a:avLst>
              <a:gd name="adj" fmla="val 6897"/>
            </a:avLst>
          </a:prstGeom>
          <a:solidFill>
            <a:schemeClr val="bg2"/>
          </a:solidFill>
          <a:ln w="12700">
            <a:solidFill>
              <a:schemeClr val="bg2"/>
            </a:solidFill>
            <a:prstDash val="solid"/>
          </a:ln>
        </p:spPr>
      </p:sp>
      <p:sp>
        <p:nvSpPr>
          <p:cNvPr id="9" name="Split value"/>
          <p:cNvSpPr txBox="1"/>
          <p:nvPr/>
        </p:nvSpPr>
        <p:spPr>
          <a:xfrm>
            <a:off x="4526280" y="475488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4,216 / 1,055</a:t>
            </a:r>
            <a:endParaRPr lang="en-US" sz="3600" dirty="0"/>
          </a:p>
        </p:txBody>
      </p:sp>
      <p:sp>
        <p:nvSpPr>
          <p:cNvPr id="10" name="Split label"/>
          <p:cNvSpPr txBox="1"/>
          <p:nvPr/>
        </p:nvSpPr>
        <p:spPr>
          <a:xfrm>
            <a:off x="4526280" y="5440680"/>
            <a:ext cx="3108960" cy="411480"/>
          </a:xfrm>
          <a:prstGeom prst="rect">
            <a:avLst/>
          </a:prstGeom>
          <a:noFill/>
          <a:ln/>
        </p:spPr>
        <p:txBody>
          <a:bodyPr wrap="square" lIns="0" tIns="0" rIns="0" bIns="0" rtlCol="0" anchor="ctr"/>
          <a:lstStyle/>
          <a:p>
            <a:pPr indent="0" marL="0">
              <a:buNone/>
            </a:pPr>
            <a:r>
              <a:rPr lang="en-US" sz="1300" dirty="0">
                <a:solidFill>
                  <a:schemeClr val="tx1"/>
                </a:solidFill>
              </a:rPr>
              <a:t>stratified train and test split</a:t>
            </a:r>
            <a:endParaRPr lang="en-US" sz="1300" dirty="0"/>
          </a:p>
        </p:txBody>
      </p:sp>
      <p:sp>
        <p:nvSpPr>
          <p:cNvPr id="11" name="Labels card"/>
          <p:cNvSpPr/>
          <p:nvPr/>
        </p:nvSpPr>
        <p:spPr>
          <a:xfrm>
            <a:off x="8046720" y="4617720"/>
            <a:ext cx="3566160" cy="1325880"/>
          </a:xfrm>
          <a:prstGeom prst="roundRect">
            <a:avLst>
              <a:gd name="adj" fmla="val 6897"/>
            </a:avLst>
          </a:prstGeom>
          <a:solidFill>
            <a:schemeClr val="bg2"/>
          </a:solidFill>
          <a:ln w="12700">
            <a:solidFill>
              <a:schemeClr val="bg2"/>
            </a:solidFill>
            <a:prstDash val="solid"/>
          </a:ln>
        </p:spPr>
      </p:sp>
      <p:sp>
        <p:nvSpPr>
          <p:cNvPr id="12" name="Labels value"/>
          <p:cNvSpPr txBox="1"/>
          <p:nvPr/>
        </p:nvSpPr>
        <p:spPr>
          <a:xfrm>
            <a:off x="8275320" y="4754880"/>
            <a:ext cx="31089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Weak labels</a:t>
            </a:r>
            <a:endParaRPr lang="en-US" sz="3600" dirty="0"/>
          </a:p>
        </p:txBody>
      </p:sp>
      <p:sp>
        <p:nvSpPr>
          <p:cNvPr id="13" name="Labels label"/>
          <p:cNvSpPr txBox="1"/>
          <p:nvPr/>
        </p:nvSpPr>
        <p:spPr>
          <a:xfrm>
            <a:off x="8275320" y="5440680"/>
            <a:ext cx="3108960" cy="411480"/>
          </a:xfrm>
          <a:prstGeom prst="rect">
            <a:avLst/>
          </a:prstGeom>
          <a:noFill/>
          <a:ln/>
        </p:spPr>
        <p:txBody>
          <a:bodyPr wrap="square" lIns="0" tIns="0" rIns="0" bIns="0" rtlCol="0" anchor="ctr"/>
          <a:lstStyle/>
          <a:p>
            <a:pPr indent="0" marL="0">
              <a:buNone/>
            </a:pPr>
            <a:r>
              <a:rPr lang="en-US" sz="1300" dirty="0">
                <a:solidFill>
                  <a:schemeClr val="tx1"/>
                </a:solidFill>
              </a:rPr>
              <a:t>1 to 2 stars negative, 3 neutral, 4 to 5 positive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From raw review to insight in five steps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PIPELINE</a:t>
            </a:r>
            <a:endParaRPr lang="en-US" sz="1200" dirty="0"/>
          </a:p>
        </p:txBody>
      </p:sp>
      <p:sp>
        <p:nvSpPr>
          <p:cNvPr id="4" name="Step 1"/>
          <p:cNvSpPr/>
          <p:nvPr/>
        </p:nvSpPr>
        <p:spPr>
          <a:xfrm>
            <a:off x="548640" y="1828800"/>
            <a:ext cx="1956816" cy="2377440"/>
          </a:xfrm>
          <a:prstGeom prst="roundRect">
            <a:avLst>
              <a:gd name="adj" fmla="val 4673"/>
            </a:avLst>
          </a:prstGeom>
          <a:solidFill>
            <a:schemeClr val="bg2"/>
          </a:solidFill>
          <a:ln w="12700">
            <a:solidFill>
              <a:schemeClr val="bg2"/>
            </a:solidFill>
            <a:prstDash val="solid"/>
          </a:ln>
        </p:spPr>
      </p:sp>
      <p:sp>
        <p:nvSpPr>
          <p:cNvPr id="5" name="Text 3"/>
          <p:cNvSpPr txBox="1"/>
          <p:nvPr/>
        </p:nvSpPr>
        <p:spPr>
          <a:xfrm>
            <a:off x="731520" y="19659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31520" y="23774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Collect</a:t>
            </a:r>
            <a:endParaRPr lang="en-US" sz="1700" dirty="0"/>
          </a:p>
        </p:txBody>
      </p:sp>
      <p:sp>
        <p:nvSpPr>
          <p:cNvPr id="7" name="Text 5"/>
          <p:cNvSpPr txBox="1"/>
          <p:nvPr/>
        </p:nvSpPr>
        <p:spPr>
          <a:xfrm>
            <a:off x="731520" y="2788920"/>
            <a:ext cx="1591056" cy="1325880"/>
          </a:xfrm>
          <a:prstGeom prst="rect">
            <a:avLst/>
          </a:prstGeom>
          <a:noFill/>
          <a:ln/>
        </p:spPr>
        <p:txBody>
          <a:bodyPr wrap="square" lIns="0" tIns="0" rIns="0" bIns="0" rtlCol="0" anchor="t"/>
          <a:lstStyle/>
          <a:p>
            <a:pPr indent="0" marL="0">
              <a:buNone/>
            </a:pPr>
            <a:r>
              <a:rPr lang="en-US" sz="1300" dirty="0">
                <a:solidFill>
                  <a:schemeClr val="tx1"/>
                </a:solidFill>
              </a:rPr>
              <a:t>Automatic Play Store scraper, English and Arabic</a:t>
            </a:r>
            <a:endParaRPr lang="en-US" sz="1300" dirty="0"/>
          </a:p>
        </p:txBody>
      </p:sp>
      <p:sp>
        <p:nvSpPr>
          <p:cNvPr id="8" name="Text 6"/>
          <p:cNvSpPr txBox="1"/>
          <p:nvPr/>
        </p:nvSpPr>
        <p:spPr>
          <a:xfrm>
            <a:off x="2505456" y="278892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9" name="Step 2"/>
          <p:cNvSpPr/>
          <p:nvPr/>
        </p:nvSpPr>
        <p:spPr>
          <a:xfrm>
            <a:off x="2825496" y="1828800"/>
            <a:ext cx="1956816" cy="2377440"/>
          </a:xfrm>
          <a:prstGeom prst="roundRect">
            <a:avLst>
              <a:gd name="adj" fmla="val 4673"/>
            </a:avLst>
          </a:prstGeom>
          <a:solidFill>
            <a:schemeClr val="bg2"/>
          </a:solidFill>
          <a:ln w="12700">
            <a:solidFill>
              <a:schemeClr val="bg2"/>
            </a:solidFill>
            <a:prstDash val="solid"/>
          </a:ln>
        </p:spPr>
      </p:sp>
      <p:sp>
        <p:nvSpPr>
          <p:cNvPr id="10" name="Text 8"/>
          <p:cNvSpPr txBox="1"/>
          <p:nvPr/>
        </p:nvSpPr>
        <p:spPr>
          <a:xfrm>
            <a:off x="3008376" y="19659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3008376" y="23774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Clean</a:t>
            </a:r>
            <a:endParaRPr lang="en-US" sz="1700" dirty="0"/>
          </a:p>
        </p:txBody>
      </p:sp>
      <p:sp>
        <p:nvSpPr>
          <p:cNvPr id="12" name="Text 10"/>
          <p:cNvSpPr txBox="1"/>
          <p:nvPr/>
        </p:nvSpPr>
        <p:spPr>
          <a:xfrm>
            <a:off x="3008376" y="2788920"/>
            <a:ext cx="1591056" cy="1325880"/>
          </a:xfrm>
          <a:prstGeom prst="rect">
            <a:avLst/>
          </a:prstGeom>
          <a:noFill/>
          <a:ln/>
        </p:spPr>
        <p:txBody>
          <a:bodyPr wrap="square" lIns="0" tIns="0" rIns="0" bIns="0" rtlCol="0" anchor="t"/>
          <a:lstStyle/>
          <a:p>
            <a:pPr indent="0" marL="0">
              <a:buNone/>
            </a:pPr>
            <a:r>
              <a:rPr lang="en-US" sz="1300" dirty="0">
                <a:solidFill>
                  <a:schemeClr val="tx1"/>
                </a:solidFill>
              </a:rPr>
              <a:t>NLTK, spaCy, CAMeL Tools</a:t>
            </a:r>
            <a:endParaRPr lang="en-US" sz="1300" dirty="0"/>
          </a:p>
        </p:txBody>
      </p:sp>
      <p:sp>
        <p:nvSpPr>
          <p:cNvPr id="13" name="Text 11"/>
          <p:cNvSpPr txBox="1"/>
          <p:nvPr/>
        </p:nvSpPr>
        <p:spPr>
          <a:xfrm>
            <a:off x="4782312" y="278892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4" name="Step 3"/>
          <p:cNvSpPr/>
          <p:nvPr/>
        </p:nvSpPr>
        <p:spPr>
          <a:xfrm>
            <a:off x="5102352" y="1828800"/>
            <a:ext cx="1956816" cy="2377440"/>
          </a:xfrm>
          <a:prstGeom prst="roundRect">
            <a:avLst>
              <a:gd name="adj" fmla="val 4673"/>
            </a:avLst>
          </a:prstGeom>
          <a:solidFill>
            <a:schemeClr val="bg2"/>
          </a:solidFill>
          <a:ln w="12700">
            <a:solidFill>
              <a:schemeClr val="bg2"/>
            </a:solidFill>
            <a:prstDash val="solid"/>
          </a:ln>
        </p:spPr>
      </p:sp>
      <p:sp>
        <p:nvSpPr>
          <p:cNvPr id="15" name="Text 13"/>
          <p:cNvSpPr txBox="1"/>
          <p:nvPr/>
        </p:nvSpPr>
        <p:spPr>
          <a:xfrm>
            <a:off x="5285232" y="19659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5285232" y="23774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Represent</a:t>
            </a:r>
            <a:endParaRPr lang="en-US" sz="1700" dirty="0"/>
          </a:p>
        </p:txBody>
      </p:sp>
      <p:sp>
        <p:nvSpPr>
          <p:cNvPr id="17" name="Text 15"/>
          <p:cNvSpPr txBox="1"/>
          <p:nvPr/>
        </p:nvSpPr>
        <p:spPr>
          <a:xfrm>
            <a:off x="5285232" y="2788920"/>
            <a:ext cx="1591056" cy="1325880"/>
          </a:xfrm>
          <a:prstGeom prst="rect">
            <a:avLst/>
          </a:prstGeom>
          <a:noFill/>
          <a:ln/>
        </p:spPr>
        <p:txBody>
          <a:bodyPr wrap="square" lIns="0" tIns="0" rIns="0" bIns="0" rtlCol="0" anchor="t"/>
          <a:lstStyle/>
          <a:p>
            <a:pPr indent="0" marL="0">
              <a:buNone/>
            </a:pPr>
            <a:r>
              <a:rPr lang="en-US" sz="1300" dirty="0">
                <a:solidFill>
                  <a:schemeClr val="tx1"/>
                </a:solidFill>
              </a:rPr>
              <a:t>BoW, TF-IDF, Word2Vec, BGE-M3</a:t>
            </a:r>
            <a:endParaRPr lang="en-US" sz="1300" dirty="0"/>
          </a:p>
        </p:txBody>
      </p:sp>
      <p:sp>
        <p:nvSpPr>
          <p:cNvPr id="18" name="Text 16"/>
          <p:cNvSpPr txBox="1"/>
          <p:nvPr/>
        </p:nvSpPr>
        <p:spPr>
          <a:xfrm>
            <a:off x="7059168" y="278892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9" name="Step 4"/>
          <p:cNvSpPr/>
          <p:nvPr/>
        </p:nvSpPr>
        <p:spPr>
          <a:xfrm>
            <a:off x="7379208" y="1828800"/>
            <a:ext cx="1956816" cy="2377440"/>
          </a:xfrm>
          <a:prstGeom prst="roundRect">
            <a:avLst>
              <a:gd name="adj" fmla="val 4673"/>
            </a:avLst>
          </a:prstGeom>
          <a:solidFill>
            <a:schemeClr val="bg2"/>
          </a:solidFill>
          <a:ln w="12700">
            <a:solidFill>
              <a:schemeClr val="bg2"/>
            </a:solidFill>
            <a:prstDash val="solid"/>
          </a:ln>
        </p:spPr>
      </p:sp>
      <p:sp>
        <p:nvSpPr>
          <p:cNvPr id="20" name="Text 18"/>
          <p:cNvSpPr txBox="1"/>
          <p:nvPr/>
        </p:nvSpPr>
        <p:spPr>
          <a:xfrm>
            <a:off x="7562088" y="196596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7562088" y="2377440"/>
            <a:ext cx="1591056" cy="411480"/>
          </a:xfrm>
          <a:prstGeom prst="rect">
            <a:avLst/>
          </a:prstGeom>
          <a:noFill/>
          <a:ln/>
        </p:spPr>
        <p:txBody>
          <a:bodyPr wrap="square" lIns="0" tIns="0" rIns="0" bIns="0" rtlCol="0" anchor="ctr"/>
          <a:lstStyle/>
          <a:p>
            <a:pPr indent="0" marL="0">
              <a:buNone/>
            </a:pPr>
            <a:r>
              <a:rPr lang="en-US" sz="1700" b="1" dirty="0">
                <a:solidFill>
                  <a:schemeClr val="accent1"/>
                </a:solidFill>
              </a:rPr>
              <a:t>Analyse</a:t>
            </a:r>
            <a:endParaRPr lang="en-US" sz="1700" dirty="0"/>
          </a:p>
        </p:txBody>
      </p:sp>
      <p:sp>
        <p:nvSpPr>
          <p:cNvPr id="22" name="Text 20"/>
          <p:cNvSpPr txBox="1"/>
          <p:nvPr/>
        </p:nvSpPr>
        <p:spPr>
          <a:xfrm>
            <a:off x="7562088" y="2788920"/>
            <a:ext cx="1591056" cy="1325880"/>
          </a:xfrm>
          <a:prstGeom prst="rect">
            <a:avLst/>
          </a:prstGeom>
          <a:noFill/>
          <a:ln/>
        </p:spPr>
        <p:txBody>
          <a:bodyPr wrap="square" lIns="0" tIns="0" rIns="0" bIns="0" rtlCol="0" anchor="t"/>
          <a:lstStyle/>
          <a:p>
            <a:pPr indent="0" marL="0">
              <a:buNone/>
            </a:pPr>
            <a:r>
              <a:rPr lang="en-US" sz="1300" dirty="0">
                <a:solidFill>
                  <a:schemeClr val="tx1"/>
                </a:solidFill>
              </a:rPr>
              <a:t>Sentiment, emotion, NER, issues, releases</a:t>
            </a:r>
            <a:endParaRPr lang="en-US" sz="1300" dirty="0"/>
          </a:p>
        </p:txBody>
      </p:sp>
      <p:sp>
        <p:nvSpPr>
          <p:cNvPr id="23" name="Text 21"/>
          <p:cNvSpPr txBox="1"/>
          <p:nvPr/>
        </p:nvSpPr>
        <p:spPr>
          <a:xfrm>
            <a:off x="9336024" y="278892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24" name="Step 5"/>
          <p:cNvSpPr/>
          <p:nvPr/>
        </p:nvSpPr>
        <p:spPr>
          <a:xfrm>
            <a:off x="9656064" y="1828800"/>
            <a:ext cx="1956816" cy="2377440"/>
          </a:xfrm>
          <a:prstGeom prst="roundRect">
            <a:avLst>
              <a:gd name="adj" fmla="val 4673"/>
            </a:avLst>
          </a:prstGeom>
          <a:solidFill>
            <a:schemeClr val="accent1"/>
          </a:solidFill>
          <a:ln w="12700">
            <a:solidFill>
              <a:schemeClr val="accent1"/>
            </a:solidFill>
            <a:prstDash val="solid"/>
          </a:ln>
        </p:spPr>
      </p:sp>
      <p:sp>
        <p:nvSpPr>
          <p:cNvPr id="25" name="Text 23"/>
          <p:cNvSpPr txBox="1"/>
          <p:nvPr/>
        </p:nvSpPr>
        <p:spPr>
          <a:xfrm>
            <a:off x="9838944" y="1965960"/>
            <a:ext cx="54864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6" name="Text 24"/>
          <p:cNvSpPr txBox="1"/>
          <p:nvPr/>
        </p:nvSpPr>
        <p:spPr>
          <a:xfrm>
            <a:off x="9838944" y="2377440"/>
            <a:ext cx="1591056" cy="411480"/>
          </a:xfrm>
          <a:prstGeom prst="rect">
            <a:avLst/>
          </a:prstGeom>
          <a:noFill/>
          <a:ln/>
        </p:spPr>
        <p:txBody>
          <a:bodyPr wrap="square" lIns="0" tIns="0" rIns="0" bIns="0" rtlCol="0" anchor="ctr"/>
          <a:lstStyle/>
          <a:p>
            <a:pPr indent="0" marL="0">
              <a:buNone/>
            </a:pPr>
            <a:r>
              <a:rPr lang="en-US" sz="1700" b="1" dirty="0">
                <a:solidFill>
                  <a:schemeClr val="bg1"/>
                </a:solidFill>
              </a:rPr>
              <a:t>Explain</a:t>
            </a:r>
            <a:endParaRPr lang="en-US" sz="1700" dirty="0"/>
          </a:p>
        </p:txBody>
      </p:sp>
      <p:sp>
        <p:nvSpPr>
          <p:cNvPr id="27" name="Text 25"/>
          <p:cNvSpPr txBox="1"/>
          <p:nvPr/>
        </p:nvSpPr>
        <p:spPr>
          <a:xfrm>
            <a:off x="9838944" y="2788920"/>
            <a:ext cx="1591056" cy="1325880"/>
          </a:xfrm>
          <a:prstGeom prst="rect">
            <a:avLst/>
          </a:prstGeom>
          <a:noFill/>
          <a:ln/>
        </p:spPr>
        <p:txBody>
          <a:bodyPr wrap="square" lIns="0" tIns="0" rIns="0" bIns="0" rtlCol="0" anchor="t"/>
          <a:lstStyle/>
          <a:p>
            <a:pPr indent="0" marL="0">
              <a:buNone/>
            </a:pPr>
            <a:r>
              <a:rPr lang="en-US" sz="1300" dirty="0">
                <a:solidFill>
                  <a:schemeClr val="bg1"/>
                </a:solidFill>
              </a:rPr>
              <a:t>Prompting, RAG with citations, replies</a:t>
            </a:r>
            <a:endParaRPr lang="en-US" sz="1300" dirty="0"/>
          </a:p>
        </p:txBody>
      </p:sp>
      <p:sp>
        <p:nvSpPr>
          <p:cNvPr id="28" name="Text 26"/>
          <p:cNvSpPr txBox="1"/>
          <p:nvPr/>
        </p:nvSpPr>
        <p:spPr>
          <a:xfrm>
            <a:off x="548640" y="4663440"/>
            <a:ext cx="11064240" cy="1097280"/>
          </a:xfrm>
          <a:prstGeom prst="rect">
            <a:avLst/>
          </a:prstGeom>
          <a:noFill/>
          <a:ln/>
        </p:spPr>
        <p:txBody>
          <a:bodyPr wrap="square" lIns="0" tIns="0" rIns="0" bIns="0" rtlCol="0" anchor="ctr"/>
          <a:lstStyle/>
          <a:p>
            <a:pPr algn="ctr" indent="0" marL="0">
              <a:spcAft>
                <a:spcPts val="800"/>
              </a:spcAft>
              <a:buNone/>
            </a:pPr>
            <a:r>
              <a:rPr lang="en-US" sz="1700" dirty="0">
                <a:solidFill>
                  <a:schemeClr val="tx1"/>
                </a:solidFill>
              </a:rPr>
              <a:t>The whole pipeline runs in about five minutes on a free Colab T4 GPU, and the same code powers the Streamlit app and the dashboard.</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Cleaning the text in two languages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PREPROCESSING</a:t>
            </a:r>
            <a:endParaRPr lang="en-US" sz="1200" dirty="0"/>
          </a:p>
        </p:txBody>
      </p:sp>
      <p:sp>
        <p:nvSpPr>
          <p:cNvPr id="4" name="English card"/>
          <p:cNvSpPr/>
          <p:nvPr/>
        </p:nvSpPr>
        <p:spPr>
          <a:xfrm>
            <a:off x="548640" y="1508760"/>
            <a:ext cx="5440680" cy="3749040"/>
          </a:xfrm>
          <a:prstGeom prst="roundRect">
            <a:avLst>
              <a:gd name="adj" fmla="val 2439"/>
            </a:avLst>
          </a:prstGeom>
          <a:solidFill>
            <a:schemeClr val="bg2"/>
          </a:solidFill>
          <a:ln w="12700">
            <a:solidFill>
              <a:schemeClr val="bg2"/>
            </a:solidFill>
            <a:prstDash val="solid"/>
          </a:ln>
        </p:spPr>
      </p:sp>
      <p:sp>
        <p:nvSpPr>
          <p:cNvPr id="5" name="Text 3"/>
          <p:cNvSpPr txBox="1"/>
          <p:nvPr/>
        </p:nvSpPr>
        <p:spPr>
          <a:xfrm>
            <a:off x="822960" y="1645920"/>
            <a:ext cx="489204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English</a:t>
            </a:r>
            <a:endParaRPr lang="en-US" sz="2200" dirty="0"/>
          </a:p>
        </p:txBody>
      </p:sp>
      <p:sp>
        <p:nvSpPr>
          <p:cNvPr id="6" name="Text 4"/>
          <p:cNvSpPr txBox="1"/>
          <p:nvPr/>
        </p:nvSpPr>
        <p:spPr>
          <a:xfrm>
            <a:off x="822960" y="2194560"/>
            <a:ext cx="4892040" cy="29260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Remove URLs, turn emoji into tokens</a:t>
            </a:r>
            <a:endParaRPr lang="en-US" sz="1500" dirty="0"/>
          </a:p>
          <a:p>
            <a:pPr marL="228600" indent="-228600">
              <a:spcAft>
                <a:spcPts val="600"/>
              </a:spcAft>
              <a:buSzPct val="100000"/>
              <a:buChar char="•"/>
            </a:pPr>
            <a:r>
              <a:rPr lang="en-US" sz="1500" dirty="0">
                <a:solidFill>
                  <a:schemeClr val="tx1"/>
                </a:solidFill>
              </a:rPr>
              <a:t>Lower-case, shorten repeated letters (soooo)</a:t>
            </a:r>
            <a:endParaRPr lang="en-US" sz="1500" dirty="0"/>
          </a:p>
          <a:p>
            <a:pPr marL="228600" indent="-228600">
              <a:spcAft>
                <a:spcPts val="600"/>
              </a:spcAft>
              <a:buSzPct val="100000"/>
              <a:buChar char="•"/>
            </a:pPr>
            <a:r>
              <a:rPr lang="en-US" sz="1500" dirty="0">
                <a:solidFill>
                  <a:schemeClr val="tx1"/>
                </a:solidFill>
              </a:rPr>
              <a:t>Tokenise with NLTK</a:t>
            </a:r>
            <a:endParaRPr lang="en-US" sz="1500" dirty="0"/>
          </a:p>
          <a:p>
            <a:pPr marL="228600" indent="-228600">
              <a:spcAft>
                <a:spcPts val="600"/>
              </a:spcAft>
              <a:buSzPct val="100000"/>
              <a:buChar char="•"/>
            </a:pPr>
            <a:r>
              <a:rPr lang="en-US" sz="1500" dirty="0">
                <a:solidFill>
                  <a:schemeClr val="tx1"/>
                </a:solidFill>
              </a:rPr>
              <a:t>Remove stop words, keep negations</a:t>
            </a:r>
            <a:endParaRPr lang="en-US" sz="1500" dirty="0"/>
          </a:p>
          <a:p>
            <a:pPr marL="228600" indent="-228600">
              <a:spcAft>
                <a:spcPts val="600"/>
              </a:spcAft>
              <a:buSzPct val="100000"/>
              <a:buChar char="•"/>
            </a:pPr>
            <a:r>
              <a:rPr lang="en-US" sz="1500" dirty="0">
                <a:solidFill>
                  <a:schemeClr val="tx1"/>
                </a:solidFill>
              </a:rPr>
              <a:t>Lemmatise with WordNet and spaCy</a:t>
            </a:r>
            <a:endParaRPr lang="en-US" sz="1500" dirty="0"/>
          </a:p>
          <a:p>
            <a:pPr marL="228600" indent="-228600">
              <a:spcAft>
                <a:spcPts val="600"/>
              </a:spcAft>
              <a:buSzPct val="100000"/>
              <a:buChar char="•"/>
            </a:pPr>
            <a:r>
              <a:rPr lang="en-US" sz="1500" dirty="0">
                <a:solidFill>
                  <a:schemeClr val="tx1"/>
                </a:solidFill>
              </a:rPr>
              <a:t>Compare Porter, Snowball and Lancaster stemmers</a:t>
            </a:r>
            <a:endParaRPr lang="en-US" sz="1500" dirty="0"/>
          </a:p>
        </p:txBody>
      </p:sp>
      <p:sp>
        <p:nvSpPr>
          <p:cNvPr id="7" name="Arabic card"/>
          <p:cNvSpPr/>
          <p:nvPr/>
        </p:nvSpPr>
        <p:spPr>
          <a:xfrm>
            <a:off x="6172200" y="1508760"/>
            <a:ext cx="5440680" cy="3749040"/>
          </a:xfrm>
          <a:prstGeom prst="roundRect">
            <a:avLst>
              <a:gd name="adj" fmla="val 2439"/>
            </a:avLst>
          </a:prstGeom>
          <a:solidFill>
            <a:schemeClr val="bg2"/>
          </a:solidFill>
          <a:ln w="12700">
            <a:solidFill>
              <a:schemeClr val="bg2"/>
            </a:solidFill>
            <a:prstDash val="solid"/>
          </a:ln>
        </p:spPr>
      </p:sp>
      <p:sp>
        <p:nvSpPr>
          <p:cNvPr id="8" name="Text 6"/>
          <p:cNvSpPr txBox="1"/>
          <p:nvPr/>
        </p:nvSpPr>
        <p:spPr>
          <a:xfrm>
            <a:off x="6446520" y="1645920"/>
            <a:ext cx="489204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Arabic</a:t>
            </a:r>
            <a:endParaRPr lang="en-US" sz="2200" dirty="0"/>
          </a:p>
        </p:txBody>
      </p:sp>
      <p:sp>
        <p:nvSpPr>
          <p:cNvPr id="9" name="Text 7"/>
          <p:cNvSpPr txBox="1"/>
          <p:nvPr/>
        </p:nvSpPr>
        <p:spPr>
          <a:xfrm>
            <a:off x="6446520" y="2194560"/>
            <a:ext cx="4892040" cy="29260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Normalise letters with CAMeL Tools (أ إ آ → ا, ى → ي, ة → ه)</a:t>
            </a:r>
            <a:endParaRPr lang="en-US" sz="1500" dirty="0"/>
          </a:p>
          <a:p>
            <a:pPr marL="228600" indent="-228600">
              <a:spcAft>
                <a:spcPts val="600"/>
              </a:spcAft>
              <a:buSzPct val="100000"/>
              <a:buChar char="•"/>
            </a:pPr>
            <a:r>
              <a:rPr lang="en-US" sz="1500" dirty="0">
                <a:solidFill>
                  <a:schemeClr val="tx1"/>
                </a:solidFill>
              </a:rPr>
              <a:t>Remove diacritics and tatweel</a:t>
            </a:r>
            <a:endParaRPr lang="en-US" sz="1500" dirty="0"/>
          </a:p>
          <a:p>
            <a:pPr marL="228600" indent="-228600">
              <a:spcAft>
                <a:spcPts val="600"/>
              </a:spcAft>
              <a:buSzPct val="100000"/>
              <a:buChar char="•"/>
            </a:pPr>
            <a:r>
              <a:rPr lang="en-US" sz="1500" dirty="0">
                <a:solidFill>
                  <a:schemeClr val="tx1"/>
                </a:solidFill>
              </a:rPr>
              <a:t>Map Arabic-Indic digits to 0 to 9</a:t>
            </a:r>
            <a:endParaRPr lang="en-US" sz="1500" dirty="0"/>
          </a:p>
          <a:p>
            <a:pPr marL="228600" indent="-228600">
              <a:spcAft>
                <a:spcPts val="600"/>
              </a:spcAft>
              <a:buSzPct val="100000"/>
              <a:buChar char="•"/>
            </a:pPr>
            <a:r>
              <a:rPr lang="en-US" sz="1500" dirty="0">
                <a:solidFill>
                  <a:schemeClr val="tx1"/>
                </a:solidFill>
              </a:rPr>
              <a:t>Remove stop words, keep negations (لا, لم, لن, ليس)</a:t>
            </a:r>
            <a:endParaRPr lang="en-US" sz="1500" dirty="0"/>
          </a:p>
          <a:p>
            <a:pPr marL="228600" indent="-228600">
              <a:spcAft>
                <a:spcPts val="600"/>
              </a:spcAft>
              <a:buSzPct val="100000"/>
              <a:buChar char="•"/>
            </a:pPr>
            <a:r>
              <a:rPr lang="en-US" sz="1500" dirty="0">
                <a:solidFill>
                  <a:schemeClr val="tx1"/>
                </a:solidFill>
              </a:rPr>
              <a:t>ISRI root stemmer or my light stemmer</a:t>
            </a:r>
            <a:endParaRPr lang="en-US" sz="1500" dirty="0"/>
          </a:p>
          <a:p>
            <a:pPr marL="228600" indent="-228600">
              <a:spcAft>
                <a:spcPts val="600"/>
              </a:spcAft>
              <a:buSzPct val="100000"/>
              <a:buChar char="•"/>
            </a:pPr>
            <a:r>
              <a:rPr lang="en-US" sz="1500" dirty="0">
                <a:solidFill>
                  <a:schemeClr val="tx1"/>
                </a:solidFill>
              </a:rPr>
              <a:t>Language detected from the share of Arabic letters</a:t>
            </a:r>
            <a:endParaRPr lang="en-US" sz="1500" dirty="0"/>
          </a:p>
        </p:txBody>
      </p:sp>
      <p:sp>
        <p:nvSpPr>
          <p:cNvPr id="10" name="Key decision"/>
          <p:cNvSpPr/>
          <p:nvPr/>
        </p:nvSpPr>
        <p:spPr>
          <a:xfrm>
            <a:off x="548640" y="5440680"/>
            <a:ext cx="11064240" cy="777240"/>
          </a:xfrm>
          <a:prstGeom prst="roundRect">
            <a:avLst>
              <a:gd name="adj" fmla="val 11765"/>
            </a:avLst>
          </a:prstGeom>
          <a:solidFill>
            <a:schemeClr val="accent1"/>
          </a:solidFill>
          <a:ln w="12700">
            <a:solidFill>
              <a:schemeClr val="accent1"/>
            </a:solidFill>
            <a:prstDash val="solid"/>
          </a:ln>
        </p:spPr>
      </p:sp>
      <p:sp>
        <p:nvSpPr>
          <p:cNvPr id="11" name="Text 9"/>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600" b="1" dirty="0">
                <a:solidFill>
                  <a:schemeClr val="bg1"/>
                </a:solidFill>
              </a:rPr>
              <a:t>Key decision: negations stay in, otherwise "not working" becomes "working" and the sentiment flips.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Arabic stemming cuts the vocabulary in half</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PREPROCESSING</a:t>
            </a:r>
            <a:endParaRPr lang="en-US" sz="12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Arabic stem card"/>
          <p:cNvSpPr/>
          <p:nvPr/>
        </p:nvSpPr>
        <p:spPr>
          <a:xfrm>
            <a:off x="7863840" y="1554480"/>
            <a:ext cx="3749040" cy="1325880"/>
          </a:xfrm>
          <a:prstGeom prst="roundRect">
            <a:avLst>
              <a:gd name="adj" fmla="val 6897"/>
            </a:avLst>
          </a:prstGeom>
          <a:solidFill>
            <a:schemeClr val="bg2"/>
          </a:solidFill>
          <a:ln w="12700">
            <a:solidFill>
              <a:schemeClr val="bg2"/>
            </a:solidFill>
            <a:prstDash val="solid"/>
          </a:ln>
        </p:spPr>
      </p:sp>
      <p:sp>
        <p:nvSpPr>
          <p:cNvPr id="6" name="Arabic stem value"/>
          <p:cNvSpPr txBox="1"/>
          <p:nvPr/>
        </p:nvSpPr>
        <p:spPr>
          <a:xfrm>
            <a:off x="8092440" y="1691640"/>
            <a:ext cx="329184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1,456</a:t>
            </a:r>
            <a:endParaRPr lang="en-US" sz="3600" dirty="0"/>
          </a:p>
        </p:txBody>
      </p:sp>
      <p:sp>
        <p:nvSpPr>
          <p:cNvPr id="7" name="Arabic stem label"/>
          <p:cNvSpPr txBox="1"/>
          <p:nvPr/>
        </p:nvSpPr>
        <p:spPr>
          <a:xfrm>
            <a:off x="8092440" y="2377440"/>
            <a:ext cx="3291840" cy="411480"/>
          </a:xfrm>
          <a:prstGeom prst="rect">
            <a:avLst/>
          </a:prstGeom>
          <a:noFill/>
          <a:ln/>
        </p:spPr>
        <p:txBody>
          <a:bodyPr wrap="square" lIns="0" tIns="0" rIns="0" bIns="0" rtlCol="0" anchor="ctr"/>
          <a:lstStyle/>
          <a:p>
            <a:pPr indent="0" marL="0">
              <a:buNone/>
            </a:pPr>
            <a:r>
              <a:rPr lang="en-US" sz="1300" dirty="0">
                <a:solidFill>
                  <a:schemeClr val="tx1"/>
                </a:solidFill>
              </a:rPr>
              <a:t>Arabic word types after stemming, down from 3,106</a:t>
            </a:r>
            <a:endParaRPr lang="en-US" sz="1300" dirty="0"/>
          </a:p>
        </p:txBody>
      </p:sp>
      <p:sp>
        <p:nvSpPr>
          <p:cNvPr id="8" name="Text 5"/>
          <p:cNvSpPr txBox="1"/>
          <p:nvPr/>
        </p:nvSpPr>
        <p:spPr>
          <a:xfrm>
            <a:off x="7863840" y="3108960"/>
            <a:ext cx="374904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Removing stop words changes little: they are frequent but few.</a:t>
            </a:r>
            <a:endParaRPr lang="en-US" sz="1500" dirty="0"/>
          </a:p>
          <a:p>
            <a:pPr marL="228600" indent="-228600">
              <a:spcAft>
                <a:spcPts val="800"/>
              </a:spcAft>
              <a:buSzPct val="100000"/>
              <a:buChar char="•"/>
            </a:pPr>
            <a:r>
              <a:rPr lang="en-US" sz="1500" dirty="0">
                <a:solidFill>
                  <a:schemeClr val="tx1"/>
                </a:solidFill>
              </a:rPr>
              <a:t>Many Arabic words share one root with prefixes and suffixes, so stemming merges them.</a:t>
            </a:r>
            <a:endParaRPr lang="en-US" sz="1500" dirty="0"/>
          </a:p>
          <a:p>
            <a:pPr marL="228600" indent="-228600">
              <a:spcAft>
                <a:spcPts val="800"/>
              </a:spcAft>
              <a:buSzPct val="100000"/>
              <a:buChar char="•"/>
            </a:pPr>
            <a:r>
              <a:rPr lang="en-US" sz="1500" dirty="0">
                <a:solidFill>
                  <a:schemeClr val="tx1"/>
                </a:solidFill>
              </a:rPr>
              <a:t>Stemming also merges different meanings, so I used lemmas as features.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What people actually say</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 LINGUISTIC ANALYSIS</a:t>
            </a:r>
            <a:endParaRPr lang="en-US" sz="1200" dirty="0"/>
          </a:p>
        </p:txBody>
      </p:sp>
      <p:pic>
        <p:nvPicPr>
          <p:cNvPr id="4" name="Image 0" descr="Most frequent bigrams per language and class">    </p:cNvPr>
          <p:cNvPicPr>
            <a:picLocks noChangeAspect="1"/>
          </p:cNvPicPr>
          <p:nvPr/>
        </p:nvPicPr>
        <p:blipFill>
          <a:blip r:embed="rId1"/>
          <a:stretch>
            <a:fillRect/>
          </a:stretch>
        </p:blipFill>
        <p:spPr>
          <a:xfrm>
            <a:off x="548640" y="1417320"/>
            <a:ext cx="6949440" cy="3929855"/>
          </a:xfrm>
          <a:prstGeom prst="rect">
            <a:avLst/>
          </a:prstGeom>
        </p:spPr>
      </p:pic>
      <p:sp>
        <p:nvSpPr>
          <p:cNvPr id="5" name="Aspect rules card"/>
          <p:cNvSpPr/>
          <p:nvPr/>
        </p:nvSpPr>
        <p:spPr>
          <a:xfrm>
            <a:off x="7772400" y="1463040"/>
            <a:ext cx="3840480" cy="4663440"/>
          </a:xfrm>
          <a:prstGeom prst="roundRect">
            <a:avLst>
              <a:gd name="adj" fmla="val 2381"/>
            </a:avLst>
          </a:prstGeom>
          <a:solidFill>
            <a:schemeClr val="bg2"/>
          </a:solidFill>
          <a:ln w="12700">
            <a:solidFill>
              <a:schemeClr val="bg2"/>
            </a:solidFill>
            <a:prstDash val="solid"/>
          </a:ln>
        </p:spPr>
      </p:sp>
      <p:sp>
        <p:nvSpPr>
          <p:cNvPr id="6" name="Text 3"/>
          <p:cNvSpPr txBox="1"/>
          <p:nvPr/>
        </p:nvSpPr>
        <p:spPr>
          <a:xfrm>
            <a:off x="8001000" y="1600200"/>
            <a:ext cx="34747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spaCy dependency rules</a:t>
            </a:r>
            <a:endParaRPr lang="en-US" sz="1800" dirty="0"/>
          </a:p>
        </p:txBody>
      </p:sp>
      <p:sp>
        <p:nvSpPr>
          <p:cNvPr id="7" name="Text 4"/>
          <p:cNvSpPr txBox="1"/>
          <p:nvPr/>
        </p:nvSpPr>
        <p:spPr>
          <a:xfrm>
            <a:off x="8001000" y="2103120"/>
            <a:ext cx="3474720" cy="3840480"/>
          </a:xfrm>
          <a:prstGeom prst="rect">
            <a:avLst/>
          </a:prstGeom>
          <a:noFill/>
          <a:ln/>
        </p:spPr>
        <p:txBody>
          <a:bodyPr wrap="square" lIns="0" tIns="0" rIns="0" bIns="0" rtlCol="0" anchor="t"/>
          <a:lstStyle/>
          <a:p>
            <a:pPr indent="0" marL="0">
              <a:buNone/>
            </a:pPr>
            <a:r>
              <a:rPr lang="en-US" sz="1400" b="1" dirty="0">
                <a:solidFill>
                  <a:schemeClr val="tx1"/>
                </a:solidFill>
              </a:rPr>
              <a:t>slow login</a:t>
            </a:r>
            <a:endParaRPr lang="en-US" sz="1400" dirty="0"/>
          </a:p>
          <a:p>
            <a:pPr indent="0" marL="0">
              <a:buNone/>
            </a:pPr>
            <a:r>
              <a:rPr lang="en-US" sz="1400" dirty="0">
                <a:solidFill>
                  <a:schemeClr val="tx1"/>
                </a:solidFill>
              </a:rPr>
              <a:t>adjective modifier → login: slow</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the app is useless</a:t>
            </a:r>
            <a:endParaRPr lang="en-US" sz="1400" dirty="0"/>
          </a:p>
          <a:p>
            <a:pPr indent="0" marL="0">
              <a:buNone/>
            </a:pPr>
            <a:r>
              <a:rPr lang="en-US" sz="1400" dirty="0">
                <a:solidFill>
                  <a:schemeClr val="tx1"/>
                </a:solidFill>
              </a:rPr>
              <a:t>subject + complement → app: useless</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the OTP never arrives</a:t>
            </a:r>
            <a:endParaRPr lang="en-US" sz="1400" dirty="0"/>
          </a:p>
          <a:p>
            <a:pPr indent="0" marL="0">
              <a:buNone/>
            </a:pPr>
            <a:r>
              <a:rPr lang="en-US" sz="1400" dirty="0">
                <a:solidFill>
                  <a:schemeClr val="tx1"/>
                </a:solidFill>
              </a:rPr>
              <a:t>negated verb → otp: not arrive</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accent3"/>
                </a:solidFill>
              </a:rPr>
              <a:t>Plus POS tags, Matcher patterns and subject-verb-object triples.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03</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Models</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Turning text into numbers and measuring how people feel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BGE-M3 is the best way to turn reviews into numbers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REPRESENTATIONS</a:t>
            </a:r>
            <a:endParaRPr lang="en-US" sz="12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P5 card"/>
          <p:cNvSpPr/>
          <p:nvPr/>
        </p:nvSpPr>
        <p:spPr>
          <a:xfrm>
            <a:off x="7863840" y="1554480"/>
            <a:ext cx="3749040" cy="1325880"/>
          </a:xfrm>
          <a:prstGeom prst="roundRect">
            <a:avLst>
              <a:gd name="adj" fmla="val 6897"/>
            </a:avLst>
          </a:prstGeom>
          <a:solidFill>
            <a:schemeClr val="bg2"/>
          </a:solidFill>
          <a:ln w="12700">
            <a:solidFill>
              <a:schemeClr val="bg2"/>
            </a:solidFill>
            <a:prstDash val="solid"/>
          </a:ln>
        </p:spPr>
      </p:sp>
      <p:sp>
        <p:nvSpPr>
          <p:cNvPr id="6" name="P5 value"/>
          <p:cNvSpPr txBox="1"/>
          <p:nvPr/>
        </p:nvSpPr>
        <p:spPr>
          <a:xfrm>
            <a:off x="8092440" y="16916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0.866</a:t>
            </a:r>
            <a:endParaRPr lang="en-US" sz="3600" dirty="0"/>
          </a:p>
        </p:txBody>
      </p:sp>
      <p:sp>
        <p:nvSpPr>
          <p:cNvPr id="7" name="P5 label"/>
          <p:cNvSpPr txBox="1"/>
          <p:nvPr/>
        </p:nvSpPr>
        <p:spPr>
          <a:xfrm>
            <a:off x="8092440" y="2377440"/>
            <a:ext cx="3291840" cy="411480"/>
          </a:xfrm>
          <a:prstGeom prst="rect">
            <a:avLst/>
          </a:prstGeom>
          <a:noFill/>
          <a:ln/>
        </p:spPr>
        <p:txBody>
          <a:bodyPr wrap="square" lIns="0" tIns="0" rIns="0" bIns="0" rtlCol="0" anchor="ctr"/>
          <a:lstStyle/>
          <a:p>
            <a:pPr indent="0" marL="0">
              <a:buNone/>
            </a:pPr>
            <a:r>
              <a:rPr lang="en-US" sz="1300" dirty="0">
                <a:solidFill>
                  <a:schemeClr val="tx1"/>
                </a:solidFill>
              </a:rPr>
              <a:t>precision@5 with BGE-M3, the best of the four</a:t>
            </a:r>
            <a:endParaRPr lang="en-US" sz="1300" dirty="0"/>
          </a:p>
        </p:txBody>
      </p:sp>
      <p:sp>
        <p:nvSpPr>
          <p:cNvPr id="8" name="Text 5"/>
          <p:cNvSpPr txBox="1"/>
          <p:nvPr/>
        </p:nvSpPr>
        <p:spPr>
          <a:xfrm>
            <a:off x="7863840" y="3108960"/>
            <a:ext cx="374904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Same logistic regression classifier on every representation.</a:t>
            </a:r>
            <a:endParaRPr lang="en-US" sz="1500" dirty="0"/>
          </a:p>
          <a:p>
            <a:pPr marL="228600" indent="-228600">
              <a:spcAft>
                <a:spcPts val="800"/>
              </a:spcAft>
              <a:buSzPct val="100000"/>
              <a:buChar char="•"/>
            </a:pPr>
            <a:r>
              <a:rPr lang="en-US" sz="1500" dirty="0">
                <a:solidFill>
                  <a:schemeClr val="tx1"/>
                </a:solidFill>
              </a:rPr>
              <a:t>BoW and TF-IDF count words, Word2Vec was trained on my reviews.</a:t>
            </a:r>
            <a:endParaRPr lang="en-US" sz="1500" dirty="0"/>
          </a:p>
          <a:p>
            <a:pPr marL="228600" indent="-228600">
              <a:spcAft>
                <a:spcPts val="800"/>
              </a:spcAft>
              <a:buSzPct val="100000"/>
              <a:buChar char="•"/>
            </a:pPr>
            <a:r>
              <a:rPr lang="en-US" sz="1500" dirty="0">
                <a:solidFill>
                  <a:schemeClr val="tx1"/>
                </a:solidFill>
              </a:rPr>
              <a:t>BGE-M3 is pre-trained and multilingual, 1024 dimensions.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One meaning, two languages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REPRESENTATIONS</a:t>
            </a:r>
            <a:endParaRPr lang="en-US" sz="1200" dirty="0"/>
          </a:p>
        </p:txBody>
      </p:sp>
      <p:pic>
        <p:nvPicPr>
          <p:cNvPr id="4" name="Image 0" descr="BGE-M3 embeddings projected with PCA">    </p:cNvPr>
          <p:cNvPicPr>
            <a:picLocks noChangeAspect="1"/>
          </p:cNvPicPr>
          <p:nvPr/>
        </p:nvPicPr>
        <p:blipFill>
          <a:blip r:embed="rId1"/>
          <a:stretch>
            <a:fillRect/>
          </a:stretch>
        </p:blipFill>
        <p:spPr>
          <a:xfrm>
            <a:off x="548640" y="1463040"/>
            <a:ext cx="11064240" cy="2408755"/>
          </a:xfrm>
          <a:prstGeom prst="rect">
            <a:avLst/>
          </a:prstGeom>
        </p:spPr>
      </p:pic>
      <p:sp>
        <p:nvSpPr>
          <p:cNvPr id="5" name="Overlap card"/>
          <p:cNvSpPr/>
          <p:nvPr/>
        </p:nvSpPr>
        <p:spPr>
          <a:xfrm>
            <a:off x="548640" y="4206240"/>
            <a:ext cx="3566160" cy="1325880"/>
          </a:xfrm>
          <a:prstGeom prst="roundRect">
            <a:avLst>
              <a:gd name="adj" fmla="val 6897"/>
            </a:avLst>
          </a:prstGeom>
          <a:solidFill>
            <a:schemeClr val="bg2"/>
          </a:solidFill>
          <a:ln w="12700">
            <a:solidFill>
              <a:schemeClr val="bg2"/>
            </a:solidFill>
            <a:prstDash val="solid"/>
          </a:ln>
        </p:spPr>
      </p:sp>
      <p:sp>
        <p:nvSpPr>
          <p:cNvPr id="6" name="Overlap value"/>
          <p:cNvSpPr txBox="1"/>
          <p:nvPr/>
        </p:nvSpPr>
        <p:spPr>
          <a:xfrm>
            <a:off x="777240" y="434340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0.36 vs 0</a:t>
            </a:r>
            <a:endParaRPr lang="en-US" sz="3600" dirty="0"/>
          </a:p>
        </p:txBody>
      </p:sp>
      <p:sp>
        <p:nvSpPr>
          <p:cNvPr id="7" name="Overlap label"/>
          <p:cNvSpPr txBox="1"/>
          <p:nvPr/>
        </p:nvSpPr>
        <p:spPr>
          <a:xfrm>
            <a:off x="777240" y="5029200"/>
            <a:ext cx="3108960" cy="411480"/>
          </a:xfrm>
          <a:prstGeom prst="rect">
            <a:avLst/>
          </a:prstGeom>
          <a:noFill/>
          <a:ln/>
        </p:spPr>
        <p:txBody>
          <a:bodyPr wrap="square" lIns="0" tIns="0" rIns="0" bIns="0" rtlCol="0" anchor="ctr"/>
          <a:lstStyle/>
          <a:p>
            <a:pPr indent="0" marL="0">
              <a:buNone/>
            </a:pPr>
            <a:r>
              <a:rPr lang="en-US" sz="1300" dirty="0">
                <a:solidFill>
                  <a:schemeClr val="tx1"/>
                </a:solidFill>
              </a:rPr>
              <a:t>top-10 overlap for the same question in English and Arabic</a:t>
            </a:r>
            <a:endParaRPr lang="en-US" sz="1300" dirty="0"/>
          </a:p>
        </p:txBody>
      </p:sp>
      <p:sp>
        <p:nvSpPr>
          <p:cNvPr id="8" name="Arabic share card"/>
          <p:cNvSpPr/>
          <p:nvPr/>
        </p:nvSpPr>
        <p:spPr>
          <a:xfrm>
            <a:off x="4297680" y="4206240"/>
            <a:ext cx="3566160" cy="1325880"/>
          </a:xfrm>
          <a:prstGeom prst="roundRect">
            <a:avLst>
              <a:gd name="adj" fmla="val 6897"/>
            </a:avLst>
          </a:prstGeom>
          <a:solidFill>
            <a:schemeClr val="bg2"/>
          </a:solidFill>
          <a:ln w="12700">
            <a:solidFill>
              <a:schemeClr val="bg2"/>
            </a:solidFill>
            <a:prstDash val="solid"/>
          </a:ln>
        </p:spPr>
      </p:sp>
      <p:sp>
        <p:nvSpPr>
          <p:cNvPr id="9" name="Arabic share value"/>
          <p:cNvSpPr txBox="1"/>
          <p:nvPr/>
        </p:nvSpPr>
        <p:spPr>
          <a:xfrm>
            <a:off x="4526280" y="434340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20%</a:t>
            </a:r>
            <a:endParaRPr lang="en-US" sz="3600" dirty="0"/>
          </a:p>
        </p:txBody>
      </p:sp>
      <p:sp>
        <p:nvSpPr>
          <p:cNvPr id="10" name="Arabic share label"/>
          <p:cNvSpPr txBox="1"/>
          <p:nvPr/>
        </p:nvSpPr>
        <p:spPr>
          <a:xfrm>
            <a:off x="4526280" y="5029200"/>
            <a:ext cx="3108960" cy="411480"/>
          </a:xfrm>
          <a:prstGeom prst="rect">
            <a:avLst/>
          </a:prstGeom>
          <a:noFill/>
          <a:ln/>
        </p:spPr>
        <p:txBody>
          <a:bodyPr wrap="square" lIns="0" tIns="0" rIns="0" bIns="0" rtlCol="0" anchor="ctr"/>
          <a:lstStyle/>
          <a:p>
            <a:pPr indent="0" marL="0">
              <a:buNone/>
            </a:pPr>
            <a:r>
              <a:rPr lang="en-US" sz="1300" dirty="0">
                <a:solidFill>
                  <a:schemeClr val="tx1"/>
                </a:solidFill>
              </a:rPr>
              <a:t>of results for an English query are Arabic reviews</a:t>
            </a:r>
            <a:endParaRPr lang="en-US" sz="1300" dirty="0"/>
          </a:p>
        </p:txBody>
      </p:sp>
      <p:sp>
        <p:nvSpPr>
          <p:cNvPr id="11" name="Why card"/>
          <p:cNvSpPr/>
          <p:nvPr/>
        </p:nvSpPr>
        <p:spPr>
          <a:xfrm>
            <a:off x="8046720" y="4206240"/>
            <a:ext cx="3566160" cy="1325880"/>
          </a:xfrm>
          <a:prstGeom prst="roundRect">
            <a:avLst>
              <a:gd name="adj" fmla="val 6897"/>
            </a:avLst>
          </a:prstGeom>
          <a:solidFill>
            <a:schemeClr val="accent1"/>
          </a:solidFill>
          <a:ln w="12700">
            <a:solidFill>
              <a:schemeClr val="accent1"/>
            </a:solidFill>
            <a:prstDash val="solid"/>
          </a:ln>
        </p:spPr>
      </p:sp>
      <p:sp>
        <p:nvSpPr>
          <p:cNvPr id="12" name="Text 9"/>
          <p:cNvSpPr txBox="1"/>
          <p:nvPr/>
        </p:nvSpPr>
        <p:spPr>
          <a:xfrm>
            <a:off x="8275320" y="4206240"/>
            <a:ext cx="3108960" cy="1325880"/>
          </a:xfrm>
          <a:prstGeom prst="rect">
            <a:avLst/>
          </a:prstGeom>
          <a:noFill/>
          <a:ln/>
        </p:spPr>
        <p:txBody>
          <a:bodyPr wrap="square" lIns="0" tIns="0" rIns="0" bIns="0" rtlCol="0" anchor="ctr"/>
          <a:lstStyle/>
          <a:p>
            <a:pPr indent="0" marL="0">
              <a:buNone/>
            </a:pPr>
            <a:r>
              <a:rPr lang="en-US" sz="1400" b="1" dirty="0">
                <a:solidFill>
                  <a:schemeClr val="bg1"/>
                </a:solidFill>
              </a:rPr>
              <a:t>TF-IDF needs the same words, so English never finds Arabic. BGE-M3 matches by meaning.</a:t>
            </a:r>
            <a:endParaRPr lang="en-US" sz="1400" dirty="0"/>
          </a:p>
        </p:txBody>
      </p:sp>
      <p:sp>
        <p:nvSpPr>
          <p:cNvPr id="13" name="Text 10"/>
          <p:cNvSpPr txBox="1"/>
          <p:nvPr/>
        </p:nvSpPr>
        <p:spPr>
          <a:xfrm>
            <a:off x="548640" y="5715000"/>
            <a:ext cx="11064240" cy="457200"/>
          </a:xfrm>
          <a:prstGeom prst="rect">
            <a:avLst/>
          </a:prstGeom>
          <a:noFill/>
          <a:ln/>
        </p:spPr>
        <p:txBody>
          <a:bodyPr wrap="square" lIns="0" tIns="0" rIns="0" bIns="0" rtlCol="0" anchor="t"/>
          <a:lstStyle/>
          <a:p>
            <a:pPr indent="0" marL="0">
              <a:spcAft>
                <a:spcPts val="800"/>
              </a:spcAft>
              <a:buNone/>
            </a:pPr>
            <a:r>
              <a:rPr lang="en-US" sz="1500" dirty="0">
                <a:solidFill>
                  <a:schemeClr val="accent3"/>
                </a:solidFill>
              </a:rPr>
              <a:t>This is why search, issue discovery and RAG are all built on BGE-M3.</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From a word list to a fine-tuned transformer</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SENTIMENT</a:t>
            </a:r>
            <a:endParaRPr lang="en-US" sz="12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Accuracy card"/>
          <p:cNvSpPr/>
          <p:nvPr/>
        </p:nvSpPr>
        <p:spPr>
          <a:xfrm>
            <a:off x="7863840" y="1554480"/>
            <a:ext cx="3749040" cy="1325880"/>
          </a:xfrm>
          <a:prstGeom prst="roundRect">
            <a:avLst>
              <a:gd name="adj" fmla="val 6897"/>
            </a:avLst>
          </a:prstGeom>
          <a:solidFill>
            <a:schemeClr val="bg2"/>
          </a:solidFill>
          <a:ln w="12700">
            <a:solidFill>
              <a:schemeClr val="bg2"/>
            </a:solidFill>
            <a:prstDash val="solid"/>
          </a:ln>
        </p:spPr>
      </p:sp>
      <p:sp>
        <p:nvSpPr>
          <p:cNvPr id="6" name="Accuracy value"/>
          <p:cNvSpPr txBox="1"/>
          <p:nvPr/>
        </p:nvSpPr>
        <p:spPr>
          <a:xfrm>
            <a:off x="8092440" y="16916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0.90</a:t>
            </a:r>
            <a:endParaRPr lang="en-US" sz="3600" dirty="0"/>
          </a:p>
        </p:txBody>
      </p:sp>
      <p:sp>
        <p:nvSpPr>
          <p:cNvPr id="7" name="Accuracy label"/>
          <p:cNvSpPr txBox="1"/>
          <p:nvPr/>
        </p:nvSpPr>
        <p:spPr>
          <a:xfrm>
            <a:off x="8092440" y="2377440"/>
            <a:ext cx="3291840" cy="411480"/>
          </a:xfrm>
          <a:prstGeom prst="rect">
            <a:avLst/>
          </a:prstGeom>
          <a:noFill/>
          <a:ln/>
        </p:spPr>
        <p:txBody>
          <a:bodyPr wrap="square" lIns="0" tIns="0" rIns="0" bIns="0" rtlCol="0" anchor="ctr"/>
          <a:lstStyle/>
          <a:p>
            <a:pPr indent="0" marL="0">
              <a:buNone/>
            </a:pPr>
            <a:r>
              <a:rPr lang="en-US" sz="1300" dirty="0">
                <a:solidFill>
                  <a:schemeClr val="tx1"/>
                </a:solidFill>
              </a:rPr>
              <a:t>best accuracy, XLM-R fine-tuned with LoRA</a:t>
            </a:r>
            <a:endParaRPr lang="en-US" sz="1300" dirty="0"/>
          </a:p>
        </p:txBody>
      </p:sp>
      <p:sp>
        <p:nvSpPr>
          <p:cNvPr id="8" name="Text 5"/>
          <p:cNvSpPr txBox="1"/>
          <p:nvPr/>
        </p:nvSpPr>
        <p:spPr>
          <a:xfrm>
            <a:off x="7863840" y="3108960"/>
            <a:ext cx="374904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VADER (word list) only works for English: macro-F1 0.53.</a:t>
            </a:r>
            <a:endParaRPr lang="en-US" sz="1500" dirty="0"/>
          </a:p>
          <a:p>
            <a:pPr marL="228600" indent="-228600">
              <a:spcAft>
                <a:spcPts val="800"/>
              </a:spcAft>
              <a:buSzPct val="100000"/>
              <a:buChar char="•"/>
            </a:pPr>
            <a:r>
              <a:rPr lang="en-US" sz="1500" dirty="0">
                <a:solidFill>
                  <a:schemeClr val="tx1"/>
                </a:solidFill>
              </a:rPr>
              <a:t>Pre-trained transformers beat TF-IDF without seeing my data.</a:t>
            </a:r>
            <a:endParaRPr lang="en-US" sz="1500" dirty="0"/>
          </a:p>
          <a:p>
            <a:pPr marL="228600" indent="-228600">
              <a:spcAft>
                <a:spcPts val="800"/>
              </a:spcAft>
              <a:buSzPct val="100000"/>
              <a:buChar char="•"/>
            </a:pPr>
            <a:r>
              <a:rPr lang="en-US" sz="1500" dirty="0">
                <a:solidFill>
                  <a:schemeClr val="tx1"/>
                </a:solidFill>
              </a:rPr>
              <a:t>LoRA has the best accuracy but a lower macro-F1: it rarely predicts the small neutral class.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LoRA: fine-tuning on a free GPU</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FINE-TUNING</a:t>
            </a:r>
            <a:endParaRPr lang="en-US" sz="1200" dirty="0"/>
          </a:p>
        </p:txBody>
      </p:sp>
      <p:sp>
        <p:nvSpPr>
          <p:cNvPr id="4" name="LoRA diagram card"/>
          <p:cNvSpPr/>
          <p:nvPr/>
        </p:nvSpPr>
        <p:spPr>
          <a:xfrm>
            <a:off x="548640" y="1554480"/>
            <a:ext cx="6035040" cy="4480560"/>
          </a:xfrm>
          <a:prstGeom prst="roundRect">
            <a:avLst>
              <a:gd name="adj" fmla="val 2041"/>
            </a:avLst>
          </a:prstGeom>
          <a:solidFill>
            <a:schemeClr val="bg2"/>
          </a:solidFill>
          <a:ln w="12700">
            <a:solidFill>
              <a:schemeClr val="bg2"/>
            </a:solidFill>
            <a:prstDash val="solid"/>
          </a:ln>
        </p:spPr>
      </p:sp>
      <p:sp>
        <p:nvSpPr>
          <p:cNvPr id="5" name="Frozen W"/>
          <p:cNvSpPr/>
          <p:nvPr/>
        </p:nvSpPr>
        <p:spPr>
          <a:xfrm>
            <a:off x="914400" y="2103120"/>
            <a:ext cx="2194560" cy="2194560"/>
          </a:xfrm>
          <a:prstGeom prst="roundRect">
            <a:avLst>
              <a:gd name="adj" fmla="val 3333"/>
            </a:avLst>
          </a:prstGeom>
          <a:solidFill>
            <a:schemeClr val="accent5"/>
          </a:solidFill>
          <a:ln w="12700">
            <a:solidFill>
              <a:schemeClr val="accent5"/>
            </a:solidFill>
            <a:prstDash val="solid"/>
          </a:ln>
        </p:spPr>
      </p:sp>
      <p:sp>
        <p:nvSpPr>
          <p:cNvPr id="6" name="Text 4"/>
          <p:cNvSpPr txBox="1"/>
          <p:nvPr/>
        </p:nvSpPr>
        <p:spPr>
          <a:xfrm>
            <a:off x="914400" y="2103120"/>
            <a:ext cx="2194560" cy="21945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W</a:t>
            </a:r>
            <a:endParaRPr lang="en-US" sz="4000" dirty="0"/>
          </a:p>
          <a:p>
            <a:pPr algn="ctr" indent="0" marL="0">
              <a:buNone/>
            </a:pPr>
            <a:r>
              <a:rPr lang="en-US" sz="1400" dirty="0">
                <a:solidFill>
                  <a:schemeClr val="accent1"/>
                </a:solidFill>
              </a:rPr>
              <a:t>frozen</a:t>
            </a:r>
            <a:endParaRPr lang="en-US" sz="4000" dirty="0"/>
          </a:p>
        </p:txBody>
      </p:sp>
      <p:sp>
        <p:nvSpPr>
          <p:cNvPr id="7" name="Text 5"/>
          <p:cNvSpPr txBox="1"/>
          <p:nvPr/>
        </p:nvSpPr>
        <p:spPr>
          <a:xfrm>
            <a:off x="3154680" y="2834640"/>
            <a:ext cx="548640" cy="731520"/>
          </a:xfrm>
          <a:prstGeom prst="rect">
            <a:avLst/>
          </a:prstGeom>
          <a:noFill/>
          <a:ln/>
        </p:spPr>
        <p:txBody>
          <a:bodyPr wrap="square" lIns="0" tIns="0" rIns="0" bIns="0" rtlCol="0" anchor="ctr"/>
          <a:lstStyle/>
          <a:p>
            <a:pPr algn="ctr" indent="0" marL="0">
              <a:buNone/>
            </a:pPr>
            <a:r>
              <a:rPr lang="en-US" sz="3600" b="1" dirty="0">
                <a:solidFill>
                  <a:schemeClr val="accent3"/>
                </a:solidFill>
              </a:rPr>
              <a:t>+</a:t>
            </a:r>
            <a:endParaRPr lang="en-US" sz="3600" dirty="0"/>
          </a:p>
        </p:txBody>
      </p:sp>
      <p:sp>
        <p:nvSpPr>
          <p:cNvPr id="8" name="Matrix B"/>
          <p:cNvSpPr/>
          <p:nvPr/>
        </p:nvSpPr>
        <p:spPr>
          <a:xfrm>
            <a:off x="3794760" y="2103120"/>
            <a:ext cx="411480" cy="2194560"/>
          </a:xfrm>
          <a:prstGeom prst="rect">
            <a:avLst/>
          </a:prstGeom>
          <a:solidFill>
            <a:schemeClr val="accent2"/>
          </a:solidFill>
          <a:ln w="12700">
            <a:solidFill>
              <a:schemeClr val="accent2"/>
            </a:solidFill>
            <a:prstDash val="solid"/>
          </a:ln>
        </p:spPr>
      </p:sp>
      <p:sp>
        <p:nvSpPr>
          <p:cNvPr id="9" name="Text 7"/>
          <p:cNvSpPr txBox="1"/>
          <p:nvPr/>
        </p:nvSpPr>
        <p:spPr>
          <a:xfrm>
            <a:off x="3794760" y="2103120"/>
            <a:ext cx="411480" cy="219456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Text 8"/>
          <p:cNvSpPr txBox="1"/>
          <p:nvPr/>
        </p:nvSpPr>
        <p:spPr>
          <a:xfrm>
            <a:off x="4251960" y="2834640"/>
            <a:ext cx="365760" cy="731520"/>
          </a:xfrm>
          <a:prstGeom prst="rect">
            <a:avLst/>
          </a:prstGeom>
          <a:noFill/>
          <a:ln/>
        </p:spPr>
        <p:txBody>
          <a:bodyPr wrap="square" lIns="0" tIns="0" rIns="0" bIns="0" rtlCol="0" anchor="ctr"/>
          <a:lstStyle/>
          <a:p>
            <a:pPr algn="ctr" indent="0" marL="0">
              <a:buNone/>
            </a:pPr>
            <a:r>
              <a:rPr lang="en-US" sz="2400" dirty="0">
                <a:solidFill>
                  <a:schemeClr val="accent3"/>
                </a:solidFill>
              </a:rPr>
              <a:t>×</a:t>
            </a:r>
            <a:endParaRPr lang="en-US" sz="2400" dirty="0"/>
          </a:p>
        </p:txBody>
      </p:sp>
      <p:sp>
        <p:nvSpPr>
          <p:cNvPr id="11" name="Matrix A"/>
          <p:cNvSpPr/>
          <p:nvPr/>
        </p:nvSpPr>
        <p:spPr>
          <a:xfrm>
            <a:off x="4663440" y="2971800"/>
            <a:ext cx="1645920" cy="411480"/>
          </a:xfrm>
          <a:prstGeom prst="rect">
            <a:avLst/>
          </a:prstGeom>
          <a:solidFill>
            <a:schemeClr val="accent2"/>
          </a:solidFill>
          <a:ln w="12700">
            <a:solidFill>
              <a:schemeClr val="accent2"/>
            </a:solidFill>
            <a:prstDash val="solid"/>
          </a:ln>
        </p:spPr>
      </p:sp>
      <p:sp>
        <p:nvSpPr>
          <p:cNvPr id="12" name="Text 10"/>
          <p:cNvSpPr txBox="1"/>
          <p:nvPr/>
        </p:nvSpPr>
        <p:spPr>
          <a:xfrm>
            <a:off x="4663440" y="2971800"/>
            <a:ext cx="1645920" cy="41148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3" name="Text 11"/>
          <p:cNvSpPr txBox="1"/>
          <p:nvPr/>
        </p:nvSpPr>
        <p:spPr>
          <a:xfrm>
            <a:off x="914400" y="4572000"/>
            <a:ext cx="5303520" cy="1188720"/>
          </a:xfrm>
          <a:prstGeom prst="rect">
            <a:avLst/>
          </a:prstGeom>
          <a:noFill/>
          <a:ln/>
        </p:spPr>
        <p:txBody>
          <a:bodyPr wrap="square" lIns="0" tIns="0" rIns="0" bIns="0" rtlCol="0" anchor="ctr"/>
          <a:lstStyle/>
          <a:p>
            <a:pPr indent="0" marL="0">
              <a:buNone/>
            </a:pPr>
            <a:r>
              <a:rPr lang="en-US" sz="1500" dirty="0">
                <a:solidFill>
                  <a:schemeClr val="tx1"/>
                </a:solidFill>
              </a:rPr>
              <a:t>The original weights stay frozen. Only two thin matrices of rank 16 and the classifier head are trained.</a:t>
            </a:r>
            <a:endParaRPr lang="en-US" sz="1500" dirty="0"/>
          </a:p>
        </p:txBody>
      </p:sp>
      <p:sp>
        <p:nvSpPr>
          <p:cNvPr id="14" name="Trainable card"/>
          <p:cNvSpPr/>
          <p:nvPr/>
        </p:nvSpPr>
        <p:spPr>
          <a:xfrm>
            <a:off x="6858000" y="1554480"/>
            <a:ext cx="2286000" cy="1325880"/>
          </a:xfrm>
          <a:prstGeom prst="roundRect">
            <a:avLst>
              <a:gd name="adj" fmla="val 6897"/>
            </a:avLst>
          </a:prstGeom>
          <a:solidFill>
            <a:schemeClr val="bg2"/>
          </a:solidFill>
          <a:ln w="12700">
            <a:solidFill>
              <a:schemeClr val="bg2"/>
            </a:solidFill>
            <a:prstDash val="solid"/>
          </a:ln>
        </p:spPr>
      </p:sp>
      <p:sp>
        <p:nvSpPr>
          <p:cNvPr id="15" name="Trainable value"/>
          <p:cNvSpPr txBox="1"/>
          <p:nvPr/>
        </p:nvSpPr>
        <p:spPr>
          <a:xfrm>
            <a:off x="7086600" y="1691640"/>
            <a:ext cx="18288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0.42%</a:t>
            </a:r>
            <a:endParaRPr lang="en-US" sz="3600" dirty="0"/>
          </a:p>
        </p:txBody>
      </p:sp>
      <p:sp>
        <p:nvSpPr>
          <p:cNvPr id="16" name="Trainable label"/>
          <p:cNvSpPr txBox="1"/>
          <p:nvPr/>
        </p:nvSpPr>
        <p:spPr>
          <a:xfrm>
            <a:off x="7086600" y="2377440"/>
            <a:ext cx="1828800" cy="411480"/>
          </a:xfrm>
          <a:prstGeom prst="rect">
            <a:avLst/>
          </a:prstGeom>
          <a:noFill/>
          <a:ln/>
        </p:spPr>
        <p:txBody>
          <a:bodyPr wrap="square" lIns="0" tIns="0" rIns="0" bIns="0" rtlCol="0" anchor="ctr"/>
          <a:lstStyle/>
          <a:p>
            <a:pPr indent="0" marL="0">
              <a:buNone/>
            </a:pPr>
            <a:r>
              <a:rPr lang="en-US" sz="1300" dirty="0">
                <a:solidFill>
                  <a:schemeClr val="tx1"/>
                </a:solidFill>
              </a:rPr>
              <a:t>of weights trained</a:t>
            </a:r>
            <a:endParaRPr lang="en-US" sz="1300" dirty="0"/>
          </a:p>
        </p:txBody>
      </p:sp>
      <p:sp>
        <p:nvSpPr>
          <p:cNvPr id="17" name="Time card"/>
          <p:cNvSpPr/>
          <p:nvPr/>
        </p:nvSpPr>
        <p:spPr>
          <a:xfrm>
            <a:off x="9326880" y="1554480"/>
            <a:ext cx="2286000" cy="1325880"/>
          </a:xfrm>
          <a:prstGeom prst="roundRect">
            <a:avLst>
              <a:gd name="adj" fmla="val 6897"/>
            </a:avLst>
          </a:prstGeom>
          <a:solidFill>
            <a:schemeClr val="bg2"/>
          </a:solidFill>
          <a:ln w="12700">
            <a:solidFill>
              <a:schemeClr val="bg2"/>
            </a:solidFill>
            <a:prstDash val="solid"/>
          </a:ln>
        </p:spPr>
      </p:sp>
      <p:sp>
        <p:nvSpPr>
          <p:cNvPr id="18" name="Time value"/>
          <p:cNvSpPr txBox="1"/>
          <p:nvPr/>
        </p:nvSpPr>
        <p:spPr>
          <a:xfrm>
            <a:off x="9555480" y="1691640"/>
            <a:ext cx="18288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1.1 min</a:t>
            </a:r>
            <a:endParaRPr lang="en-US" sz="3600" dirty="0"/>
          </a:p>
        </p:txBody>
      </p:sp>
      <p:sp>
        <p:nvSpPr>
          <p:cNvPr id="19" name="Time label"/>
          <p:cNvSpPr txBox="1"/>
          <p:nvPr/>
        </p:nvSpPr>
        <p:spPr>
          <a:xfrm>
            <a:off x="9555480" y="2377440"/>
            <a:ext cx="1828800" cy="411480"/>
          </a:xfrm>
          <a:prstGeom prst="rect">
            <a:avLst/>
          </a:prstGeom>
          <a:noFill/>
          <a:ln/>
        </p:spPr>
        <p:txBody>
          <a:bodyPr wrap="square" lIns="0" tIns="0" rIns="0" bIns="0" rtlCol="0" anchor="ctr"/>
          <a:lstStyle/>
          <a:p>
            <a:pPr indent="0" marL="0">
              <a:buNone/>
            </a:pPr>
            <a:r>
              <a:rPr lang="en-US" sz="1300" dirty="0">
                <a:solidFill>
                  <a:schemeClr val="tx1"/>
                </a:solidFill>
              </a:rPr>
              <a:t>on a Colab T4</a:t>
            </a:r>
            <a:endParaRPr lang="en-US" sz="1300" dirty="0"/>
          </a:p>
        </p:txBody>
      </p:sp>
      <p:sp>
        <p:nvSpPr>
          <p:cNvPr id="20" name="Text 18"/>
          <p:cNvSpPr txBox="1"/>
          <p:nvPr/>
        </p:nvSpPr>
        <p:spPr>
          <a:xfrm>
            <a:off x="6858000" y="3154680"/>
            <a:ext cx="4754880" cy="29260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Base model: XLM-RoBERTa, pre-trained on 100 languages.</a:t>
            </a:r>
            <a:endParaRPr lang="en-US" sz="1500" dirty="0"/>
          </a:p>
          <a:p>
            <a:pPr marL="228600" indent="-228600">
              <a:spcAft>
                <a:spcPts val="800"/>
              </a:spcAft>
              <a:buSzPct val="100000"/>
              <a:buChar char="•"/>
            </a:pPr>
            <a:r>
              <a:rPr lang="en-US" sz="1500" dirty="0">
                <a:solidFill>
                  <a:schemeClr val="tx1"/>
                </a:solidFill>
              </a:rPr>
              <a:t>LoRA on the attention query and value layers.</a:t>
            </a:r>
            <a:endParaRPr lang="en-US" sz="1500" dirty="0"/>
          </a:p>
          <a:p>
            <a:pPr marL="228600" indent="-228600">
              <a:spcAft>
                <a:spcPts val="800"/>
              </a:spcAft>
              <a:buSzPct val="100000"/>
              <a:buChar char="•"/>
            </a:pPr>
            <a:r>
              <a:rPr lang="en-US" sz="1500" dirty="0">
                <a:solidFill>
                  <a:schemeClr val="tx1"/>
                </a:solidFill>
              </a:rPr>
              <a:t>3 epochs, AdamW, class-weighted loss, mixed precision.</a:t>
            </a:r>
            <a:endParaRPr lang="en-US" sz="1500" dirty="0"/>
          </a:p>
          <a:p>
            <a:pPr marL="228600" indent="-228600">
              <a:spcAft>
                <a:spcPts val="800"/>
              </a:spcAft>
              <a:buSzPct val="100000"/>
              <a:buChar char="•"/>
            </a:pPr>
            <a:r>
              <a:rPr lang="en-US" sz="1500" dirty="0">
                <a:solidFill>
                  <a:schemeClr val="tx1"/>
                </a:solidFill>
              </a:rPr>
              <a:t>Pre-training brings the languages, fine-tuning brings my domain.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Low ratings are mostly sadness, not anger</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EMOTION</a:t>
            </a:r>
            <a:endParaRPr lang="en-US" sz="1200" dirty="0"/>
          </a:p>
        </p:txBody>
      </p:sp>
      <p:graphicFrame>
        <p:nvGraphicFramePr>
          <p:cNvPr id="4" name="Chart 0" descr=""/>
          <p:cNvGraphicFramePr/>
          <p:nvPr/>
        </p:nvGraphicFramePr>
        <p:xfrm>
          <a:off x="548640" y="1463040"/>
          <a:ext cx="7132320" cy="4663440"/>
        </p:xfrm>
        <a:graphic xmlns:a="http://schemas.openxmlformats.org/drawingml/2006/main">
          <a:graphicData uri="http://schemas.openxmlformats.org/drawingml/2006/chart">
            <c:chart xmlns:c="http://schemas.openxmlformats.org/drawingml/2006/chart" r:id="rId1"/>
          </a:graphicData>
        </a:graphic>
      </p:graphicFrame>
      <p:sp>
        <p:nvSpPr>
          <p:cNvPr id="5" name="Sadness card"/>
          <p:cNvSpPr/>
          <p:nvPr/>
        </p:nvSpPr>
        <p:spPr>
          <a:xfrm>
            <a:off x="8046720" y="1554480"/>
            <a:ext cx="3566160" cy="1325880"/>
          </a:xfrm>
          <a:prstGeom prst="roundRect">
            <a:avLst>
              <a:gd name="adj" fmla="val 6897"/>
            </a:avLst>
          </a:prstGeom>
          <a:solidFill>
            <a:schemeClr val="bg2"/>
          </a:solidFill>
          <a:ln w="12700">
            <a:solidFill>
              <a:schemeClr val="bg2"/>
            </a:solidFill>
            <a:prstDash val="solid"/>
          </a:ln>
        </p:spPr>
      </p:sp>
      <p:sp>
        <p:nvSpPr>
          <p:cNvPr id="6" name="Sadness value"/>
          <p:cNvSpPr txBox="1"/>
          <p:nvPr/>
        </p:nvSpPr>
        <p:spPr>
          <a:xfrm>
            <a:off x="8275320" y="169164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46%</a:t>
            </a:r>
            <a:endParaRPr lang="en-US" sz="3600" dirty="0"/>
          </a:p>
        </p:txBody>
      </p:sp>
      <p:sp>
        <p:nvSpPr>
          <p:cNvPr id="7" name="Sadness label"/>
          <p:cNvSpPr txBox="1"/>
          <p:nvPr/>
        </p:nvSpPr>
        <p:spPr>
          <a:xfrm>
            <a:off x="8275320" y="2377440"/>
            <a:ext cx="3108960" cy="411480"/>
          </a:xfrm>
          <a:prstGeom prst="rect">
            <a:avLst/>
          </a:prstGeom>
          <a:noFill/>
          <a:ln/>
        </p:spPr>
        <p:txBody>
          <a:bodyPr wrap="square" lIns="0" tIns="0" rIns="0" bIns="0" rtlCol="0" anchor="ctr"/>
          <a:lstStyle/>
          <a:p>
            <a:pPr indent="0" marL="0">
              <a:buNone/>
            </a:pPr>
            <a:r>
              <a:rPr lang="en-US" sz="1300" dirty="0">
                <a:solidFill>
                  <a:schemeClr val="tx1"/>
                </a:solidFill>
              </a:rPr>
              <a:t>of complaints read as sadness</a:t>
            </a:r>
            <a:endParaRPr lang="en-US" sz="1300" dirty="0"/>
          </a:p>
        </p:txBody>
      </p:sp>
      <p:sp>
        <p:nvSpPr>
          <p:cNvPr id="8" name="Anger card"/>
          <p:cNvSpPr/>
          <p:nvPr/>
        </p:nvSpPr>
        <p:spPr>
          <a:xfrm>
            <a:off x="8046720" y="3063240"/>
            <a:ext cx="3566160" cy="1325880"/>
          </a:xfrm>
          <a:prstGeom prst="roundRect">
            <a:avLst>
              <a:gd name="adj" fmla="val 6897"/>
            </a:avLst>
          </a:prstGeom>
          <a:solidFill>
            <a:schemeClr val="bg2"/>
          </a:solidFill>
          <a:ln w="12700">
            <a:solidFill>
              <a:schemeClr val="bg2"/>
            </a:solidFill>
            <a:prstDash val="solid"/>
          </a:ln>
        </p:spPr>
      </p:sp>
      <p:sp>
        <p:nvSpPr>
          <p:cNvPr id="9" name="Anger value"/>
          <p:cNvSpPr txBox="1"/>
          <p:nvPr/>
        </p:nvSpPr>
        <p:spPr>
          <a:xfrm>
            <a:off x="8275320" y="3200400"/>
            <a:ext cx="31089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a:t>
            </a:r>
            <a:endParaRPr lang="en-US" sz="3600" dirty="0"/>
          </a:p>
        </p:txBody>
      </p:sp>
      <p:sp>
        <p:nvSpPr>
          <p:cNvPr id="10" name="Anger label"/>
          <p:cNvSpPr txBox="1"/>
          <p:nvPr/>
        </p:nvSpPr>
        <p:spPr>
          <a:xfrm>
            <a:off x="8275320" y="3886200"/>
            <a:ext cx="3108960" cy="411480"/>
          </a:xfrm>
          <a:prstGeom prst="rect">
            <a:avLst/>
          </a:prstGeom>
          <a:noFill/>
          <a:ln/>
        </p:spPr>
        <p:txBody>
          <a:bodyPr wrap="square" lIns="0" tIns="0" rIns="0" bIns="0" rtlCol="0" anchor="ctr"/>
          <a:lstStyle/>
          <a:p>
            <a:pPr indent="0" marL="0">
              <a:buNone/>
            </a:pPr>
            <a:r>
              <a:rPr lang="en-US" sz="1300" dirty="0">
                <a:solidFill>
                  <a:schemeClr val="tx1"/>
                </a:solidFill>
              </a:rPr>
              <a:t>read as anger</a:t>
            </a:r>
            <a:endParaRPr lang="en-US" sz="1300" dirty="0"/>
          </a:p>
        </p:txBody>
      </p:sp>
      <p:sp>
        <p:nvSpPr>
          <p:cNvPr id="11" name="Text 8"/>
          <p:cNvSpPr txBox="1"/>
          <p:nvPr/>
        </p:nvSpPr>
        <p:spPr>
          <a:xfrm>
            <a:off x="8046720" y="4572000"/>
            <a:ext cx="3566160" cy="155448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DistilRoBERTa for English, zero-shot mDeBERTa for Arabic. People sound tired and let down, so replies should be patient.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Who and what the reviews talk about</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 NAMED ENTITIES</a:t>
            </a:r>
            <a:endParaRPr lang="en-US" sz="1200" dirty="0"/>
          </a:p>
        </p:txBody>
      </p:sp>
      <p:sp>
        <p:nvSpPr>
          <p:cNvPr id="4" name="Classic NER card"/>
          <p:cNvSpPr/>
          <p:nvPr/>
        </p:nvSpPr>
        <p:spPr>
          <a:xfrm>
            <a:off x="548640" y="1554480"/>
            <a:ext cx="3566160" cy="1325880"/>
          </a:xfrm>
          <a:prstGeom prst="roundRect">
            <a:avLst>
              <a:gd name="adj" fmla="val 6897"/>
            </a:avLst>
          </a:prstGeom>
          <a:solidFill>
            <a:schemeClr val="bg2"/>
          </a:solidFill>
          <a:ln w="12700">
            <a:solidFill>
              <a:schemeClr val="bg2"/>
            </a:solidFill>
            <a:prstDash val="solid"/>
          </a:ln>
        </p:spPr>
      </p:sp>
      <p:sp>
        <p:nvSpPr>
          <p:cNvPr id="5" name="Classic NER value"/>
          <p:cNvSpPr txBox="1"/>
          <p:nvPr/>
        </p:nvSpPr>
        <p:spPr>
          <a:xfrm>
            <a:off x="777240" y="169164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0.64</a:t>
            </a:r>
            <a:endParaRPr lang="en-US" sz="3600" dirty="0"/>
          </a:p>
        </p:txBody>
      </p:sp>
      <p:sp>
        <p:nvSpPr>
          <p:cNvPr id="6" name="Classic NER label"/>
          <p:cNvSpPr txBox="1"/>
          <p:nvPr/>
        </p:nvSpPr>
        <p:spPr>
          <a:xfrm>
            <a:off x="777240" y="2377440"/>
            <a:ext cx="3108960" cy="411480"/>
          </a:xfrm>
          <a:prstGeom prst="rect">
            <a:avLst/>
          </a:prstGeom>
          <a:noFill/>
          <a:ln/>
        </p:spPr>
        <p:txBody>
          <a:bodyPr wrap="square" lIns="0" tIns="0" rIns="0" bIns="0" rtlCol="0" anchor="ctr"/>
          <a:lstStyle/>
          <a:p>
            <a:pPr indent="0" marL="0">
              <a:buNone/>
            </a:pPr>
            <a:r>
              <a:rPr lang="en-US" sz="1300" dirty="0">
                <a:solidFill>
                  <a:schemeClr val="tx1"/>
                </a:solidFill>
              </a:rPr>
              <a:t>entities per review, spaCy and CAMeLBERT</a:t>
            </a:r>
            <a:endParaRPr lang="en-US" sz="1300" dirty="0"/>
          </a:p>
        </p:txBody>
      </p:sp>
      <p:sp>
        <p:nvSpPr>
          <p:cNvPr id="7" name="LLM NER card"/>
          <p:cNvSpPr/>
          <p:nvPr/>
        </p:nvSpPr>
        <p:spPr>
          <a:xfrm>
            <a:off x="4297680" y="1554480"/>
            <a:ext cx="3566160" cy="1325880"/>
          </a:xfrm>
          <a:prstGeom prst="roundRect">
            <a:avLst>
              <a:gd name="adj" fmla="val 6897"/>
            </a:avLst>
          </a:prstGeom>
          <a:solidFill>
            <a:schemeClr val="bg2"/>
          </a:solidFill>
          <a:ln w="12700">
            <a:solidFill>
              <a:schemeClr val="bg2"/>
            </a:solidFill>
            <a:prstDash val="solid"/>
          </a:ln>
        </p:spPr>
      </p:sp>
      <p:sp>
        <p:nvSpPr>
          <p:cNvPr id="8" name="LLM NER value"/>
          <p:cNvSpPr txBox="1"/>
          <p:nvPr/>
        </p:nvSpPr>
        <p:spPr>
          <a:xfrm>
            <a:off x="4526280" y="1691640"/>
            <a:ext cx="31089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0.27</a:t>
            </a:r>
            <a:endParaRPr lang="en-US" sz="3600" dirty="0"/>
          </a:p>
        </p:txBody>
      </p:sp>
      <p:sp>
        <p:nvSpPr>
          <p:cNvPr id="9" name="LLM NER label"/>
          <p:cNvSpPr txBox="1"/>
          <p:nvPr/>
        </p:nvSpPr>
        <p:spPr>
          <a:xfrm>
            <a:off x="4526280" y="2377440"/>
            <a:ext cx="3108960" cy="411480"/>
          </a:xfrm>
          <a:prstGeom prst="rect">
            <a:avLst/>
          </a:prstGeom>
          <a:noFill/>
          <a:ln/>
        </p:spPr>
        <p:txBody>
          <a:bodyPr wrap="square" lIns="0" tIns="0" rIns="0" bIns="0" rtlCol="0" anchor="ctr"/>
          <a:lstStyle/>
          <a:p>
            <a:pPr indent="0" marL="0">
              <a:buNone/>
            </a:pPr>
            <a:r>
              <a:rPr lang="en-US" sz="1300" dirty="0">
                <a:solidFill>
                  <a:schemeClr val="tx1"/>
                </a:solidFill>
              </a:rPr>
              <a:t>entities per review, LLM</a:t>
            </a:r>
            <a:endParaRPr lang="en-US" sz="1300" dirty="0"/>
          </a:p>
        </p:txBody>
      </p:sp>
      <p:sp>
        <p:nvSpPr>
          <p:cNvPr id="10" name="Domain types card"/>
          <p:cNvSpPr/>
          <p:nvPr/>
        </p:nvSpPr>
        <p:spPr>
          <a:xfrm>
            <a:off x="8046720" y="1554480"/>
            <a:ext cx="3566160" cy="1325880"/>
          </a:xfrm>
          <a:prstGeom prst="roundRect">
            <a:avLst>
              <a:gd name="adj" fmla="val 6897"/>
            </a:avLst>
          </a:prstGeom>
          <a:solidFill>
            <a:schemeClr val="accent1"/>
          </a:solidFill>
          <a:ln w="12700">
            <a:solidFill>
              <a:schemeClr val="accent1"/>
            </a:solidFill>
            <a:prstDash val="solid"/>
          </a:ln>
        </p:spPr>
      </p:sp>
      <p:sp>
        <p:nvSpPr>
          <p:cNvPr id="11" name="Text 9"/>
          <p:cNvSpPr txBox="1"/>
          <p:nvPr/>
        </p:nvSpPr>
        <p:spPr>
          <a:xfrm>
            <a:off x="8275320" y="1554480"/>
            <a:ext cx="3108960" cy="1325880"/>
          </a:xfrm>
          <a:prstGeom prst="rect">
            <a:avLst/>
          </a:prstGeom>
          <a:noFill/>
          <a:ln/>
        </p:spPr>
        <p:txBody>
          <a:bodyPr wrap="square" lIns="0" tIns="0" rIns="0" bIns="0" rtlCol="0" anchor="ctr"/>
          <a:lstStyle/>
          <a:p>
            <a:pPr indent="0" marL="0">
              <a:buNone/>
            </a:pPr>
            <a:r>
              <a:rPr lang="en-US" sz="1500" b="1" dirty="0">
                <a:solidFill>
                  <a:schemeClr val="bg1"/>
                </a:solidFill>
              </a:rPr>
              <a:t>LLM finds fewer, but more useful entities</a:t>
            </a:r>
            <a:endParaRPr lang="en-US" sz="1500" dirty="0"/>
          </a:p>
        </p:txBody>
      </p:sp>
      <p:sp>
        <p:nvSpPr>
          <p:cNvPr id="12" name="Classical models"/>
          <p:cNvSpPr/>
          <p:nvPr/>
        </p:nvSpPr>
        <p:spPr>
          <a:xfrm>
            <a:off x="548640" y="3154680"/>
            <a:ext cx="5440680" cy="2926080"/>
          </a:xfrm>
          <a:prstGeom prst="roundRect">
            <a:avLst>
              <a:gd name="adj" fmla="val 3125"/>
            </a:avLst>
          </a:prstGeom>
          <a:solidFill>
            <a:schemeClr val="bg2"/>
          </a:solidFill>
          <a:ln w="12700">
            <a:solidFill>
              <a:schemeClr val="bg2"/>
            </a:solidFill>
            <a:prstDash val="solid"/>
          </a:ln>
        </p:spPr>
      </p:sp>
      <p:sp>
        <p:nvSpPr>
          <p:cNvPr id="13" name="Text 11"/>
          <p:cNvSpPr txBox="1"/>
          <p:nvPr/>
        </p:nvSpPr>
        <p:spPr>
          <a:xfrm>
            <a:off x="822960" y="3291840"/>
            <a:ext cx="4892040" cy="457200"/>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Classical models</a:t>
            </a:r>
            <a:endParaRPr lang="en-US" sz="1900" dirty="0"/>
          </a:p>
        </p:txBody>
      </p:sp>
      <p:sp>
        <p:nvSpPr>
          <p:cNvPr id="14" name="Text 12"/>
          <p:cNvSpPr txBox="1"/>
          <p:nvPr/>
        </p:nvSpPr>
        <p:spPr>
          <a:xfrm>
            <a:off x="822960" y="3840480"/>
            <a:ext cx="4892040" cy="2011680"/>
          </a:xfrm>
          <a:prstGeom prst="rect">
            <a:avLst/>
          </a:prstGeom>
          <a:noFill/>
          <a:ln/>
        </p:spPr>
        <p:txBody>
          <a:bodyPr wrap="square" lIns="0" tIns="0" rIns="0" bIns="0" rtlCol="0" anchor="ctr"/>
          <a:lstStyle/>
          <a:p>
            <a:pPr indent="0" marL="0">
              <a:buNone/>
            </a:pPr>
            <a:r>
              <a:rPr lang="en-US" sz="1600" dirty="0">
                <a:solidFill>
                  <a:schemeClr val="tx1"/>
                </a:solidFill>
              </a:rPr>
              <a:t>Mostly cities, dates and numbers. CAMeLBERT even tags "thank God" as an entity.</a:t>
            </a:r>
            <a:endParaRPr lang="en-US" sz="1600" dirty="0"/>
          </a:p>
        </p:txBody>
      </p:sp>
      <p:sp>
        <p:nvSpPr>
          <p:cNvPr id="15" name="LLM with a JSON prompt"/>
          <p:cNvSpPr/>
          <p:nvPr/>
        </p:nvSpPr>
        <p:spPr>
          <a:xfrm>
            <a:off x="6172200" y="3154680"/>
            <a:ext cx="5440680" cy="2926080"/>
          </a:xfrm>
          <a:prstGeom prst="roundRect">
            <a:avLst>
              <a:gd name="adj" fmla="val 3125"/>
            </a:avLst>
          </a:prstGeom>
          <a:solidFill>
            <a:schemeClr val="bg2"/>
          </a:solidFill>
          <a:ln w="12700">
            <a:solidFill>
              <a:schemeClr val="bg2"/>
            </a:solidFill>
            <a:prstDash val="solid"/>
          </a:ln>
        </p:spPr>
      </p:sp>
      <p:sp>
        <p:nvSpPr>
          <p:cNvPr id="16" name="Text 14"/>
          <p:cNvSpPr txBox="1"/>
          <p:nvPr/>
        </p:nvSpPr>
        <p:spPr>
          <a:xfrm>
            <a:off x="6446520" y="3291840"/>
            <a:ext cx="4892040" cy="457200"/>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LLM with a JSON prompt</a:t>
            </a:r>
            <a:endParaRPr lang="en-US" sz="1900" dirty="0"/>
          </a:p>
        </p:txBody>
      </p:sp>
      <p:sp>
        <p:nvSpPr>
          <p:cNvPr id="17" name="Text 15"/>
          <p:cNvSpPr txBox="1"/>
          <p:nvPr/>
        </p:nvSpPr>
        <p:spPr>
          <a:xfrm>
            <a:off x="6446520" y="3840480"/>
            <a:ext cx="4892040" cy="2011680"/>
          </a:xfrm>
          <a:prstGeom prst="rect">
            <a:avLst/>
          </a:prstGeom>
          <a:noFill/>
          <a:ln/>
        </p:spPr>
        <p:txBody>
          <a:bodyPr wrap="square" lIns="0" tIns="0" rIns="0" bIns="0" rtlCol="0" anchor="ctr"/>
          <a:lstStyle/>
          <a:p>
            <a:pPr indent="0" marL="0">
              <a:buNone/>
            </a:pPr>
            <a:r>
              <a:rPr lang="en-US" sz="1600" dirty="0">
                <a:solidFill>
                  <a:schemeClr val="tx1"/>
                </a:solidFill>
              </a:rPr>
              <a:t>Domain types such as GOV_SERVICE (Salik, Emirates ID) and ERROR_MESSAGE (account is locked), plus relation triples.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04</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Findings</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What is broken and which releases made it worse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13 issues found automatically, named in two languages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04 ISSUES</a:t>
            </a:r>
            <a:endParaRPr lang="en-US" sz="12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Bilingual card"/>
          <p:cNvSpPr/>
          <p:nvPr/>
        </p:nvSpPr>
        <p:spPr>
          <a:xfrm>
            <a:off x="7863840" y="1554480"/>
            <a:ext cx="3749040" cy="1325880"/>
          </a:xfrm>
          <a:prstGeom prst="roundRect">
            <a:avLst>
              <a:gd name="adj" fmla="val 6897"/>
            </a:avLst>
          </a:prstGeom>
          <a:solidFill>
            <a:schemeClr val="bg2"/>
          </a:solidFill>
          <a:ln w="12700">
            <a:solidFill>
              <a:schemeClr val="bg2"/>
            </a:solidFill>
            <a:prstDash val="solid"/>
          </a:ln>
        </p:spPr>
      </p:sp>
      <p:sp>
        <p:nvSpPr>
          <p:cNvPr id="6" name="Bilingual value"/>
          <p:cNvSpPr txBox="1"/>
          <p:nvPr/>
        </p:nvSpPr>
        <p:spPr>
          <a:xfrm>
            <a:off x="8092440" y="16916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11 of 13</a:t>
            </a:r>
            <a:endParaRPr lang="en-US" sz="3600" dirty="0"/>
          </a:p>
        </p:txBody>
      </p:sp>
      <p:sp>
        <p:nvSpPr>
          <p:cNvPr id="7" name="Bilingual label"/>
          <p:cNvSpPr txBox="1"/>
          <p:nvPr/>
        </p:nvSpPr>
        <p:spPr>
          <a:xfrm>
            <a:off x="8092440" y="2377440"/>
            <a:ext cx="3291840" cy="411480"/>
          </a:xfrm>
          <a:prstGeom prst="rect">
            <a:avLst/>
          </a:prstGeom>
          <a:noFill/>
          <a:ln/>
        </p:spPr>
        <p:txBody>
          <a:bodyPr wrap="square" lIns="0" tIns="0" rIns="0" bIns="0" rtlCol="0" anchor="ctr"/>
          <a:lstStyle/>
          <a:p>
            <a:pPr indent="0" marL="0">
              <a:buNone/>
            </a:pPr>
            <a:r>
              <a:rPr lang="en-US" sz="1300" dirty="0">
                <a:solidFill>
                  <a:schemeClr val="tx1"/>
                </a:solidFill>
              </a:rPr>
              <a:t>issues mix English and Arabic reviews</a:t>
            </a:r>
            <a:endParaRPr lang="en-US" sz="1300" dirty="0"/>
          </a:p>
        </p:txBody>
      </p:sp>
      <p:sp>
        <p:nvSpPr>
          <p:cNvPr id="8" name="Text 5"/>
          <p:cNvSpPr txBox="1"/>
          <p:nvPr/>
        </p:nvSpPr>
        <p:spPr>
          <a:xfrm>
            <a:off x="7863840" y="3108960"/>
            <a:ext cx="374904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k-means on BGE-M3 vectors, k chosen with the silhouette score.</a:t>
            </a:r>
            <a:endParaRPr lang="en-US" sz="1500" dirty="0"/>
          </a:p>
          <a:p>
            <a:pPr marL="228600" indent="-228600">
              <a:spcAft>
                <a:spcPts val="800"/>
              </a:spcAft>
              <a:buSzPct val="100000"/>
              <a:buChar char="•"/>
            </a:pPr>
            <a:r>
              <a:rPr lang="en-US" sz="1500" dirty="0">
                <a:solidFill>
                  <a:schemeClr val="tx1"/>
                </a:solidFill>
              </a:rPr>
              <a:t>Keywords from class-based TF-IDF.</a:t>
            </a:r>
            <a:endParaRPr lang="en-US" sz="1500" dirty="0"/>
          </a:p>
          <a:p>
            <a:pPr marL="228600" indent="-228600">
              <a:spcAft>
                <a:spcPts val="800"/>
              </a:spcAft>
              <a:buSzPct val="100000"/>
              <a:buChar char="•"/>
            </a:pPr>
            <a:r>
              <a:rPr lang="en-US" sz="1500" dirty="0">
                <a:solidFill>
                  <a:schemeClr val="tx1"/>
                </a:solidFill>
              </a:rPr>
              <a:t>The LLM writes a name in English and Arabic, e.g. مشكلة في تسجيل الدخول.</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Which update made things worse?</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04 RELEASES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132320" cy="914400"/>
        </p:xfrm>
        <a:graphic>
          <a:graphicData uri="http://schemas.openxmlformats.org/drawingml/2006/table">
            <a:tbl>
              <a:tblPr/>
              <a:tblGrid>
                <a:gridCol w="1280160"/>
                <a:gridCol w="914400"/>
                <a:gridCol w="1188720"/>
                <a:gridCol w="822960"/>
                <a:gridCol w="822960"/>
                <a:gridCol w="2103120"/>
              </a:tblGrid>
              <a:tr h="457200">
                <a:tc>
                  <a:txBody>
                    <a:bodyPr/>
                    <a:lstStyle/>
                    <a:p>
                      <a:pPr indent="0" marL="0">
                        <a:buNone/>
                      </a:pPr>
                      <a:r>
                        <a:rPr lang="en-US" sz="1300" b="1" dirty="0">
                          <a:solidFill>
                            <a:schemeClr val="bg1"/>
                          </a:solidFill>
                        </a:rPr>
                        <a:t>App</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Version</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Complaints</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Usual</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q</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Issue that grew</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r>
              <a:tr h="457200">
                <a:tc>
                  <a:txBody>
                    <a:bodyPr/>
                    <a:lstStyle/>
                    <a:p>
                      <a:pPr indent="0" marL="0">
                        <a:buNone/>
                      </a:pPr>
                      <a:r>
                        <a:rPr lang="en-US" sz="1300" dirty="0">
                          <a:solidFill>
                            <a:schemeClr val="tx1"/>
                          </a:solidFill>
                        </a:rPr>
                        <a:t>DEWA</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10.3.6</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95%</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0.001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App launch failure</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RTA Dubai</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6.4.8</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78%</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28%</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&lt;0.001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App launch failure</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RTA Dubai</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6.4.2</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63%</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28%</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&lt;0.001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UAE Pass login issue</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UAE PASS</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6.9.1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35%</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23%</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0.011</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Login problem</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Dubai Police</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7.0.5</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0.039</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App crash on update</a:t>
                      </a:r>
                      <a:endParaRPr lang="en-US" sz="13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bl>
          </a:graphicData>
        </a:graphic>
      </p:graphicFrame>
      <p:pic>
        <p:nvPicPr>
          <p:cNvPr id="5" name="Image 0" descr="Complaint rate per version for the most reviewed app">    </p:cNvPr>
          <p:cNvPicPr>
            <a:picLocks noChangeAspect="1"/>
          </p:cNvPicPr>
          <p:nvPr/>
        </p:nvPicPr>
        <p:blipFill>
          <a:blip r:embed="rId1"/>
          <a:stretch>
            <a:fillRect/>
          </a:stretch>
        </p:blipFill>
        <p:spPr>
          <a:xfrm>
            <a:off x="1636166" y="4526280"/>
            <a:ext cx="4957268" cy="1691640"/>
          </a:xfrm>
          <a:prstGeom prst="rect">
            <a:avLst/>
          </a:prstGeom>
        </p:spPr>
      </p:pic>
      <p:sp>
        <p:nvSpPr>
          <p:cNvPr id="6" name="Flags card"/>
          <p:cNvSpPr/>
          <p:nvPr/>
        </p:nvSpPr>
        <p:spPr>
          <a:xfrm>
            <a:off x="8046720" y="1554480"/>
            <a:ext cx="3566160" cy="1325880"/>
          </a:xfrm>
          <a:prstGeom prst="roundRect">
            <a:avLst>
              <a:gd name="adj" fmla="val 6897"/>
            </a:avLst>
          </a:prstGeom>
          <a:solidFill>
            <a:schemeClr val="bg2"/>
          </a:solidFill>
          <a:ln w="12700">
            <a:solidFill>
              <a:schemeClr val="bg2"/>
            </a:solidFill>
            <a:prstDash val="solid"/>
          </a:ln>
        </p:spPr>
      </p:sp>
      <p:sp>
        <p:nvSpPr>
          <p:cNvPr id="7" name="Flags value"/>
          <p:cNvSpPr txBox="1"/>
          <p:nvPr/>
        </p:nvSpPr>
        <p:spPr>
          <a:xfrm>
            <a:off x="8275320" y="169164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10 of 65</a:t>
            </a:r>
            <a:endParaRPr lang="en-US" sz="3600" dirty="0"/>
          </a:p>
        </p:txBody>
      </p:sp>
      <p:sp>
        <p:nvSpPr>
          <p:cNvPr id="8" name="Flags label"/>
          <p:cNvSpPr txBox="1"/>
          <p:nvPr/>
        </p:nvSpPr>
        <p:spPr>
          <a:xfrm>
            <a:off x="8275320" y="2377440"/>
            <a:ext cx="3108960" cy="411480"/>
          </a:xfrm>
          <a:prstGeom prst="rect">
            <a:avLst/>
          </a:prstGeom>
          <a:noFill/>
          <a:ln/>
        </p:spPr>
        <p:txBody>
          <a:bodyPr wrap="square" lIns="0" tIns="0" rIns="0" bIns="0" rtlCol="0" anchor="ctr"/>
          <a:lstStyle/>
          <a:p>
            <a:pPr indent="0" marL="0">
              <a:buNone/>
            </a:pPr>
            <a:r>
              <a:rPr lang="en-US" sz="1300" dirty="0">
                <a:solidFill>
                  <a:schemeClr val="tx1"/>
                </a:solidFill>
              </a:rPr>
              <a:t>versions flagged after correction</a:t>
            </a:r>
            <a:endParaRPr lang="en-US" sz="1300" dirty="0"/>
          </a:p>
        </p:txBody>
      </p:sp>
      <p:sp>
        <p:nvSpPr>
          <p:cNvPr id="9" name="Text 5"/>
          <p:cNvSpPr txBox="1"/>
          <p:nvPr/>
        </p:nvSpPr>
        <p:spPr>
          <a:xfrm>
            <a:off x="8046720" y="3108960"/>
            <a:ext cx="356616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Two-proportion z-test: each version against the rest of the app.</a:t>
            </a:r>
            <a:endParaRPr lang="en-US" sz="1500" dirty="0"/>
          </a:p>
          <a:p>
            <a:pPr marL="228600" indent="-228600">
              <a:spcAft>
                <a:spcPts val="800"/>
              </a:spcAft>
              <a:buSzPct val="100000"/>
              <a:buChar char="•"/>
            </a:pPr>
            <a:r>
              <a:rPr lang="en-US" sz="1500" dirty="0">
                <a:solidFill>
                  <a:schemeClr val="tx1"/>
                </a:solidFill>
              </a:rPr>
              <a:t>15 versions had p &lt; 0.05, but some of that is chance.</a:t>
            </a:r>
            <a:endParaRPr lang="en-US" sz="1500" dirty="0"/>
          </a:p>
          <a:p>
            <a:pPr marL="228600" indent="-228600">
              <a:spcAft>
                <a:spcPts val="800"/>
              </a:spcAft>
              <a:buSzPct val="100000"/>
              <a:buChar char="•"/>
            </a:pPr>
            <a:r>
              <a:rPr lang="en-US" sz="1500" dirty="0">
                <a:solidFill>
                  <a:schemeClr val="tx1"/>
                </a:solidFill>
              </a:rPr>
              <a:t>Benjamini-Hochberg keeps false discoveries at 5%.</a:t>
            </a:r>
            <a:endParaRPr lang="en-US" sz="1500" dirty="0"/>
          </a:p>
          <a:p>
            <a:pPr marL="228600" indent="-228600">
              <a:spcAft>
                <a:spcPts val="800"/>
              </a:spcAft>
              <a:buSzPct val="100000"/>
              <a:buChar char="•"/>
            </a:pPr>
            <a:r>
              <a:rPr lang="en-US" sz="1500" dirty="0">
                <a:solidFill>
                  <a:schemeClr val="tx1"/>
                </a:solidFill>
              </a:rPr>
              <a:t>Six flags are RTA Dubai releases in a row.</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05</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LLMs</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Prompt engineering and grounded answers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How you ask changes the answer</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05 PROMPT ENGINEERING</a:t>
            </a:r>
            <a:endParaRPr lang="en-US" sz="1200" dirty="0"/>
          </a:p>
        </p:txBody>
      </p:sp>
      <p:graphicFrame>
        <p:nvGraphicFramePr>
          <p:cNvPr id="4" name="Chart 0" descr=""/>
          <p:cNvGraphicFramePr/>
          <p:nvPr/>
        </p:nvGraphicFramePr>
        <p:xfrm>
          <a:off x="548640" y="146304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Few-shot card"/>
          <p:cNvSpPr/>
          <p:nvPr/>
        </p:nvSpPr>
        <p:spPr>
          <a:xfrm>
            <a:off x="7863840" y="1554480"/>
            <a:ext cx="3749040" cy="1325880"/>
          </a:xfrm>
          <a:prstGeom prst="roundRect">
            <a:avLst>
              <a:gd name="adj" fmla="val 6897"/>
            </a:avLst>
          </a:prstGeom>
          <a:solidFill>
            <a:schemeClr val="bg2"/>
          </a:solidFill>
          <a:ln w="12700">
            <a:solidFill>
              <a:schemeClr val="bg2"/>
            </a:solidFill>
            <a:prstDash val="solid"/>
          </a:ln>
        </p:spPr>
      </p:sp>
      <p:sp>
        <p:nvSpPr>
          <p:cNvPr id="6" name="Few-shot value"/>
          <p:cNvSpPr txBox="1"/>
          <p:nvPr/>
        </p:nvSpPr>
        <p:spPr>
          <a:xfrm>
            <a:off x="8092440" y="16916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0.66</a:t>
            </a:r>
            <a:endParaRPr lang="en-US" sz="3600" dirty="0"/>
          </a:p>
        </p:txBody>
      </p:sp>
      <p:sp>
        <p:nvSpPr>
          <p:cNvPr id="7" name="Few-shot label"/>
          <p:cNvSpPr txBox="1"/>
          <p:nvPr/>
        </p:nvSpPr>
        <p:spPr>
          <a:xfrm>
            <a:off x="8092440" y="2377440"/>
            <a:ext cx="3291840" cy="411480"/>
          </a:xfrm>
          <a:prstGeom prst="rect">
            <a:avLst/>
          </a:prstGeom>
          <a:noFill/>
          <a:ln/>
        </p:spPr>
        <p:txBody>
          <a:bodyPr wrap="square" lIns="0" tIns="0" rIns="0" bIns="0" rtlCol="0" anchor="ctr"/>
          <a:lstStyle/>
          <a:p>
            <a:pPr indent="0" marL="0">
              <a:buNone/>
            </a:pPr>
            <a:r>
              <a:rPr lang="en-US" sz="1300" dirty="0">
                <a:solidFill>
                  <a:schemeClr val="tx1"/>
                </a:solidFill>
              </a:rPr>
              <a:t>macro-F1 with few-shot, the best prompt</a:t>
            </a:r>
            <a:endParaRPr lang="en-US" sz="1300" dirty="0"/>
          </a:p>
        </p:txBody>
      </p:sp>
      <p:sp>
        <p:nvSpPr>
          <p:cNvPr id="8" name="Text 5"/>
          <p:cNvSpPr txBox="1"/>
          <p:nvPr/>
        </p:nvSpPr>
        <p:spPr>
          <a:xfrm>
            <a:off x="7863840" y="3108960"/>
            <a:ext cx="3749040" cy="3017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Same 50 reviews, same free OpenRouter LLM, JSON output.</a:t>
            </a:r>
            <a:endParaRPr lang="en-US" sz="1500" dirty="0"/>
          </a:p>
          <a:p>
            <a:pPr marL="228600" indent="-228600">
              <a:spcAft>
                <a:spcPts val="800"/>
              </a:spcAft>
              <a:buSzPct val="100000"/>
              <a:buChar char="•"/>
            </a:pPr>
            <a:r>
              <a:rPr lang="en-US" sz="1500" dirty="0">
                <a:solidFill>
                  <a:schemeClr val="tx1"/>
                </a:solidFill>
              </a:rPr>
              <a:t>Few-shot shows six labelled bilingual examples first.</a:t>
            </a:r>
            <a:endParaRPr lang="en-US" sz="1500" dirty="0"/>
          </a:p>
          <a:p>
            <a:pPr marL="228600" indent="-228600">
              <a:spcAft>
                <a:spcPts val="800"/>
              </a:spcAft>
              <a:buSzPct val="100000"/>
              <a:buChar char="•"/>
            </a:pPr>
            <a:r>
              <a:rPr lang="en-US" sz="1500" dirty="0">
                <a:solidFill>
                  <a:schemeClr val="tx1"/>
                </a:solidFill>
              </a:rPr>
              <a:t>The LLM beats LoRA here, but it is slower and limited to about 50 requests a day.</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RAG keeps the answers grounded in real reviews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05 RAG</a:t>
            </a:r>
            <a:endParaRPr lang="en-US" sz="1200" dirty="0"/>
          </a:p>
        </p:txBody>
      </p:sp>
      <p:sp>
        <p:nvSpPr>
          <p:cNvPr id="4" name="Step 1"/>
          <p:cNvSpPr/>
          <p:nvPr/>
        </p:nvSpPr>
        <p:spPr>
          <a:xfrm>
            <a:off x="548640" y="1554480"/>
            <a:ext cx="2526030" cy="1828800"/>
          </a:xfrm>
          <a:prstGeom prst="roundRect">
            <a:avLst>
              <a:gd name="adj" fmla="val 5000"/>
            </a:avLst>
          </a:prstGeom>
          <a:solidFill>
            <a:schemeClr val="bg2"/>
          </a:solidFill>
          <a:ln w="12700">
            <a:solidFill>
              <a:schemeClr val="bg2"/>
            </a:solidFill>
            <a:prstDash val="solid"/>
          </a:ln>
        </p:spPr>
      </p:sp>
      <p:sp>
        <p:nvSpPr>
          <p:cNvPr id="5" name="Text 3"/>
          <p:cNvSpPr txBox="1"/>
          <p:nvPr/>
        </p:nvSpPr>
        <p:spPr>
          <a:xfrm>
            <a:off x="731520" y="169164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31520" y="2103120"/>
            <a:ext cx="2160270" cy="411480"/>
          </a:xfrm>
          <a:prstGeom prst="rect">
            <a:avLst/>
          </a:prstGeom>
          <a:noFill/>
          <a:ln/>
        </p:spPr>
        <p:txBody>
          <a:bodyPr wrap="square" lIns="0" tIns="0" rIns="0" bIns="0" rtlCol="0" anchor="ctr"/>
          <a:lstStyle/>
          <a:p>
            <a:pPr indent="0" marL="0">
              <a:buNone/>
            </a:pPr>
            <a:r>
              <a:rPr lang="en-US" sz="1700" b="1" dirty="0">
                <a:solidFill>
                  <a:schemeClr val="accent1"/>
                </a:solidFill>
              </a:rPr>
              <a:t>Question</a:t>
            </a:r>
            <a:endParaRPr lang="en-US" sz="1700" dirty="0"/>
          </a:p>
        </p:txBody>
      </p:sp>
      <p:sp>
        <p:nvSpPr>
          <p:cNvPr id="7" name="Text 5"/>
          <p:cNvSpPr txBox="1"/>
          <p:nvPr/>
        </p:nvSpPr>
        <p:spPr>
          <a:xfrm>
            <a:off x="731520" y="2514600"/>
            <a:ext cx="2160270" cy="777240"/>
          </a:xfrm>
          <a:prstGeom prst="rect">
            <a:avLst/>
          </a:prstGeom>
          <a:noFill/>
          <a:ln/>
        </p:spPr>
        <p:txBody>
          <a:bodyPr wrap="square" lIns="0" tIns="0" rIns="0" bIns="0" rtlCol="0" anchor="t"/>
          <a:lstStyle/>
          <a:p>
            <a:pPr indent="0" marL="0">
              <a:buNone/>
            </a:pPr>
            <a:r>
              <a:rPr lang="en-US" sz="1300" dirty="0">
                <a:solidFill>
                  <a:schemeClr val="tx1"/>
                </a:solidFill>
              </a:rPr>
              <a:t>In English or Arabic</a:t>
            </a:r>
            <a:endParaRPr lang="en-US" sz="1300" dirty="0"/>
          </a:p>
        </p:txBody>
      </p:sp>
      <p:sp>
        <p:nvSpPr>
          <p:cNvPr id="8" name="Text 6"/>
          <p:cNvSpPr txBox="1"/>
          <p:nvPr/>
        </p:nvSpPr>
        <p:spPr>
          <a:xfrm>
            <a:off x="3074670" y="22402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9" name="Step 2"/>
          <p:cNvSpPr/>
          <p:nvPr/>
        </p:nvSpPr>
        <p:spPr>
          <a:xfrm>
            <a:off x="3394710" y="1554480"/>
            <a:ext cx="2526030" cy="182880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3577590" y="169164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3577590" y="2103120"/>
            <a:ext cx="2160270" cy="411480"/>
          </a:xfrm>
          <a:prstGeom prst="rect">
            <a:avLst/>
          </a:prstGeom>
          <a:noFill/>
          <a:ln/>
        </p:spPr>
        <p:txBody>
          <a:bodyPr wrap="square" lIns="0" tIns="0" rIns="0" bIns="0" rtlCol="0" anchor="ctr"/>
          <a:lstStyle/>
          <a:p>
            <a:pPr indent="0" marL="0">
              <a:buNone/>
            </a:pPr>
            <a:r>
              <a:rPr lang="en-US" sz="1700" b="1" dirty="0">
                <a:solidFill>
                  <a:schemeClr val="accent1"/>
                </a:solidFill>
              </a:rPr>
              <a:t>Retrieve</a:t>
            </a:r>
            <a:endParaRPr lang="en-US" sz="1700" dirty="0"/>
          </a:p>
        </p:txBody>
      </p:sp>
      <p:sp>
        <p:nvSpPr>
          <p:cNvPr id="12" name="Text 10"/>
          <p:cNvSpPr txBox="1"/>
          <p:nvPr/>
        </p:nvSpPr>
        <p:spPr>
          <a:xfrm>
            <a:off x="3577590" y="2514600"/>
            <a:ext cx="2160270" cy="777240"/>
          </a:xfrm>
          <a:prstGeom prst="rect">
            <a:avLst/>
          </a:prstGeom>
          <a:noFill/>
          <a:ln/>
        </p:spPr>
        <p:txBody>
          <a:bodyPr wrap="square" lIns="0" tIns="0" rIns="0" bIns="0" rtlCol="0" anchor="t"/>
          <a:lstStyle/>
          <a:p>
            <a:pPr indent="0" marL="0">
              <a:buNone/>
            </a:pPr>
            <a:r>
              <a:rPr lang="en-US" sz="1300" dirty="0">
                <a:solidFill>
                  <a:schemeClr val="tx1"/>
                </a:solidFill>
              </a:rPr>
              <a:t>BGE-M3 finds the 12 most relevant reviews</a:t>
            </a:r>
            <a:endParaRPr lang="en-US" sz="1300" dirty="0"/>
          </a:p>
        </p:txBody>
      </p:sp>
      <p:sp>
        <p:nvSpPr>
          <p:cNvPr id="13" name="Text 11"/>
          <p:cNvSpPr txBox="1"/>
          <p:nvPr/>
        </p:nvSpPr>
        <p:spPr>
          <a:xfrm>
            <a:off x="5920740" y="22402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4" name="Step 3"/>
          <p:cNvSpPr/>
          <p:nvPr/>
        </p:nvSpPr>
        <p:spPr>
          <a:xfrm>
            <a:off x="6240780" y="1554480"/>
            <a:ext cx="2526030" cy="1828800"/>
          </a:xfrm>
          <a:prstGeom prst="roundRect">
            <a:avLst>
              <a:gd name="adj" fmla="val 5000"/>
            </a:avLst>
          </a:prstGeom>
          <a:solidFill>
            <a:schemeClr val="bg2"/>
          </a:solidFill>
          <a:ln w="12700">
            <a:solidFill>
              <a:schemeClr val="bg2"/>
            </a:solidFill>
            <a:prstDash val="solid"/>
          </a:ln>
        </p:spPr>
      </p:sp>
      <p:sp>
        <p:nvSpPr>
          <p:cNvPr id="15" name="Text 13"/>
          <p:cNvSpPr txBox="1"/>
          <p:nvPr/>
        </p:nvSpPr>
        <p:spPr>
          <a:xfrm>
            <a:off x="6423660" y="1691640"/>
            <a:ext cx="54864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6423660" y="2103120"/>
            <a:ext cx="2160270" cy="411480"/>
          </a:xfrm>
          <a:prstGeom prst="rect">
            <a:avLst/>
          </a:prstGeom>
          <a:noFill/>
          <a:ln/>
        </p:spPr>
        <p:txBody>
          <a:bodyPr wrap="square" lIns="0" tIns="0" rIns="0" bIns="0" rtlCol="0" anchor="ctr"/>
          <a:lstStyle/>
          <a:p>
            <a:pPr indent="0" marL="0">
              <a:buNone/>
            </a:pPr>
            <a:r>
              <a:rPr lang="en-US" sz="1700" b="1" dirty="0">
                <a:solidFill>
                  <a:schemeClr val="accent1"/>
                </a:solidFill>
              </a:rPr>
              <a:t>Answer</a:t>
            </a:r>
            <a:endParaRPr lang="en-US" sz="1700" dirty="0"/>
          </a:p>
        </p:txBody>
      </p:sp>
      <p:sp>
        <p:nvSpPr>
          <p:cNvPr id="17" name="Text 15"/>
          <p:cNvSpPr txBox="1"/>
          <p:nvPr/>
        </p:nvSpPr>
        <p:spPr>
          <a:xfrm>
            <a:off x="6423660" y="2514600"/>
            <a:ext cx="2160270" cy="777240"/>
          </a:xfrm>
          <a:prstGeom prst="rect">
            <a:avLst/>
          </a:prstGeom>
          <a:noFill/>
          <a:ln/>
        </p:spPr>
        <p:txBody>
          <a:bodyPr wrap="square" lIns="0" tIns="0" rIns="0" bIns="0" rtlCol="0" anchor="t"/>
          <a:lstStyle/>
          <a:p>
            <a:pPr indent="0" marL="0">
              <a:buNone/>
            </a:pPr>
            <a:r>
              <a:rPr lang="en-US" sz="1300" dirty="0">
                <a:solidFill>
                  <a:schemeClr val="tx1"/>
                </a:solidFill>
              </a:rPr>
              <a:t>The LLM answers only from them and cites [R1], [R2]</a:t>
            </a:r>
            <a:endParaRPr lang="en-US" sz="1300" dirty="0"/>
          </a:p>
        </p:txBody>
      </p:sp>
      <p:sp>
        <p:nvSpPr>
          <p:cNvPr id="18" name="Text 16"/>
          <p:cNvSpPr txBox="1"/>
          <p:nvPr/>
        </p:nvSpPr>
        <p:spPr>
          <a:xfrm>
            <a:off x="8766810" y="2240280"/>
            <a:ext cx="320040" cy="457200"/>
          </a:xfrm>
          <a:prstGeom prst="rect">
            <a:avLst/>
          </a:prstGeom>
          <a:noFill/>
          <a:ln/>
        </p:spPr>
        <p:txBody>
          <a:bodyPr wrap="square" lIns="0" tIns="0" rIns="0" bIns="0" rtlCol="0" anchor="ctr"/>
          <a:lstStyle/>
          <a:p>
            <a:pPr algn="ctr" indent="0" marL="0">
              <a:buNone/>
            </a:pPr>
            <a:r>
              <a:rPr lang="en-US" sz="2000" dirty="0">
                <a:solidFill>
                  <a:schemeClr val="accent3"/>
                </a:solidFill>
              </a:rPr>
              <a:t>→</a:t>
            </a:r>
            <a:endParaRPr lang="en-US" sz="2000" dirty="0"/>
          </a:p>
        </p:txBody>
      </p:sp>
      <p:sp>
        <p:nvSpPr>
          <p:cNvPr id="19" name="Step 4"/>
          <p:cNvSpPr/>
          <p:nvPr/>
        </p:nvSpPr>
        <p:spPr>
          <a:xfrm>
            <a:off x="9086850" y="1554480"/>
            <a:ext cx="2526030" cy="1828800"/>
          </a:xfrm>
          <a:prstGeom prst="roundRect">
            <a:avLst>
              <a:gd name="adj" fmla="val 5000"/>
            </a:avLst>
          </a:prstGeom>
          <a:solidFill>
            <a:schemeClr val="accent1"/>
          </a:solidFill>
          <a:ln w="12700">
            <a:solidFill>
              <a:schemeClr val="accent1"/>
            </a:solidFill>
            <a:prstDash val="solid"/>
          </a:ln>
        </p:spPr>
      </p:sp>
      <p:sp>
        <p:nvSpPr>
          <p:cNvPr id="20" name="Text 18"/>
          <p:cNvSpPr txBox="1"/>
          <p:nvPr/>
        </p:nvSpPr>
        <p:spPr>
          <a:xfrm>
            <a:off x="9269730" y="1691640"/>
            <a:ext cx="54864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9269730" y="2103120"/>
            <a:ext cx="2160270" cy="411480"/>
          </a:xfrm>
          <a:prstGeom prst="rect">
            <a:avLst/>
          </a:prstGeom>
          <a:noFill/>
          <a:ln/>
        </p:spPr>
        <p:txBody>
          <a:bodyPr wrap="square" lIns="0" tIns="0" rIns="0" bIns="0" rtlCol="0" anchor="ctr"/>
          <a:lstStyle/>
          <a:p>
            <a:pPr indent="0" marL="0">
              <a:buNone/>
            </a:pPr>
            <a:r>
              <a:rPr lang="en-US" sz="1700" b="1" dirty="0">
                <a:solidFill>
                  <a:schemeClr val="bg1"/>
                </a:solidFill>
              </a:rPr>
              <a:t>Judge</a:t>
            </a:r>
            <a:endParaRPr lang="en-US" sz="1700" dirty="0"/>
          </a:p>
        </p:txBody>
      </p:sp>
      <p:sp>
        <p:nvSpPr>
          <p:cNvPr id="22" name="Text 20"/>
          <p:cNvSpPr txBox="1"/>
          <p:nvPr/>
        </p:nvSpPr>
        <p:spPr>
          <a:xfrm>
            <a:off x="9269730" y="2514600"/>
            <a:ext cx="2160270" cy="777240"/>
          </a:xfrm>
          <a:prstGeom prst="rect">
            <a:avLst/>
          </a:prstGeom>
          <a:noFill/>
          <a:ln/>
        </p:spPr>
        <p:txBody>
          <a:bodyPr wrap="square" lIns="0" tIns="0" rIns="0" bIns="0" rtlCol="0" anchor="t"/>
          <a:lstStyle/>
          <a:p>
            <a:pPr indent="0" marL="0">
              <a:buNone/>
            </a:pPr>
            <a:r>
              <a:rPr lang="en-US" sz="1300" dirty="0">
                <a:solidFill>
                  <a:schemeClr val="bg1"/>
                </a:solidFill>
              </a:rPr>
              <a:t>A second LLM call checks every claim</a:t>
            </a:r>
            <a:endParaRPr lang="en-US" sz="1300" dirty="0"/>
          </a:p>
        </p:txBody>
      </p:sp>
      <p:sp>
        <p:nvSpPr>
          <p:cNvPr id="23" name="RAG card"/>
          <p:cNvSpPr/>
          <p:nvPr/>
        </p:nvSpPr>
        <p:spPr>
          <a:xfrm>
            <a:off x="548640" y="3794760"/>
            <a:ext cx="3566160" cy="1325880"/>
          </a:xfrm>
          <a:prstGeom prst="roundRect">
            <a:avLst>
              <a:gd name="adj" fmla="val 6897"/>
            </a:avLst>
          </a:prstGeom>
          <a:solidFill>
            <a:schemeClr val="bg2"/>
          </a:solidFill>
          <a:ln w="12700">
            <a:solidFill>
              <a:schemeClr val="bg2"/>
            </a:solidFill>
            <a:prstDash val="solid"/>
          </a:ln>
        </p:spPr>
      </p:sp>
      <p:sp>
        <p:nvSpPr>
          <p:cNvPr id="24" name="RAG value"/>
          <p:cNvSpPr txBox="1"/>
          <p:nvPr/>
        </p:nvSpPr>
        <p:spPr>
          <a:xfrm>
            <a:off x="777240" y="3931920"/>
            <a:ext cx="3108960" cy="685800"/>
          </a:xfrm>
          <a:prstGeom prst="rect">
            <a:avLst/>
          </a:prstGeom>
          <a:noFill/>
          <a:ln/>
        </p:spPr>
        <p:txBody>
          <a:bodyPr wrap="square" lIns="0" tIns="0" rIns="0" bIns="0" rtlCol="0" anchor="ctr"/>
          <a:lstStyle/>
          <a:p>
            <a:pPr indent="0" marL="0">
              <a:buNone/>
            </a:pPr>
            <a:r>
              <a:rPr lang="en-US" sz="3600" b="1" dirty="0">
                <a:solidFill>
                  <a:srgbClr val="15803D"/>
                </a:solidFill>
                <a:latin typeface="Cambria" pitchFamily="34" charset="0"/>
                <a:ea typeface="Cambria" pitchFamily="34" charset="-122"/>
                <a:cs typeface="Cambria" pitchFamily="34" charset="-120"/>
              </a:rPr>
              <a:t>1.00</a:t>
            </a:r>
            <a:endParaRPr lang="en-US" sz="3600" dirty="0"/>
          </a:p>
        </p:txBody>
      </p:sp>
      <p:sp>
        <p:nvSpPr>
          <p:cNvPr id="25" name="RAG label"/>
          <p:cNvSpPr txBox="1"/>
          <p:nvPr/>
        </p:nvSpPr>
        <p:spPr>
          <a:xfrm>
            <a:off x="777240" y="4617720"/>
            <a:ext cx="3108960" cy="411480"/>
          </a:xfrm>
          <a:prstGeom prst="rect">
            <a:avLst/>
          </a:prstGeom>
          <a:noFill/>
          <a:ln/>
        </p:spPr>
        <p:txBody>
          <a:bodyPr wrap="square" lIns="0" tIns="0" rIns="0" bIns="0" rtlCol="0" anchor="ctr"/>
          <a:lstStyle/>
          <a:p>
            <a:pPr indent="0" marL="0">
              <a:buNone/>
            </a:pPr>
            <a:r>
              <a:rPr lang="en-US" sz="1300" dirty="0">
                <a:solidFill>
                  <a:schemeClr val="tx1"/>
                </a:solidFill>
              </a:rPr>
              <a:t>faithfulness with retrieval</a:t>
            </a:r>
            <a:endParaRPr lang="en-US" sz="1300" dirty="0"/>
          </a:p>
        </p:txBody>
      </p:sp>
      <p:sp>
        <p:nvSpPr>
          <p:cNvPr id="26" name="No RAG card"/>
          <p:cNvSpPr/>
          <p:nvPr/>
        </p:nvSpPr>
        <p:spPr>
          <a:xfrm>
            <a:off x="4297680" y="3794760"/>
            <a:ext cx="3566160" cy="1325880"/>
          </a:xfrm>
          <a:prstGeom prst="roundRect">
            <a:avLst>
              <a:gd name="adj" fmla="val 6897"/>
            </a:avLst>
          </a:prstGeom>
          <a:solidFill>
            <a:schemeClr val="bg2"/>
          </a:solidFill>
          <a:ln w="12700">
            <a:solidFill>
              <a:schemeClr val="bg2"/>
            </a:solidFill>
            <a:prstDash val="solid"/>
          </a:ln>
        </p:spPr>
      </p:sp>
      <p:sp>
        <p:nvSpPr>
          <p:cNvPr id="27" name="No RAG value"/>
          <p:cNvSpPr txBox="1"/>
          <p:nvPr/>
        </p:nvSpPr>
        <p:spPr>
          <a:xfrm>
            <a:off x="4526280" y="3931920"/>
            <a:ext cx="31089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0.57</a:t>
            </a:r>
            <a:endParaRPr lang="en-US" sz="3600" dirty="0"/>
          </a:p>
        </p:txBody>
      </p:sp>
      <p:sp>
        <p:nvSpPr>
          <p:cNvPr id="28" name="No RAG label"/>
          <p:cNvSpPr txBox="1"/>
          <p:nvPr/>
        </p:nvSpPr>
        <p:spPr>
          <a:xfrm>
            <a:off x="4526280" y="4617720"/>
            <a:ext cx="3108960" cy="411480"/>
          </a:xfrm>
          <a:prstGeom prst="rect">
            <a:avLst/>
          </a:prstGeom>
          <a:noFill/>
          <a:ln/>
        </p:spPr>
        <p:txBody>
          <a:bodyPr wrap="square" lIns="0" tIns="0" rIns="0" bIns="0" rtlCol="0" anchor="ctr"/>
          <a:lstStyle/>
          <a:p>
            <a:pPr indent="0" marL="0">
              <a:buNone/>
            </a:pPr>
            <a:r>
              <a:rPr lang="en-US" sz="1300" dirty="0">
                <a:solidFill>
                  <a:schemeClr val="tx1"/>
                </a:solidFill>
              </a:rPr>
              <a:t>faithfulness without retrieval</a:t>
            </a:r>
            <a:endParaRPr lang="en-US" sz="1300" dirty="0"/>
          </a:p>
        </p:txBody>
      </p:sp>
      <p:sp>
        <p:nvSpPr>
          <p:cNvPr id="29" name="Citations card"/>
          <p:cNvSpPr/>
          <p:nvPr/>
        </p:nvSpPr>
        <p:spPr>
          <a:xfrm>
            <a:off x="8046720" y="3794760"/>
            <a:ext cx="3566160" cy="1325880"/>
          </a:xfrm>
          <a:prstGeom prst="roundRect">
            <a:avLst>
              <a:gd name="adj" fmla="val 6897"/>
            </a:avLst>
          </a:prstGeom>
          <a:solidFill>
            <a:schemeClr val="bg2"/>
          </a:solidFill>
          <a:ln w="12700">
            <a:solidFill>
              <a:schemeClr val="bg2"/>
            </a:solidFill>
            <a:prstDash val="solid"/>
          </a:ln>
        </p:spPr>
      </p:sp>
      <p:sp>
        <p:nvSpPr>
          <p:cNvPr id="30" name="Citations value"/>
          <p:cNvSpPr txBox="1"/>
          <p:nvPr/>
        </p:nvSpPr>
        <p:spPr>
          <a:xfrm>
            <a:off x="8275320" y="3931920"/>
            <a:ext cx="31089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31" name="Citations label"/>
          <p:cNvSpPr txBox="1"/>
          <p:nvPr/>
        </p:nvSpPr>
        <p:spPr>
          <a:xfrm>
            <a:off x="8275320" y="4617720"/>
            <a:ext cx="3108960" cy="411480"/>
          </a:xfrm>
          <a:prstGeom prst="rect">
            <a:avLst/>
          </a:prstGeom>
          <a:noFill/>
          <a:ln/>
        </p:spPr>
        <p:txBody>
          <a:bodyPr wrap="square" lIns="0" tIns="0" rIns="0" bIns="0" rtlCol="0" anchor="ctr"/>
          <a:lstStyle/>
          <a:p>
            <a:pPr indent="0" marL="0">
              <a:buNone/>
            </a:pPr>
            <a:r>
              <a:rPr lang="en-US" sz="1300" dirty="0">
                <a:solidFill>
                  <a:schemeClr val="tx1"/>
                </a:solidFill>
              </a:rPr>
              <a:t>invalid citations</a:t>
            </a:r>
            <a:endParaRPr lang="en-US" sz="1300" dirty="0"/>
          </a:p>
        </p:txBody>
      </p:sp>
      <p:sp>
        <p:nvSpPr>
          <p:cNvPr id="32" name="Text 30"/>
          <p:cNvSpPr txBox="1"/>
          <p:nvPr/>
        </p:nvSpPr>
        <p:spPr>
          <a:xfrm>
            <a:off x="548640" y="5349240"/>
            <a:ext cx="11064240" cy="731520"/>
          </a:xfrm>
          <a:prstGeom prst="rect">
            <a:avLst/>
          </a:prstGeom>
          <a:noFill/>
          <a:ln/>
        </p:spPr>
        <p:txBody>
          <a:bodyPr wrap="square" lIns="0" tIns="0" rIns="0" bIns="0" rtlCol="0" anchor="ctr"/>
          <a:lstStyle/>
          <a:p>
            <a:pPr algn="ctr" indent="0" marL="0">
              <a:spcAft>
                <a:spcPts val="800"/>
              </a:spcAft>
              <a:buNone/>
            </a:pPr>
            <a:r>
              <a:rPr lang="en-US" sz="1600" b="1" dirty="0">
                <a:solidFill>
                  <a:schemeClr val="accent1"/>
                </a:solidFill>
              </a:rPr>
              <a:t>Like an open book exam: the model gets the evidence first, so it answers from real reviews instead of guessing.</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number box"/>
          <p:cNvSpPr/>
          <p:nvPr/>
        </p:nvSpPr>
        <p:spPr>
          <a:xfrm>
            <a:off x="731520" y="2606040"/>
            <a:ext cx="1280160" cy="1280160"/>
          </a:xfrm>
          <a:prstGeom prst="roundRect">
            <a:avLst>
              <a:gd name="adj" fmla="val 10714"/>
            </a:avLst>
          </a:prstGeom>
          <a:solidFill>
            <a:schemeClr val="accent1"/>
          </a:solidFill>
          <a:ln w="12700">
            <a:solidFill>
              <a:schemeClr val="accent1"/>
            </a:solidFill>
            <a:prstDash val="solid"/>
          </a:ln>
        </p:spPr>
      </p:sp>
      <p:sp>
        <p:nvSpPr>
          <p:cNvPr id="3" name="Section number"/>
          <p:cNvSpPr txBox="1"/>
          <p:nvPr/>
        </p:nvSpPr>
        <p:spPr>
          <a:xfrm>
            <a:off x="731520" y="2606040"/>
            <a:ext cx="1280160" cy="12801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06</a:t>
            </a:r>
            <a:endParaRPr lang="en-US" sz="4000" dirty="0"/>
          </a:p>
        </p:txBody>
      </p:sp>
      <p:sp>
        <p:nvSpPr>
          <p:cNvPr id="4" name="Text 0"/>
          <p:cNvSpPr/>
          <p:nvPr>
            <p:ph idx="100" type="title" hasCustomPrompt="1"/>
          </p:nvPr>
        </p:nvSpPr>
        <p:spPr>
          <a:xfrm>
            <a:off x="2377440" y="2651760"/>
            <a:ext cx="9052560" cy="914400"/>
          </a:xfrm>
          <a:prstGeom prst="rect">
            <a:avLst/>
          </a:prstGeom>
          <a:noFill/>
          <a:ln/>
        </p:spPr>
        <p:txBody>
          <a:bodyPr wrap="square" lIns="0" tIns="0" rIns="0" bIns="0" rtlCol="0" anchor="ctr"/>
          <a:lstStyle/>
          <a:p>
            <a:pPr algn="l" indent="0" marL="0">
              <a:buNone/>
            </a:pPr>
            <a:r>
              <a:rPr lang="en-US" sz="4000" b="1" dirty="0">
                <a:solidFill>
                  <a:schemeClr val="accent1"/>
                </a:solidFill>
              </a:rPr>
              <a:t>The application</a:t>
            </a:r>
            <a:endParaRPr lang="en-US" sz="4000" dirty="0"/>
          </a:p>
        </p:txBody>
      </p:sp>
      <p:sp>
        <p:nvSpPr>
          <p:cNvPr id="5" name="Text 0"/>
          <p:cNvSpPr/>
          <p:nvPr>
            <p:ph idx="101" type="body" hasCustomPrompt="1"/>
          </p:nvPr>
        </p:nvSpPr>
        <p:spPr>
          <a:xfrm>
            <a:off x="2377440" y="3566160"/>
            <a:ext cx="9052560" cy="731520"/>
          </a:xfrm>
          <a:prstGeom prst="rect">
            <a:avLst/>
          </a:prstGeom>
          <a:noFill/>
          <a:ln/>
        </p:spPr>
        <p:txBody>
          <a:bodyPr wrap="square" lIns="0" tIns="0" rIns="0" bIns="0" rtlCol="0" anchor="t"/>
          <a:lstStyle/>
          <a:p>
            <a:pPr algn="l" indent="0" marL="0">
              <a:buNone/>
            </a:pPr>
            <a:r>
              <a:rPr lang="en-US" sz="1800" dirty="0">
                <a:solidFill>
                  <a:schemeClr val="tx1"/>
                </a:solidFill>
              </a:rPr>
              <a:t>Everything in one Streamlit app</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Overview: the key numbers at a glance</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Overview tab of the Citizen Voice app frame"/>
          <p:cNvSpPr/>
          <p:nvPr/>
        </p:nvSpPr>
        <p:spPr>
          <a:xfrm>
            <a:off x="1086849" y="1389888"/>
            <a:ext cx="9987822" cy="4581144"/>
          </a:xfrm>
          <a:prstGeom prst="rect">
            <a:avLst/>
          </a:prstGeom>
          <a:solidFill>
            <a:srgbClr val="D1D5DB"/>
          </a:solidFill>
          <a:ln w="12700">
            <a:solidFill>
              <a:srgbClr val="D1D5DB"/>
            </a:solidFill>
            <a:prstDash val="solid"/>
          </a:ln>
        </p:spPr>
      </p:sp>
      <p:pic>
        <p:nvPicPr>
          <p:cNvPr id="5" name="Image 0" descr="Overview tab of the Citizen Voice app">    </p:cNvPr>
          <p:cNvPicPr>
            <a:picLocks noChangeAspect="1"/>
          </p:cNvPicPr>
          <p:nvPr/>
        </p:nvPicPr>
        <p:blipFill>
          <a:blip r:embed="rId1"/>
          <a:stretch>
            <a:fillRect/>
          </a:stretch>
        </p:blipFill>
        <p:spPr>
          <a:xfrm>
            <a:off x="1114281" y="1417320"/>
            <a:ext cx="9932958" cy="4526280"/>
          </a:xfrm>
          <a:prstGeom prst="rect">
            <a:avLst/>
          </a:prstGeom>
        </p:spPr>
      </p:pic>
      <p:sp>
        <p:nvSpPr>
          <p:cNvPr id="6" name="Text 3"/>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Issues: problems found automatically</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Issues: problems found automatically frame"/>
          <p:cNvSpPr/>
          <p:nvPr/>
        </p:nvSpPr>
        <p:spPr>
          <a:xfrm>
            <a:off x="1403807" y="1389888"/>
            <a:ext cx="9353905" cy="4306824"/>
          </a:xfrm>
          <a:prstGeom prst="rect">
            <a:avLst/>
          </a:prstGeom>
          <a:solidFill>
            <a:srgbClr val="D1D5DB"/>
          </a:solidFill>
          <a:ln w="12700">
            <a:solidFill>
              <a:srgbClr val="D1D5DB"/>
            </a:solidFill>
            <a:prstDash val="solid"/>
          </a:ln>
        </p:spPr>
      </p:sp>
      <p:pic>
        <p:nvPicPr>
          <p:cNvPr id="5" name="Image 0" descr="Issues: problems found automatically">    </p:cNvPr>
          <p:cNvPicPr>
            <a:picLocks noChangeAspect="1"/>
          </p:cNvPicPr>
          <p:nvPr/>
        </p:nvPicPr>
        <p:blipFill>
          <a:blip r:embed="rId1"/>
          <a:stretch>
            <a:fillRect/>
          </a:stretch>
        </p:blipFill>
        <p:spPr>
          <a:xfrm>
            <a:off x="1431239" y="1417320"/>
            <a:ext cx="9299041"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The Issues tab lists each cluster with its size, share of Arabic reviews and keywords.</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Releases: which update made things worse</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Releases: which update made things worse frame"/>
          <p:cNvSpPr/>
          <p:nvPr/>
        </p:nvSpPr>
        <p:spPr>
          <a:xfrm>
            <a:off x="1403807" y="1389888"/>
            <a:ext cx="9353905" cy="4306824"/>
          </a:xfrm>
          <a:prstGeom prst="rect">
            <a:avLst/>
          </a:prstGeom>
          <a:solidFill>
            <a:srgbClr val="D1D5DB"/>
          </a:solidFill>
          <a:ln w="12700">
            <a:solidFill>
              <a:srgbClr val="D1D5DB"/>
            </a:solidFill>
            <a:prstDash val="solid"/>
          </a:ln>
        </p:spPr>
      </p:sp>
      <p:pic>
        <p:nvPicPr>
          <p:cNvPr id="5" name="Image 0" descr="Releases: which update made things worse">    </p:cNvPr>
          <p:cNvPicPr>
            <a:picLocks noChangeAspect="1"/>
          </p:cNvPicPr>
          <p:nvPr/>
        </p:nvPicPr>
        <p:blipFill>
          <a:blip r:embed="rId1"/>
          <a:stretch>
            <a:fillRect/>
          </a:stretch>
        </p:blipFill>
        <p:spPr>
          <a:xfrm>
            <a:off x="1431239" y="1417320"/>
            <a:ext cx="9299041"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Flagged versions with their complaint rate, the usual rate and the issue that grew.</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Search in English, find Arabic too</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Search in English, find Arabic too frame"/>
          <p:cNvSpPr/>
          <p:nvPr/>
        </p:nvSpPr>
        <p:spPr>
          <a:xfrm>
            <a:off x="1403807" y="1389888"/>
            <a:ext cx="9353905" cy="4306824"/>
          </a:xfrm>
          <a:prstGeom prst="rect">
            <a:avLst/>
          </a:prstGeom>
          <a:solidFill>
            <a:srgbClr val="D1D5DB"/>
          </a:solidFill>
          <a:ln w="12700">
            <a:solidFill>
              <a:srgbClr val="D1D5DB"/>
            </a:solidFill>
            <a:prstDash val="solid"/>
          </a:ln>
        </p:spPr>
      </p:sp>
      <p:pic>
        <p:nvPicPr>
          <p:cNvPr id="5" name="Image 0" descr="Search in English, find Arabic too">    </p:cNvPr>
          <p:cNvPicPr>
            <a:picLocks noChangeAspect="1"/>
          </p:cNvPicPr>
          <p:nvPr/>
        </p:nvPicPr>
        <p:blipFill>
          <a:blip r:embed="rId1"/>
          <a:stretch>
            <a:fillRect/>
          </a:stretch>
        </p:blipFill>
        <p:spPr>
          <a:xfrm>
            <a:off x="1431239" y="1417320"/>
            <a:ext cx="9299041"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An English query about the OTP code also returns Arabic reviews about the same problem.</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Ask: answers grounded in real reviews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Ask: answers grounded in real reviews frame"/>
          <p:cNvSpPr/>
          <p:nvPr/>
        </p:nvSpPr>
        <p:spPr>
          <a:xfrm>
            <a:off x="1371778" y="1389888"/>
            <a:ext cx="9417963" cy="4306824"/>
          </a:xfrm>
          <a:prstGeom prst="rect">
            <a:avLst/>
          </a:prstGeom>
          <a:solidFill>
            <a:srgbClr val="D1D5DB"/>
          </a:solidFill>
          <a:ln w="12700">
            <a:solidFill>
              <a:srgbClr val="D1D5DB"/>
            </a:solidFill>
            <a:prstDash val="solid"/>
          </a:ln>
        </p:spPr>
      </p:sp>
      <p:pic>
        <p:nvPicPr>
          <p:cNvPr id="5" name="Image 0" descr="Ask: answers grounded in real reviews">    </p:cNvPr>
          <p:cNvPicPr>
            <a:picLocks noChangeAspect="1"/>
          </p:cNvPicPr>
          <p:nvPr/>
        </p:nvPicPr>
        <p:blipFill>
          <a:blip r:embed="rId1"/>
          <a:stretch>
            <a:fillRect/>
          </a:stretch>
        </p:blipFill>
        <p:spPr>
          <a:xfrm>
            <a:off x="1399210" y="1417320"/>
            <a:ext cx="9363099"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A question in English or Arabic is answered by RAG with citations and a faithfulness check.</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Triage and reply</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Triage and reply frame"/>
          <p:cNvSpPr/>
          <p:nvPr/>
        </p:nvSpPr>
        <p:spPr>
          <a:xfrm>
            <a:off x="2263538" y="1389888"/>
            <a:ext cx="7634445" cy="4306824"/>
          </a:xfrm>
          <a:prstGeom prst="rect">
            <a:avLst/>
          </a:prstGeom>
          <a:solidFill>
            <a:srgbClr val="D1D5DB"/>
          </a:solidFill>
          <a:ln w="12700">
            <a:solidFill>
              <a:srgbClr val="D1D5DB"/>
            </a:solidFill>
            <a:prstDash val="solid"/>
          </a:ln>
        </p:spPr>
      </p:sp>
      <p:pic>
        <p:nvPicPr>
          <p:cNvPr id="5" name="Image 0" descr="Triage and reply">    </p:cNvPr>
          <p:cNvPicPr>
            <a:picLocks noChangeAspect="1"/>
          </p:cNvPicPr>
          <p:nvPr/>
        </p:nvPicPr>
        <p:blipFill>
          <a:blip r:embed="rId1"/>
          <a:stretch>
            <a:fillRect/>
          </a:stretch>
        </p:blipFill>
        <p:spPr>
          <a:xfrm>
            <a:off x="2290970" y="1417320"/>
            <a:ext cx="7579581"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Unanswered reviews ranked by urgency, with a reply drafted in English and Arabic.</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Analyze one review step by step</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DEMO</a:t>
            </a:r>
            <a:endParaRPr lang="en-US" sz="1200" dirty="0"/>
          </a:p>
        </p:txBody>
      </p:sp>
      <p:sp>
        <p:nvSpPr>
          <p:cNvPr id="4" name="Analyze one review step by step frame"/>
          <p:cNvSpPr/>
          <p:nvPr/>
        </p:nvSpPr>
        <p:spPr>
          <a:xfrm>
            <a:off x="2259196" y="1389888"/>
            <a:ext cx="7643127" cy="4306824"/>
          </a:xfrm>
          <a:prstGeom prst="rect">
            <a:avLst/>
          </a:prstGeom>
          <a:solidFill>
            <a:srgbClr val="D1D5DB"/>
          </a:solidFill>
          <a:ln w="12700">
            <a:solidFill>
              <a:srgbClr val="D1D5DB"/>
            </a:solidFill>
            <a:prstDash val="solid"/>
          </a:ln>
        </p:spPr>
      </p:sp>
      <p:pic>
        <p:nvPicPr>
          <p:cNvPr id="5" name="Image 0" descr="Analyze one review step by step">    </p:cNvPr>
          <p:cNvPicPr>
            <a:picLocks noChangeAspect="1"/>
          </p:cNvPicPr>
          <p:nvPr/>
        </p:nvPicPr>
        <p:blipFill>
          <a:blip r:embed="rId1"/>
          <a:stretch>
            <a:fillRect/>
          </a:stretch>
        </p:blipFill>
        <p:spPr>
          <a:xfrm>
            <a:off x="2286628" y="1417320"/>
            <a:ext cx="7588263" cy="4251960"/>
          </a:xfrm>
          <a:prstGeom prst="rect">
            <a:avLst/>
          </a:prstGeom>
        </p:spPr>
      </p:pic>
      <p:sp>
        <p:nvSpPr>
          <p:cNvPr id="6" name="Text 3"/>
          <p:cNvSpPr txBox="1"/>
          <p:nvPr/>
        </p:nvSpPr>
        <p:spPr>
          <a:xfrm>
            <a:off x="548640" y="5806440"/>
            <a:ext cx="11064240" cy="365760"/>
          </a:xfrm>
          <a:prstGeom prst="rect">
            <a:avLst/>
          </a:prstGeom>
          <a:noFill/>
          <a:ln/>
        </p:spPr>
        <p:txBody>
          <a:bodyPr wrap="square" lIns="0" tIns="0" rIns="0" bIns="0" rtlCol="0" anchor="t"/>
          <a:lstStyle/>
          <a:p>
            <a:pPr algn="ctr" indent="0" marL="0">
              <a:spcAft>
                <a:spcPts val="800"/>
              </a:spcAft>
              <a:buNone/>
            </a:pPr>
            <a:r>
              <a:rPr lang="en-US" sz="1500" dirty="0">
                <a:solidFill>
                  <a:schemeClr val="accent1"/>
                </a:solidFill>
              </a:rPr>
              <a:t>Paste any review and see each preprocessing step and every model's output.</a:t>
            </a:r>
            <a:endParaRPr lang="en-US" sz="1500" dirty="0"/>
          </a:p>
        </p:txBody>
      </p:sp>
      <p:sp>
        <p:nvSpPr>
          <p:cNvPr id="7" name="Text 4"/>
          <p:cNvSpPr txBox="1"/>
          <p:nvPr/>
        </p:nvSpPr>
        <p:spPr>
          <a:xfrm>
            <a:off x="548640" y="6126480"/>
            <a:ext cx="11064240" cy="228600"/>
          </a:xfrm>
          <a:prstGeom prst="rect">
            <a:avLst/>
          </a:prstGeom>
          <a:noFill/>
          <a:ln/>
        </p:spPr>
        <p:txBody>
          <a:bodyPr wrap="square" lIns="0" tIns="0" rIns="0" bIns="0" rtlCol="0" anchor="t"/>
          <a:lstStyle/>
          <a:p>
            <a:pPr indent="0" marL="0">
              <a:spcAft>
                <a:spcPts val="800"/>
              </a:spcAft>
              <a:buNone/>
            </a:pPr>
            <a:r>
              <a:rPr lang="en-US" sz="1000" dirty="0">
                <a:solidFill>
                  <a:schemeClr val="accent3"/>
                </a:solidFill>
              </a:rPr>
              <a:t>Screenshots from a later run of the collector (6,428 reviews), so the numbers differ slightly from the evaluation run.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Limitations and next steps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CONCLUSION</a:t>
            </a:r>
            <a:endParaRPr lang="en-US" sz="1200" dirty="0"/>
          </a:p>
        </p:txBody>
      </p:sp>
      <p:sp>
        <p:nvSpPr>
          <p:cNvPr id="4" name="Limitations card"/>
          <p:cNvSpPr/>
          <p:nvPr/>
        </p:nvSpPr>
        <p:spPr>
          <a:xfrm>
            <a:off x="548640" y="1554480"/>
            <a:ext cx="5440680" cy="4480560"/>
          </a:xfrm>
          <a:prstGeom prst="roundRect">
            <a:avLst>
              <a:gd name="adj" fmla="val 2041"/>
            </a:avLst>
          </a:prstGeom>
          <a:solidFill>
            <a:schemeClr val="bg2"/>
          </a:solidFill>
          <a:ln w="12700">
            <a:solidFill>
              <a:schemeClr val="bg2"/>
            </a:solidFill>
            <a:prstDash val="solid"/>
          </a:ln>
        </p:spPr>
      </p:sp>
      <p:sp>
        <p:nvSpPr>
          <p:cNvPr id="5" name="Text 3"/>
          <p:cNvSpPr txBox="1"/>
          <p:nvPr/>
        </p:nvSpPr>
        <p:spPr>
          <a:xfrm>
            <a:off x="868680" y="1737360"/>
            <a:ext cx="4800600" cy="50292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Limitations</a:t>
            </a:r>
            <a:endParaRPr lang="en-US" sz="2200" dirty="0"/>
          </a:p>
        </p:txBody>
      </p:sp>
      <p:sp>
        <p:nvSpPr>
          <p:cNvPr id="6" name="Text 4"/>
          <p:cNvSpPr txBox="1"/>
          <p:nvPr/>
        </p:nvSpPr>
        <p:spPr>
          <a:xfrm>
            <a:off x="868680" y="2377440"/>
            <a:ext cx="4800600" cy="34747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Star ratings are weak labels: some people praise and still give 1 star.</a:t>
            </a:r>
            <a:endParaRPr lang="en-US" sz="1700" dirty="0"/>
          </a:p>
          <a:p>
            <a:pPr marL="228600" indent="-228600">
              <a:spcAft>
                <a:spcPts val="1000"/>
              </a:spcAft>
              <a:buSzPct val="100000"/>
              <a:buChar char="•"/>
            </a:pPr>
            <a:r>
              <a:rPr lang="en-US" sz="1700" dirty="0">
                <a:solidFill>
                  <a:schemeClr val="tx1"/>
                </a:solidFill>
              </a:rPr>
              <a:t>Reviews are very short (median 3 words).</a:t>
            </a:r>
            <a:endParaRPr lang="en-US" sz="1700" dirty="0"/>
          </a:p>
          <a:p>
            <a:pPr marL="228600" indent="-228600">
              <a:spcAft>
                <a:spcPts val="1000"/>
              </a:spcAft>
              <a:buSzPct val="100000"/>
              <a:buChar char="•"/>
            </a:pPr>
            <a:r>
              <a:rPr lang="en-US" sz="1700" dirty="0">
                <a:solidFill>
                  <a:schemeClr val="tx1"/>
                </a:solidFill>
              </a:rPr>
              <a:t>Free LLM: about 50 requests a day.</a:t>
            </a:r>
            <a:endParaRPr lang="en-US" sz="1700" dirty="0"/>
          </a:p>
          <a:p>
            <a:pPr marL="228600" indent="-228600">
              <a:spcAft>
                <a:spcPts val="1000"/>
              </a:spcAft>
              <a:buSzPct val="100000"/>
              <a:buChar char="•"/>
            </a:pPr>
            <a:r>
              <a:rPr lang="en-US" sz="1700" dirty="0">
                <a:solidFill>
                  <a:schemeClr val="tx1"/>
                </a:solidFill>
              </a:rPr>
              <a:t>The faithfulness judge is an LLM, not a human.</a:t>
            </a:r>
            <a:endParaRPr lang="en-US" sz="1700" dirty="0"/>
          </a:p>
        </p:txBody>
      </p:sp>
      <p:sp>
        <p:nvSpPr>
          <p:cNvPr id="7" name="Next steps card"/>
          <p:cNvSpPr/>
          <p:nvPr/>
        </p:nvSpPr>
        <p:spPr>
          <a:xfrm>
            <a:off x="6172200" y="1554480"/>
            <a:ext cx="5440680" cy="4480560"/>
          </a:xfrm>
          <a:prstGeom prst="roundRect">
            <a:avLst>
              <a:gd name="adj" fmla="val 2041"/>
            </a:avLst>
          </a:prstGeom>
          <a:solidFill>
            <a:schemeClr val="bg2"/>
          </a:solidFill>
          <a:ln w="12700">
            <a:solidFill>
              <a:schemeClr val="bg2"/>
            </a:solidFill>
            <a:prstDash val="solid"/>
          </a:ln>
        </p:spPr>
      </p:sp>
      <p:sp>
        <p:nvSpPr>
          <p:cNvPr id="8" name="Text 6"/>
          <p:cNvSpPr txBox="1"/>
          <p:nvPr/>
        </p:nvSpPr>
        <p:spPr>
          <a:xfrm>
            <a:off x="6492240" y="1737360"/>
            <a:ext cx="4800600"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Next steps</a:t>
            </a:r>
            <a:endParaRPr lang="en-US" sz="2200" dirty="0"/>
          </a:p>
        </p:txBody>
      </p:sp>
      <p:sp>
        <p:nvSpPr>
          <p:cNvPr id="9" name="Text 7"/>
          <p:cNvSpPr txBox="1"/>
          <p:nvPr/>
        </p:nvSpPr>
        <p:spPr>
          <a:xfrm>
            <a:off x="6492240" y="2377440"/>
            <a:ext cx="4800600" cy="34747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Label a few hundred reviews by hand.</a:t>
            </a:r>
            <a:endParaRPr lang="en-US" sz="1700" dirty="0"/>
          </a:p>
          <a:p>
            <a:pPr marL="228600" indent="-228600">
              <a:spcAft>
                <a:spcPts val="1000"/>
              </a:spcAft>
              <a:buSzPct val="100000"/>
              <a:buChar char="•"/>
            </a:pPr>
            <a:r>
              <a:rPr lang="en-US" sz="1700" dirty="0">
                <a:solidFill>
                  <a:schemeClr val="tx1"/>
                </a:solidFill>
              </a:rPr>
              <a:t>Run the collector daily and alert on bad releases.</a:t>
            </a:r>
            <a:endParaRPr lang="en-US" sz="1700" dirty="0"/>
          </a:p>
          <a:p>
            <a:pPr marL="228600" indent="-228600">
              <a:spcAft>
                <a:spcPts val="1000"/>
              </a:spcAft>
              <a:buSzPct val="100000"/>
              <a:buChar char="•"/>
            </a:pPr>
            <a:r>
              <a:rPr lang="en-US" sz="1700" dirty="0">
                <a:solidFill>
                  <a:schemeClr val="tx1"/>
                </a:solidFill>
              </a:rPr>
              <a:t>Add App Store reviews and an Arabic LLM such as Falcon.</a:t>
            </a:r>
            <a:endParaRPr lang="en-US" sz="1700" dirty="0"/>
          </a:p>
          <a:p>
            <a:pPr marL="228600" indent="-228600">
              <a:spcAft>
                <a:spcPts val="1000"/>
              </a:spcAft>
              <a:buSzPct val="100000"/>
              <a:buChar char="•"/>
            </a:pPr>
            <a:r>
              <a:rPr lang="en-US" sz="1700" dirty="0">
                <a:solidFill>
                  <a:schemeClr val="tx1"/>
                </a:solidFill>
              </a:rPr>
              <a:t>Share the issue list with the app teams.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2800" b="1" dirty="0">
                <a:solidFill>
                  <a:schemeClr val="accent1"/>
                </a:solidFill>
              </a:rPr>
              <a:t>Citizen Voice answers the four questions</a:t>
            </a:r>
            <a:endParaRPr lang="en-US" sz="2800" dirty="0"/>
          </a:p>
        </p:txBody>
      </p:sp>
      <p:sp>
        <p:nvSpPr>
          <p:cNvPr id="3" name="Section tag"/>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 CONCLUSION</a:t>
            </a:r>
            <a:endParaRPr lang="en-US" sz="1200" dirty="0"/>
          </a:p>
        </p:txBody>
      </p:sp>
      <p:sp>
        <p:nvSpPr>
          <p:cNvPr id="4" name="Answer 1"/>
          <p:cNvSpPr/>
          <p:nvPr/>
        </p:nvSpPr>
        <p:spPr>
          <a:xfrm>
            <a:off x="548640" y="1554480"/>
            <a:ext cx="11064240" cy="960120"/>
          </a:xfrm>
          <a:prstGeom prst="roundRect">
            <a:avLst>
              <a:gd name="adj" fmla="val 9524"/>
            </a:avLst>
          </a:prstGeom>
          <a:solidFill>
            <a:schemeClr val="bg2"/>
          </a:solidFill>
          <a:ln w="12700">
            <a:solidFill>
              <a:schemeClr val="bg2"/>
            </a:solidFill>
            <a:prstDash val="solid"/>
          </a:ln>
        </p:spPr>
      </p:sp>
      <p:sp>
        <p:nvSpPr>
          <p:cNvPr id="5" name="Text 3"/>
          <p:cNvSpPr txBox="1"/>
          <p:nvPr/>
        </p:nvSpPr>
        <p:spPr>
          <a:xfrm>
            <a:off x="868680" y="1554480"/>
            <a:ext cx="4206240" cy="9601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What is broken?</a:t>
            </a:r>
            <a:endParaRPr lang="en-US" sz="2000" dirty="0"/>
          </a:p>
        </p:txBody>
      </p:sp>
      <p:sp>
        <p:nvSpPr>
          <p:cNvPr id="6" name="Text 4"/>
          <p:cNvSpPr txBox="1"/>
          <p:nvPr/>
        </p:nvSpPr>
        <p:spPr>
          <a:xfrm>
            <a:off x="5212080" y="1554480"/>
            <a:ext cx="6217920" cy="960120"/>
          </a:xfrm>
          <a:prstGeom prst="rect">
            <a:avLst/>
          </a:prstGeom>
          <a:noFill/>
          <a:ln/>
        </p:spPr>
        <p:txBody>
          <a:bodyPr wrap="square" lIns="0" tIns="0" rIns="0" bIns="0" rtlCol="0" anchor="ctr"/>
          <a:lstStyle/>
          <a:p>
            <a:pPr indent="0" marL="0">
              <a:buNone/>
            </a:pPr>
            <a:r>
              <a:rPr lang="en-US" sz="1800" dirty="0">
                <a:solidFill>
                  <a:schemeClr val="tx1"/>
                </a:solidFill>
              </a:rPr>
              <a:t>13 bilingual issues, led by payments and login</a:t>
            </a:r>
            <a:endParaRPr lang="en-US" sz="1800" dirty="0"/>
          </a:p>
        </p:txBody>
      </p:sp>
      <p:sp>
        <p:nvSpPr>
          <p:cNvPr id="7" name="Answer 2"/>
          <p:cNvSpPr/>
          <p:nvPr/>
        </p:nvSpPr>
        <p:spPr>
          <a:xfrm>
            <a:off x="548640" y="2670048"/>
            <a:ext cx="11064240" cy="960120"/>
          </a:xfrm>
          <a:prstGeom prst="roundRect">
            <a:avLst>
              <a:gd name="adj" fmla="val 9524"/>
            </a:avLst>
          </a:prstGeom>
          <a:solidFill>
            <a:schemeClr val="bg2"/>
          </a:solidFill>
          <a:ln w="12700">
            <a:solidFill>
              <a:schemeClr val="bg2"/>
            </a:solidFill>
            <a:prstDash val="solid"/>
          </a:ln>
        </p:spPr>
      </p:sp>
      <p:sp>
        <p:nvSpPr>
          <p:cNvPr id="8" name="Text 6"/>
          <p:cNvSpPr txBox="1"/>
          <p:nvPr/>
        </p:nvSpPr>
        <p:spPr>
          <a:xfrm>
            <a:off x="868680" y="2670048"/>
            <a:ext cx="4206240" cy="9601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How upset are people?</a:t>
            </a:r>
            <a:endParaRPr lang="en-US" sz="2000" dirty="0"/>
          </a:p>
        </p:txBody>
      </p:sp>
      <p:sp>
        <p:nvSpPr>
          <p:cNvPr id="9" name="Text 7"/>
          <p:cNvSpPr txBox="1"/>
          <p:nvPr/>
        </p:nvSpPr>
        <p:spPr>
          <a:xfrm>
            <a:off x="5212080" y="2670048"/>
            <a:ext cx="6217920" cy="960120"/>
          </a:xfrm>
          <a:prstGeom prst="rect">
            <a:avLst/>
          </a:prstGeom>
          <a:noFill/>
          <a:ln/>
        </p:spPr>
        <p:txBody>
          <a:bodyPr wrap="square" lIns="0" tIns="0" rIns="0" bIns="0" rtlCol="0" anchor="ctr"/>
          <a:lstStyle/>
          <a:p>
            <a:pPr indent="0" marL="0">
              <a:buNone/>
            </a:pPr>
            <a:r>
              <a:rPr lang="en-US" sz="1800" dirty="0">
                <a:solidFill>
                  <a:schemeClr val="tx1"/>
                </a:solidFill>
              </a:rPr>
              <a:t>28% complaints, mostly sad, LoRA at 0.90 accuracy</a:t>
            </a:r>
            <a:endParaRPr lang="en-US" sz="1800" dirty="0"/>
          </a:p>
        </p:txBody>
      </p:sp>
      <p:sp>
        <p:nvSpPr>
          <p:cNvPr id="10" name="Answer 3"/>
          <p:cNvSpPr/>
          <p:nvPr/>
        </p:nvSpPr>
        <p:spPr>
          <a:xfrm>
            <a:off x="548640" y="3785616"/>
            <a:ext cx="11064240" cy="960120"/>
          </a:xfrm>
          <a:prstGeom prst="roundRect">
            <a:avLst>
              <a:gd name="adj" fmla="val 9524"/>
            </a:avLst>
          </a:prstGeom>
          <a:solidFill>
            <a:schemeClr val="bg2"/>
          </a:solidFill>
          <a:ln w="12700">
            <a:solidFill>
              <a:schemeClr val="bg2"/>
            </a:solidFill>
            <a:prstDash val="solid"/>
          </a:ln>
        </p:spPr>
      </p:sp>
      <p:sp>
        <p:nvSpPr>
          <p:cNvPr id="11" name="Text 9"/>
          <p:cNvSpPr txBox="1"/>
          <p:nvPr/>
        </p:nvSpPr>
        <p:spPr>
          <a:xfrm>
            <a:off x="868680" y="3785616"/>
            <a:ext cx="4206240" cy="9601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Which release caused it?</a:t>
            </a:r>
            <a:endParaRPr lang="en-US" sz="2000" dirty="0"/>
          </a:p>
        </p:txBody>
      </p:sp>
      <p:sp>
        <p:nvSpPr>
          <p:cNvPr id="12" name="Text 10"/>
          <p:cNvSpPr txBox="1"/>
          <p:nvPr/>
        </p:nvSpPr>
        <p:spPr>
          <a:xfrm>
            <a:off x="5212080" y="3785616"/>
            <a:ext cx="6217920" cy="960120"/>
          </a:xfrm>
          <a:prstGeom prst="rect">
            <a:avLst/>
          </a:prstGeom>
          <a:noFill/>
          <a:ln/>
        </p:spPr>
        <p:txBody>
          <a:bodyPr wrap="square" lIns="0" tIns="0" rIns="0" bIns="0" rtlCol="0" anchor="ctr"/>
          <a:lstStyle/>
          <a:p>
            <a:pPr indent="0" marL="0">
              <a:buNone/>
            </a:pPr>
            <a:r>
              <a:rPr lang="en-US" sz="1800" dirty="0">
                <a:solidFill>
                  <a:schemeClr val="tx1"/>
                </a:solidFill>
              </a:rPr>
              <a:t>10 releases flagged after correction</a:t>
            </a:r>
            <a:endParaRPr lang="en-US" sz="1800" dirty="0"/>
          </a:p>
        </p:txBody>
      </p:sp>
      <p:sp>
        <p:nvSpPr>
          <p:cNvPr id="13" name="Answer 4"/>
          <p:cNvSpPr/>
          <p:nvPr/>
        </p:nvSpPr>
        <p:spPr>
          <a:xfrm>
            <a:off x="548640" y="4901184"/>
            <a:ext cx="11064240" cy="960120"/>
          </a:xfrm>
          <a:prstGeom prst="roundRect">
            <a:avLst>
              <a:gd name="adj" fmla="val 9524"/>
            </a:avLst>
          </a:prstGeom>
          <a:solidFill>
            <a:schemeClr val="bg2"/>
          </a:solidFill>
          <a:ln w="12700">
            <a:solidFill>
              <a:schemeClr val="bg2"/>
            </a:solidFill>
            <a:prstDash val="solid"/>
          </a:ln>
        </p:spPr>
      </p:sp>
      <p:sp>
        <p:nvSpPr>
          <p:cNvPr id="14" name="Text 12"/>
          <p:cNvSpPr txBox="1"/>
          <p:nvPr/>
        </p:nvSpPr>
        <p:spPr>
          <a:xfrm>
            <a:off x="868680" y="4901184"/>
            <a:ext cx="4206240" cy="9601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How should we answer?</a:t>
            </a:r>
            <a:endParaRPr lang="en-US" sz="2000" dirty="0"/>
          </a:p>
        </p:txBody>
      </p:sp>
      <p:sp>
        <p:nvSpPr>
          <p:cNvPr id="15" name="Text 13"/>
          <p:cNvSpPr txBox="1"/>
          <p:nvPr/>
        </p:nvSpPr>
        <p:spPr>
          <a:xfrm>
            <a:off x="5212080" y="4901184"/>
            <a:ext cx="6217920" cy="960120"/>
          </a:xfrm>
          <a:prstGeom prst="rect">
            <a:avLst/>
          </a:prstGeom>
          <a:noFill/>
          <a:ln/>
        </p:spPr>
        <p:txBody>
          <a:bodyPr wrap="square" lIns="0" tIns="0" rIns="0" bIns="0" rtlCol="0" anchor="ctr"/>
          <a:lstStyle/>
          <a:p>
            <a:pPr indent="0" marL="0">
              <a:buNone/>
            </a:pPr>
            <a:r>
              <a:rPr lang="en-US" sz="1800" dirty="0">
                <a:solidFill>
                  <a:schemeClr val="tx1"/>
                </a:solidFill>
              </a:rPr>
              <a:t>RAG with 1.00 faithfulness and bilingual replies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731520" y="3337560"/>
            <a:ext cx="10698480" cy="822960"/>
          </a:xfrm>
          <a:prstGeom prst="rect">
            <a:avLst/>
          </a:prstGeom>
          <a:noFill/>
          <a:ln/>
        </p:spPr>
        <p:txBody>
          <a:bodyPr wrap="square" lIns="0" tIns="0" rIns="0" bIns="0" rtlCol="0" anchor="t"/>
          <a:lstStyle/>
          <a:p>
            <a:pPr algn="l" indent="0" marL="0">
              <a:buNone/>
            </a:pPr>
            <a:r>
              <a:rPr lang="en-US" sz="2200" dirty="0">
                <a:solidFill>
                  <a:schemeClr val="accent5"/>
                </a:solidFill>
              </a:rPr>
              <a:t>Questions are welcome</a:t>
            </a:r>
            <a:endParaRPr lang="en-US" sz="2200" dirty="0"/>
          </a:p>
        </p:txBody>
      </p:sp>
      <p:sp>
        <p:nvSpPr>
          <p:cNvPr id="4" name="Repository link"/>
          <p:cNvSpPr txBox="1"/>
          <p:nvPr/>
        </p:nvSpPr>
        <p:spPr>
          <a:xfrm>
            <a:off x="731520" y="4846320"/>
            <a:ext cx="10698480" cy="914400"/>
          </a:xfrm>
          <a:prstGeom prst="rect">
            <a:avLst/>
          </a:prstGeom>
          <a:noFill/>
          <a:ln/>
        </p:spPr>
        <p:txBody>
          <a:bodyPr wrap="square" lIns="0" tIns="0" rIns="0" bIns="0" rtlCol="0" anchor="ctr"/>
          <a:lstStyle/>
          <a:p>
            <a:pPr indent="0" marL="0">
              <a:buNone/>
            </a:pPr>
            <a:r>
              <a:rPr lang="en-US" sz="1500" b="1" dirty="0">
                <a:solidFill>
                  <a:schemeClr val="bg1"/>
                </a:solidFill>
              </a:rPr>
              <a:t>Code, notebook and dashboard: </a:t>
            </a:r>
            <a:endParaRPr lang="en-US" sz="1500" dirty="0"/>
          </a:p>
          <a:p>
            <a:pPr indent="0" marL="0">
              <a:buNone/>
            </a:pPr>
            <a:r>
              <a:rPr lang="en-US" sz="1500" dirty="0">
                <a:solidFill>
                  <a:schemeClr val="bg1"/>
                </a:solidFill>
              </a:rPr>
              <a:t>github.com/youssef-hjr/Citizen-Voice-Bilingual-Review-Intelligence-for-UAE-Government-Apps</a:t>
            </a:r>
            <a:endParaRPr lang="en-US" sz="1500" dirty="0"/>
          </a:p>
        </p:txBody>
      </p:sp>
    </p:spTree>
  </p:cSld>
  <p:clrMapOvr>
    <a:masterClrMapping/>
  </p:clrMapOvr>
</p:sld>
</file>

<file path=ppt/theme/theme1.xml><?xml version="1.0" encoding="utf-8"?>
<a:theme xmlns:a="http://schemas.openxmlformats.org/drawingml/2006/main" name="Citizen Voice">
  <a:themeElements>
    <a:clrScheme name="Citizen Voice">
      <a:dk1>
        <a:srgbClr val="1F2937"/>
      </a:dk1>
      <a:lt1>
        <a:srgbClr val="FFFFFF"/>
      </a:lt1>
      <a:dk2>
        <a:srgbClr val="0F5257"/>
      </a:dk2>
      <a:lt2>
        <a:srgbClr val="F1F5F5"/>
      </a:lt2>
      <a:accent1>
        <a:srgbClr val="0F5257"/>
      </a:accent1>
      <a:accent2>
        <a:srgbClr val="C2410C"/>
      </a:accent2>
      <a:accent3>
        <a:srgbClr val="6B7280"/>
      </a:accent3>
      <a:accent4>
        <a:srgbClr val="9CA3AF"/>
      </a:accent4>
      <a:accent5>
        <a:srgbClr val="D7E3E3"/>
      </a:accent5>
      <a:accent6>
        <a:srgbClr val="15803D"/>
      </a:accent6>
      <a:hlink>
        <a:srgbClr val="0F5257"/>
      </a:hlink>
      <a:folHlink>
        <a:srgbClr val="6B7280"/>
      </a:folHlink>
    </a:clrScheme>
    <a:fontScheme name="Citizen Vo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Citizen Voice</dc:title>
  <dc:subject>MAAI902 NLP Solution Design</dc:subject>
  <dc:creator>Youssef Hajri</dc:creator>
  <cp:lastModifiedBy>Youssef Hajri</cp:lastModifiedBy>
  <cp:revision>1</cp:revision>
  <dcterms:created xsi:type="dcterms:W3CDTF">2026-10-28T19:40:19Z</dcterms:created>
  <dcterms:modified xsi:type="dcterms:W3CDTF">2026-10-28T19:40:19Z</dcterms:modified>
</cp:coreProperties>
</file>